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从"匠人"到"巨匠"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EDF2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专业技术人员的工匠成长路径与方法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0" y="3474720"/>
            <a:ext cx="2743200" cy="36576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专业技术人员继续教育公需课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课程大纲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319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6002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371600" y="16002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何为工匠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71600" y="20574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新时代工匠的内涵与核心能力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371600"/>
            <a:ext cx="39319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46320" y="16002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5577840" y="16002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为何成为工匠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577840" y="20574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时代机遇与成长阶梯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39319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" y="315468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1371600" y="31546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如何成为工匠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371600" y="36118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四条成长路径与方法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2926080"/>
            <a:ext cx="39319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0" y="315468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5577840" y="31546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政策护航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577840" y="36118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用好外部支撑体系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1" name="Text 1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B2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3657600" y="182880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何为工匠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3657600" y="265176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DF2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新时代工匠的内涵与核心能力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7" name="Text 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工匠精神的内涵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2B2D4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执着专注 · 精益求精 · 一丝不苟 · 追求卓越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256032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286000"/>
            <a:ext cx="2560320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5603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专心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320040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点燃激情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持续前行的动力源泉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91840" y="2286000"/>
            <a:ext cx="256032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2286000"/>
            <a:ext cx="2560320" cy="73152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12" name="Text 10"/>
          <p:cNvSpPr/>
          <p:nvPr/>
        </p:nvSpPr>
        <p:spPr>
          <a:xfrm>
            <a:off x="3291840" y="25603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专注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474720" y="320040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放大能量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对抗浮躁的最有力武器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26480" y="2286000"/>
            <a:ext cx="256032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2286000"/>
            <a:ext cx="2560320" cy="73152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25603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309360" y="320040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输出成果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能力与态度的直接体现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9" name="Text 1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工匠五力：核心能力框架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《工匠人才培育实施办法》首次提出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1554480" cy="320040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554480"/>
            <a:ext cx="548640" cy="5486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554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20040" y="228600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引领力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85800" y="2834640"/>
            <a:ext cx="822960" cy="27432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30175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在团队中发挥标杆作用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带动身边人共同进步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057400" y="1371600"/>
            <a:ext cx="1554480" cy="320040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0" y="1554480"/>
            <a:ext cx="548640" cy="5486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3" name="Text 11"/>
          <p:cNvSpPr/>
          <p:nvPr/>
        </p:nvSpPr>
        <p:spPr>
          <a:xfrm>
            <a:off x="2560320" y="1554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057400" y="228600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成就力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2423160" y="2834640"/>
            <a:ext cx="822960" cy="27432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16" name="Text 14"/>
          <p:cNvSpPr/>
          <p:nvPr/>
        </p:nvSpPr>
        <p:spPr>
          <a:xfrm>
            <a:off x="2148840" y="30175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将技术能力转化为实际成果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创造可量化的工作业绩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794760" y="1371600"/>
            <a:ext cx="1554480" cy="320040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297680" y="1554480"/>
            <a:ext cx="548640" cy="5486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9" name="Text 17"/>
          <p:cNvSpPr/>
          <p:nvPr/>
        </p:nvSpPr>
        <p:spPr>
          <a:xfrm>
            <a:off x="4297680" y="1554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794760" y="228600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创新力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4160520" y="2834640"/>
            <a:ext cx="822960" cy="27432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22" name="Text 20"/>
          <p:cNvSpPr/>
          <p:nvPr/>
        </p:nvSpPr>
        <p:spPr>
          <a:xfrm>
            <a:off x="3886200" y="30175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突破固有思维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在技术革新中展现创造力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532120" y="1371600"/>
            <a:ext cx="1554480" cy="320040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035040" y="1554480"/>
            <a:ext cx="548640" cy="5486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5" name="Text 23"/>
          <p:cNvSpPr/>
          <p:nvPr/>
        </p:nvSpPr>
        <p:spPr>
          <a:xfrm>
            <a:off x="6035040" y="1554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532120" y="228600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专注力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5897880" y="2834640"/>
            <a:ext cx="822960" cy="27432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28" name="Text 26"/>
          <p:cNvSpPr/>
          <p:nvPr/>
        </p:nvSpPr>
        <p:spPr>
          <a:xfrm>
            <a:off x="5623560" y="30175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长期扎根一个领域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追求极致的定力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269480" y="1371600"/>
            <a:ext cx="1554480" cy="320040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772400" y="1554480"/>
            <a:ext cx="548640" cy="5486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31" name="Text 29"/>
          <p:cNvSpPr/>
          <p:nvPr/>
        </p:nvSpPr>
        <p:spPr>
          <a:xfrm>
            <a:off x="7772400" y="1554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269480" y="228600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传承力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7635240" y="2834640"/>
            <a:ext cx="822960" cy="27432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34" name="Text 32"/>
          <p:cNvSpPr/>
          <p:nvPr/>
        </p:nvSpPr>
        <p:spPr>
          <a:xfrm>
            <a:off x="7360920" y="30175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把经验技艺传递给下一代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实现师徒相传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源自大国工匠成长实践的核心能力要素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37" name="Text 3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B2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3657600" y="182880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为何成为工匠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3657600" y="265176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DF2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时代机遇与成长阶梯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7" name="Text 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时代召唤：工匠人才成为国家战略资源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23444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2亿+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365760" y="21031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全国技能劳动者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91840" y="109728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91840" y="123444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6000万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291840" y="21031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高技能人才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109728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0" y="123444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500家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217920" y="21031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2026年工匠学院目标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834640"/>
            <a:ext cx="82296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834640"/>
            <a:ext cx="91440" cy="18288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0175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中共中央、国务院</a:t>
            </a:r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明确要求"把大国工匠、高技能人才纳入党管人才总体安排统筹考虑"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36576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全国总工会</a:t>
            </a:r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推进工匠学院体系建设，计划到2026年在重点产业领域布局500家全总重点支持的工匠学院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42062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"技能成才"不再是一句口号，而是有政策护航、有制度保障的成长通道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9" name="Text 1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成长阶梯：从"匠苗"到"巨匠"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制度设计：五级工匠梯次培育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0" y="1463040"/>
            <a:ext cx="1828800" cy="502920"/>
          </a:xfrm>
          <a:prstGeom prst="roundRect">
            <a:avLst>
              <a:gd name="adj" fmla="val 9091"/>
            </a:avLst>
          </a:prstGeom>
          <a:solidFill>
            <a:srgbClr val="EF233C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0" y="146304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大国工匠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846320" y="146304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标杆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0" y="2011680"/>
            <a:ext cx="2743200" cy="502920"/>
          </a:xfrm>
          <a:prstGeom prst="roundRect">
            <a:avLst>
              <a:gd name="adj" fmla="val 9091"/>
            </a:avLst>
          </a:prstGeom>
          <a:solidFill>
            <a:srgbClr val="2B2D42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0" y="201168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省级工匠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83480" y="2011680"/>
            <a:ext cx="960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领军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0" y="2560320"/>
            <a:ext cx="3657600" cy="502920"/>
          </a:xfrm>
          <a:prstGeom prst="roundRect">
            <a:avLst>
              <a:gd name="adj" fmla="val 9091"/>
            </a:avLst>
          </a:prstGeom>
          <a:solidFill>
            <a:srgbClr val="8D99AE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0" y="25603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市级工匠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120640" y="256032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带动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286000" y="3108960"/>
            <a:ext cx="4572000" cy="502920"/>
          </a:xfrm>
          <a:prstGeom prst="roundRect">
            <a:avLst>
              <a:gd name="adj" fmla="val 9091"/>
            </a:avLst>
          </a:prstGeom>
          <a:solidFill>
            <a:srgbClr val="EDF2F4"/>
          </a:solidFill>
          <a:ln/>
        </p:spPr>
      </p:sp>
      <p:sp>
        <p:nvSpPr>
          <p:cNvPr id="15" name="Text 13"/>
          <p:cNvSpPr/>
          <p:nvPr/>
        </p:nvSpPr>
        <p:spPr>
          <a:xfrm>
            <a:off x="2286000" y="310896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县级/行业工匠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257800" y="310896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骨干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828800" y="3657600"/>
            <a:ext cx="548640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1828800" y="365760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企业工匠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394960" y="36576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297680"/>
            <a:ext cx="8229600" cy="27432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个人成长：四个阶段跃迁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57200" y="4754880"/>
            <a:ext cx="2011680" cy="320040"/>
          </a:xfrm>
          <a:prstGeom prst="roundRect">
            <a:avLst>
              <a:gd name="adj" fmla="val 14286"/>
            </a:avLst>
          </a:prstGeom>
          <a:solidFill>
            <a:srgbClr val="EF233C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7548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认知学徒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468880" y="4754880"/>
            <a:ext cx="91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2560320" y="4754880"/>
            <a:ext cx="2011680" cy="320040"/>
          </a:xfrm>
          <a:prstGeom prst="roundRect">
            <a:avLst>
              <a:gd name="adj" fmla="val 14286"/>
            </a:avLst>
          </a:prstGeom>
          <a:solidFill>
            <a:srgbClr val="EF233C"/>
          </a:solidFill>
          <a:ln/>
        </p:spPr>
      </p:sp>
      <p:sp>
        <p:nvSpPr>
          <p:cNvPr id="26" name="Text 24"/>
          <p:cNvSpPr/>
          <p:nvPr/>
        </p:nvSpPr>
        <p:spPr>
          <a:xfrm>
            <a:off x="2560320" y="47548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能力建构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0" y="4754880"/>
            <a:ext cx="91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663440" y="4754880"/>
            <a:ext cx="2011680" cy="320040"/>
          </a:xfrm>
          <a:prstGeom prst="roundRect">
            <a:avLst>
              <a:gd name="adj" fmla="val 14286"/>
            </a:avLst>
          </a:prstGeom>
          <a:solidFill>
            <a:srgbClr val="EF233C"/>
          </a:solidFill>
          <a:ln/>
        </p:spPr>
      </p:sp>
      <p:sp>
        <p:nvSpPr>
          <p:cNvPr id="29" name="Text 27"/>
          <p:cNvSpPr/>
          <p:nvPr/>
        </p:nvSpPr>
        <p:spPr>
          <a:xfrm>
            <a:off x="4663440" y="47548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自我反思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675120" y="4754880"/>
            <a:ext cx="91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766560" y="4754880"/>
            <a:ext cx="2011680" cy="320040"/>
          </a:xfrm>
          <a:prstGeom prst="roundRect">
            <a:avLst>
              <a:gd name="adj" fmla="val 14286"/>
            </a:avLst>
          </a:prstGeom>
          <a:solidFill>
            <a:srgbClr val="EF233C"/>
          </a:solidFill>
          <a:ln/>
        </p:spPr>
      </p:sp>
      <p:sp>
        <p:nvSpPr>
          <p:cNvPr id="32" name="Text 30"/>
          <p:cNvSpPr/>
          <p:nvPr/>
        </p:nvSpPr>
        <p:spPr>
          <a:xfrm>
            <a:off x="6766560" y="47548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价值实现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34" name="Text 3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B2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3657600" y="182880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如何成为工匠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3657600" y="265176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DF2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四条成长路径与方法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7" name="Text 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四条成长路径概览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91440" cy="16459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417320"/>
            <a:ext cx="822960" cy="8229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173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737360" y="1371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路径一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737360" y="17373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扎根一线，厚积薄发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737360" y="21945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筑牢成长根基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754880" y="1097280"/>
            <a:ext cx="39319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097280"/>
            <a:ext cx="91440" cy="16459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3" name="Shape 11"/>
          <p:cNvSpPr/>
          <p:nvPr/>
        </p:nvSpPr>
        <p:spPr>
          <a:xfrm>
            <a:off x="5029200" y="1417320"/>
            <a:ext cx="822960" cy="8229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0" y="14173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035040" y="1371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路径二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035040" y="17373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对标"五力"，系统修炼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035040" y="21945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明确成长维度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3017520"/>
            <a:ext cx="39319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017520"/>
            <a:ext cx="91440" cy="16459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0" name="Shape 18"/>
          <p:cNvSpPr/>
          <p:nvPr/>
        </p:nvSpPr>
        <p:spPr>
          <a:xfrm>
            <a:off x="731520" y="3337560"/>
            <a:ext cx="822960" cy="8229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3375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1737360" y="32918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路径三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737360" y="36576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借力平台，以赛促学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737360" y="41148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加速成长进程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754880" y="3017520"/>
            <a:ext cx="39319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3017520"/>
            <a:ext cx="91440" cy="16459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7" name="Shape 25"/>
          <p:cNvSpPr/>
          <p:nvPr/>
        </p:nvSpPr>
        <p:spPr>
          <a:xfrm>
            <a:off x="5029200" y="3337560"/>
            <a:ext cx="822960" cy="8229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0" y="33375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6035040" y="32918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路径四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35040" y="36576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终身学习，与时俱进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035040" y="41148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保持成长活力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33" name="Text 3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路径一：扎根一线，厚积薄发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筑牢成长根基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2B2D4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801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长期扎根一线，在生产现场摸爬滚打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39319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2377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大国工匠培育对象基本要求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651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7年以上生产现场工作经历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754880" y="2286000"/>
            <a:ext cx="39319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37760" y="2377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案例启示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37760" y="2651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技术没有捷径，深度决定高度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3200400"/>
            <a:ext cx="39319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3383280"/>
            <a:ext cx="548640" cy="5486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383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朱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25880" y="34290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朱先波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" y="39776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2025年"大国工匠年度人物"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43434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从保洁工到中国船舶集团首席技师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3200400"/>
            <a:ext cx="39319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937760" y="3383280"/>
            <a:ext cx="548640" cy="5486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3383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623560" y="34290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管益辉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937760" y="39776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中车青岛四方特级技师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37760" y="43434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从"青岛大工匠"到"大国工匠"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6" name="Text 2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路径二：对标"五力"，系统修炼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明确成长维度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280160"/>
            <a:ext cx="822960" cy="457200"/>
          </a:xfrm>
          <a:prstGeom prst="roundRect">
            <a:avLst>
              <a:gd name="adj" fmla="val 10000"/>
            </a:avLst>
          </a:prstGeom>
          <a:solidFill>
            <a:srgbClr val="EF233C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28016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引领力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63040" y="118872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独善其身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194560" y="1188720"/>
            <a:ext cx="274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468880" y="118872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兼济团队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91840" y="118872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"一个人有技术，自己有前途；一群人有技术，企业有前途"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1965960"/>
            <a:ext cx="822960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" y="2057400"/>
            <a:ext cx="822960" cy="457200"/>
          </a:xfrm>
          <a:prstGeom prst="roundRect">
            <a:avLst>
              <a:gd name="adj" fmla="val 10000"/>
            </a:avLst>
          </a:prstGeom>
          <a:solidFill>
            <a:srgbClr val="EF233C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205740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成就力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63040" y="196596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会干活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194560" y="1965960"/>
            <a:ext cx="274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468880" y="196596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出成果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91840" y="196596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孟祥志33载完成技术攻关300多项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743200"/>
            <a:ext cx="822960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2920" y="2834640"/>
            <a:ext cx="822960" cy="457200"/>
          </a:xfrm>
          <a:prstGeom prst="roundRect">
            <a:avLst>
              <a:gd name="adj" fmla="val 10000"/>
            </a:avLst>
          </a:prstGeom>
          <a:solidFill>
            <a:srgbClr val="EF233C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283464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创新力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463040" y="274320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照章办事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194560" y="2743200"/>
            <a:ext cx="274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468880" y="274320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改进创造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291840" y="274320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郭吉平研发倒挂式三角斜爬挂篮工艺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3520440"/>
            <a:ext cx="822960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02920" y="3611880"/>
            <a:ext cx="822960" cy="457200"/>
          </a:xfrm>
          <a:prstGeom prst="roundRect">
            <a:avLst>
              <a:gd name="adj" fmla="val 10000"/>
            </a:avLst>
          </a:prstGeom>
          <a:solidFill>
            <a:srgbClr val="EF233C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" y="361188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专注力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463040" y="352044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三心二意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194560" y="3520440"/>
            <a:ext cx="274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2468880" y="352044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心无旁骛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291840" y="352044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"一辈子做好一件事"的定力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4297680"/>
            <a:ext cx="822960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02920" y="4389120"/>
            <a:ext cx="822960" cy="457200"/>
          </a:xfrm>
          <a:prstGeom prst="roundRect">
            <a:avLst>
              <a:gd name="adj" fmla="val 10000"/>
            </a:avLst>
          </a:prstGeom>
          <a:solidFill>
            <a:srgbClr val="EF233C"/>
          </a:solidFill>
          <a:ln/>
        </p:spPr>
      </p:sp>
      <p:sp>
        <p:nvSpPr>
          <p:cNvPr id="35" name="Text 33"/>
          <p:cNvSpPr/>
          <p:nvPr/>
        </p:nvSpPr>
        <p:spPr>
          <a:xfrm>
            <a:off x="502920" y="438912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传承力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463040" y="429768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自我成长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2194560" y="4297680"/>
            <a:ext cx="274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2468880" y="429768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薪火相传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291840" y="429768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孟祥志培养50余名青年技术骨干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41" name="Text 3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路径三：借力平台，以赛促学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加速成长进程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2651760" cy="32004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71600" y="1463040"/>
            <a:ext cx="640080" cy="64008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1463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02920" y="22860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职业技能竞赛平台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2926080"/>
            <a:ext cx="1920240" cy="27432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" y="3108960"/>
            <a:ext cx="137160" cy="1371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01752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以赛促学、以赛促训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4360" y="3566160"/>
            <a:ext cx="137160" cy="1371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47472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检验水平的"试金石"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" y="4023360"/>
            <a:ext cx="137160" cy="1371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93192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脱颖而出的"加速器"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46120" y="1280160"/>
            <a:ext cx="2651760" cy="32004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251960" y="1463040"/>
            <a:ext cx="640080" cy="64008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8" name="Text 16"/>
          <p:cNvSpPr/>
          <p:nvPr/>
        </p:nvSpPr>
        <p:spPr>
          <a:xfrm>
            <a:off x="4251960" y="1463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3383280" y="22860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工匠学院和培训平台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3611880" y="2926080"/>
            <a:ext cx="1920240" cy="27432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21" name="Shape 19"/>
          <p:cNvSpPr/>
          <p:nvPr/>
        </p:nvSpPr>
        <p:spPr>
          <a:xfrm>
            <a:off x="3474720" y="3108960"/>
            <a:ext cx="137160" cy="1371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2" name="Text 20"/>
          <p:cNvSpPr/>
          <p:nvPr/>
        </p:nvSpPr>
        <p:spPr>
          <a:xfrm>
            <a:off x="3703320" y="301752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福州"测-学-践-评"闭环体系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474720" y="3566160"/>
            <a:ext cx="137160" cy="1371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4" name="Text 22"/>
          <p:cNvSpPr/>
          <p:nvPr/>
        </p:nvSpPr>
        <p:spPr>
          <a:xfrm>
            <a:off x="3703320" y="347472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线上线下融合教学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474720" y="4023360"/>
            <a:ext cx="137160" cy="1371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6" name="Text 24"/>
          <p:cNvSpPr/>
          <p:nvPr/>
        </p:nvSpPr>
        <p:spPr>
          <a:xfrm>
            <a:off x="3703320" y="393192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专业导师+技能导师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126480" y="1280160"/>
            <a:ext cx="2651760" cy="32004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132320" y="1463040"/>
            <a:ext cx="640080" cy="64008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9" name="Text 27"/>
          <p:cNvSpPr/>
          <p:nvPr/>
        </p:nvSpPr>
        <p:spPr>
          <a:xfrm>
            <a:off x="7132320" y="1463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6263640" y="22860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"双导师制"培养模式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492240" y="2926080"/>
            <a:ext cx="1920240" cy="27432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32" name="Shape 30"/>
          <p:cNvSpPr/>
          <p:nvPr/>
        </p:nvSpPr>
        <p:spPr>
          <a:xfrm>
            <a:off x="6355080" y="3108960"/>
            <a:ext cx="137160" cy="1371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33" name="Text 31"/>
          <p:cNvSpPr/>
          <p:nvPr/>
        </p:nvSpPr>
        <p:spPr>
          <a:xfrm>
            <a:off x="6583680" y="301752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理论导师构建知识体系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355080" y="3566160"/>
            <a:ext cx="137160" cy="1371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35" name="Text 33"/>
          <p:cNvSpPr/>
          <p:nvPr/>
        </p:nvSpPr>
        <p:spPr>
          <a:xfrm>
            <a:off x="6583680" y="347472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实践导师钉在现实土壤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355080" y="4023360"/>
            <a:ext cx="137160" cy="1371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37" name="Text 35"/>
          <p:cNvSpPr/>
          <p:nvPr/>
        </p:nvSpPr>
        <p:spPr>
          <a:xfrm>
            <a:off x="6583680" y="393192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理论拔高+实践落地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39" name="Text 3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路径四：终身学习，与时俱进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保持成长活力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2B2D4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今天的工匠，不仅要懂传统技艺，更要懂数字化、智能化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《工匠人才培育实施办法》重点强调：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246888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EF233C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4688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大数据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606040" y="246888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EF233C"/>
          </a:solidFill>
          <a:ln/>
        </p:spPr>
      </p:sp>
      <p:sp>
        <p:nvSpPr>
          <p:cNvPr id="11" name="Text 9"/>
          <p:cNvSpPr/>
          <p:nvPr/>
        </p:nvSpPr>
        <p:spPr>
          <a:xfrm>
            <a:off x="2606040" y="24688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人工智能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709160" y="246888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EF233C"/>
          </a:solidFill>
          <a:ln/>
        </p:spPr>
      </p:sp>
      <p:sp>
        <p:nvSpPr>
          <p:cNvPr id="13" name="Text 11"/>
          <p:cNvSpPr/>
          <p:nvPr/>
        </p:nvSpPr>
        <p:spPr>
          <a:xfrm>
            <a:off x="4709160" y="24688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云计算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812280" y="246888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EF233C"/>
          </a:solidFill>
          <a:ln/>
        </p:spPr>
      </p:sp>
      <p:sp>
        <p:nvSpPr>
          <p:cNvPr id="15" name="Text 13"/>
          <p:cNvSpPr/>
          <p:nvPr/>
        </p:nvSpPr>
        <p:spPr>
          <a:xfrm>
            <a:off x="6812280" y="24688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数字化技术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200400"/>
            <a:ext cx="82296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200400"/>
            <a:ext cx="91440" cy="13716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291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学习案例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36118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黑龙江职业学院学生李博昊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31520" y="39776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聆听大国工匠孟祥志宣讲后刻苦钻研，在2025年全俄职业技能大赛中斩获国际组个人和小组第一名，实现"技能跨越"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榜样的力量 + 主动的学习 + 平台的支撑 = 加速成长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3" name="Text 2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B2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3657600" y="182880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政策护航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3657600" y="265176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DF2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用好外部支撑体系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7" name="Text 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政策支撑体系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651760" cy="35661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2651760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2344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技能评价方面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2103120" cy="27432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" y="1965960"/>
            <a:ext cx="73152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874520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"新八级工"制度重构评价模式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" y="2606040"/>
            <a:ext cx="73152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514600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评价转向实操能力、业绩、技术创新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4360" y="3246120"/>
            <a:ext cx="73152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154680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技能人才与专业技术人才"双向贯通"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" y="3886200"/>
            <a:ext cx="73152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794760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广州：23名专技人才获颁高技能等级证书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46120" y="1005840"/>
            <a:ext cx="2651760" cy="35661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46120" y="1005840"/>
            <a:ext cx="2651760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8" name="Text 16"/>
          <p:cNvSpPr/>
          <p:nvPr/>
        </p:nvSpPr>
        <p:spPr>
          <a:xfrm>
            <a:off x="3246120" y="12344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培育工程方面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520440" y="1783080"/>
            <a:ext cx="2103120" cy="27432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20" name="Shape 18"/>
          <p:cNvSpPr/>
          <p:nvPr/>
        </p:nvSpPr>
        <p:spPr>
          <a:xfrm>
            <a:off x="3474720" y="1965960"/>
            <a:ext cx="73152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0" y="1874520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全国总工会：培养2000名大国工匠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474720" y="2606040"/>
            <a:ext cx="73152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0" y="2514600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带动培育1万省级、5万市级工匠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474720" y="3246120"/>
            <a:ext cx="73152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0" y="3154680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人社部等七部门：高技能领军人才计划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0" y="3886200"/>
            <a:ext cx="73152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0" y="3794760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企业：培训基地、技能大师工作室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26480" y="1005840"/>
            <a:ext cx="2651760" cy="35661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26480" y="1005840"/>
            <a:ext cx="2651760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0" name="Text 28"/>
          <p:cNvSpPr/>
          <p:nvPr/>
        </p:nvSpPr>
        <p:spPr>
          <a:xfrm>
            <a:off x="6126480" y="12344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社会氛围方面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00800" y="1783080"/>
            <a:ext cx="2103120" cy="27432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32" name="Shape 30"/>
          <p:cNvSpPr/>
          <p:nvPr/>
        </p:nvSpPr>
        <p:spPr>
          <a:xfrm>
            <a:off x="6355080" y="1965960"/>
            <a:ext cx="73152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3" name="Text 31"/>
          <p:cNvSpPr/>
          <p:nvPr/>
        </p:nvSpPr>
        <p:spPr>
          <a:xfrm>
            <a:off x="6537960" y="1874520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越来越多城市设立"工匠日"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355080" y="2606040"/>
            <a:ext cx="73152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5" name="Text 33"/>
          <p:cNvSpPr/>
          <p:nvPr/>
        </p:nvSpPr>
        <p:spPr>
          <a:xfrm>
            <a:off x="6537960" y="2514600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"尊重工匠、崇尚技能"社会风尚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355080" y="3246120"/>
            <a:ext cx="73152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7" name="Text 35"/>
          <p:cNvSpPr/>
          <p:nvPr/>
        </p:nvSpPr>
        <p:spPr>
          <a:xfrm>
            <a:off x="6537960" y="3154680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系统化、制度化的工匠成长生态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39" name="Text 3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B2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总结：工匠成长三句话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FFFFFF">
              <a:alpha val="8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371600" y="141732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扎根一线，在岗位中淬炼真功夫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182880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F2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真正的工匠从来不是在办公室里"想"出来的，而是在生产一线、研发前沿"干"出来的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42316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FFFFFF">
              <a:alpha val="8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560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371600" y="256032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对标"五力"，在修炼中实现全成长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71600" y="297180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F2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引领力、成就力、创新力、专注力、传承力，这五个维度既是评价标准，更是成长指南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56616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FFFFFF">
              <a:alpha val="8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703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1371600" y="370332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善用平台，在时代大潮中乘风破浪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71600" y="411480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F2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从技能竞赛到工匠学院，从师带徒到终身学习，国家搭建的平台越来越丰富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572000"/>
            <a:ext cx="8229600" cy="457200"/>
          </a:xfrm>
          <a:prstGeom prst="roundRect">
            <a:avLst>
              <a:gd name="adj" fmla="val 10000"/>
            </a:avLst>
          </a:prstGeom>
          <a:solidFill>
            <a:srgbClr val="EF233C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"一个人有技术，自己有前途；一群人有技术，企业有前途；一代人有技术，国家有前途。"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从"匠人"到"巨匠"——专业技术人员的工匠成长路径与方法</dc:title>
  <dc:subject>专业技术人员继续教育公需课</dc:subject>
  <dc:creator>MiniMax Agent</dc:creator>
  <cp:lastModifiedBy>MiniMax Agent</cp:lastModifiedBy>
  <cp:revision>1</cp:revision>
  <dcterms:created xsi:type="dcterms:W3CDTF">2026-04-23T10:45:52Z</dcterms:created>
  <dcterms:modified xsi:type="dcterms:W3CDTF">2026-04-23T10:45:52Z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{"Label":"AIGC","ContentProducer":"Minimax Agent AI","ProduceID":"00000000000000000000000000000000","ReservedCode1":"3045022022cb0e2e3b67b3799b38077c9d9543433bf029e27d3b3e8273d5e658da023f11022100a53221fce317af6b987e1c167a4ed821d7f2b08da05f1a6eed93b657a017332f","ContentPropagator":"Minimax Agent AI","PropagateID":"00000000000000000000000000000000","ReservedCode2":"304502210097ea1bc21cb18c9945f0d2c71b7e615dfc5a30ff80791a63156d34777ac8d41e02200e199a0147b8c751240e50bbe83f52def32af7d8a7ed5ddbf658e80fa37a2030"}</vt:lpwstr>
  </property>
</Properties>
</file>