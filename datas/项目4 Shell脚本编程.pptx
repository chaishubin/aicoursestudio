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562" r:id="rId2"/>
    <p:sldId id="310" r:id="rId3"/>
    <p:sldId id="553" r:id="rId4"/>
    <p:sldId id="437" r:id="rId5"/>
    <p:sldId id="539" r:id="rId6"/>
    <p:sldId id="537" r:id="rId7"/>
    <p:sldId id="536" r:id="rId8"/>
    <p:sldId id="541" r:id="rId9"/>
    <p:sldId id="543" r:id="rId10"/>
    <p:sldId id="596" r:id="rId11"/>
    <p:sldId id="542" r:id="rId12"/>
    <p:sldId id="597" r:id="rId13"/>
    <p:sldId id="598" r:id="rId14"/>
    <p:sldId id="544" r:id="rId15"/>
    <p:sldId id="599" r:id="rId16"/>
    <p:sldId id="538" r:id="rId17"/>
    <p:sldId id="618" r:id="rId18"/>
    <p:sldId id="619" r:id="rId19"/>
    <p:sldId id="577" r:id="rId20"/>
    <p:sldId id="546" r:id="rId21"/>
    <p:sldId id="578" r:id="rId22"/>
    <p:sldId id="579" r:id="rId23"/>
    <p:sldId id="588" r:id="rId24"/>
    <p:sldId id="589" r:id="rId25"/>
    <p:sldId id="600" r:id="rId26"/>
    <p:sldId id="601" r:id="rId27"/>
    <p:sldId id="602" r:id="rId28"/>
    <p:sldId id="603" r:id="rId29"/>
    <p:sldId id="604" r:id="rId30"/>
    <p:sldId id="605" r:id="rId31"/>
    <p:sldId id="590" r:id="rId32"/>
    <p:sldId id="606" r:id="rId33"/>
    <p:sldId id="607" r:id="rId34"/>
    <p:sldId id="608" r:id="rId35"/>
    <p:sldId id="609" r:id="rId36"/>
    <p:sldId id="610" r:id="rId37"/>
    <p:sldId id="611" r:id="rId38"/>
    <p:sldId id="612" r:id="rId39"/>
    <p:sldId id="613" r:id="rId40"/>
    <p:sldId id="614" r:id="rId41"/>
    <p:sldId id="615" r:id="rId42"/>
    <p:sldId id="616" r:id="rId43"/>
    <p:sldId id="545" r:id="rId44"/>
    <p:sldId id="595" r:id="rId45"/>
    <p:sldId id="617" r:id="rId46"/>
    <p:sldId id="573" r:id="rId47"/>
    <p:sldId id="574"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0024"/>
    <a:srgbClr val="E20084"/>
    <a:srgbClr val="0169B0"/>
    <a:srgbClr val="F3F3E8"/>
    <a:srgbClr val="FFC1E6"/>
    <a:srgbClr val="7FBA00"/>
    <a:srgbClr val="F7F7ED"/>
    <a:srgbClr val="F2F2E6"/>
    <a:srgbClr val="FFFFFF"/>
    <a:srgbClr val="E200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94660"/>
  </p:normalViewPr>
  <p:slideViewPr>
    <p:cSldViewPr>
      <p:cViewPr varScale="1">
        <p:scale>
          <a:sx n="67" d="100"/>
          <a:sy n="67" d="100"/>
        </p:scale>
        <p:origin x="552" y="5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7212"/>
    </p:cViewPr>
  </p:sorterViewPr>
  <p:notesViewPr>
    <p:cSldViewPr>
      <p:cViewPr varScale="1">
        <p:scale>
          <a:sx n="58" d="100"/>
          <a:sy n="58" d="100"/>
        </p:scale>
        <p:origin x="-258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DF6E4F5-AFD9-452D-978C-A65E37BD2A75}" type="datetimeFigureOut">
              <a:rPr lang="en-US" smtClean="0"/>
              <a:t>8/28/2023</a:t>
            </a:fld>
            <a:endParaRPr 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70C2A1-C45C-4D11-8087-34234E5428BA}" type="slidenum">
              <a:rPr lang="en-US" smtClean="0"/>
              <a:t>‹#›</a:t>
            </a:fld>
            <a:endParaRPr lang="en-US"/>
          </a:p>
        </p:txBody>
      </p:sp>
    </p:spTree>
    <p:extLst>
      <p:ext uri="{BB962C8B-B14F-4D97-AF65-F5344CB8AC3E}">
        <p14:creationId xmlns:p14="http://schemas.microsoft.com/office/powerpoint/2010/main" val="1335710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779D53-1687-4629-A7C4-5F633C48289A}" type="datetimeFigureOut">
              <a:rPr lang="en-US" smtClean="0"/>
              <a:t>8/28/2023</a:t>
            </a:fld>
            <a:endParaRPr 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F48F07-6AC5-47AF-9B36-9B4E83AB260F}" type="slidenum">
              <a:rPr lang="en-US" smtClean="0"/>
              <a:t>‹#›</a:t>
            </a:fld>
            <a:endParaRPr lang="en-US"/>
          </a:p>
        </p:txBody>
      </p:sp>
    </p:spTree>
    <p:extLst>
      <p:ext uri="{BB962C8B-B14F-4D97-AF65-F5344CB8AC3E}">
        <p14:creationId xmlns:p14="http://schemas.microsoft.com/office/powerpoint/2010/main" val="1025707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jf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bg>
      <p:bgPr>
        <a:solidFill>
          <a:srgbClr val="FFFFFF"/>
        </a:solidFill>
        <a:effectLst/>
      </p:bgPr>
    </p:bg>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A4A0A261-09C5-44CC-9768-640054C378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5226050"/>
          </a:xfrm>
          <a:prstGeom prst="rect">
            <a:avLst/>
          </a:prstGeom>
        </p:spPr>
      </p:pic>
      <p:sp>
        <p:nvSpPr>
          <p:cNvPr id="7" name="矩形 6"/>
          <p:cNvSpPr/>
          <p:nvPr userDrawn="1"/>
        </p:nvSpPr>
        <p:spPr>
          <a:xfrm>
            <a:off x="4152" y="2268545"/>
            <a:ext cx="12193625" cy="1584176"/>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dirty="0"/>
          </a:p>
        </p:txBody>
      </p:sp>
      <p:cxnSp>
        <p:nvCxnSpPr>
          <p:cNvPr id="9" name="直接连接符 8"/>
          <p:cNvCxnSpPr/>
          <p:nvPr userDrawn="1"/>
        </p:nvCxnSpPr>
        <p:spPr>
          <a:xfrm>
            <a:off x="0" y="5733255"/>
            <a:ext cx="1219281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p:nvPr userDrawn="1"/>
        </p:nvSpPr>
        <p:spPr>
          <a:xfrm>
            <a:off x="1092082" y="5966957"/>
            <a:ext cx="1438811" cy="684613"/>
          </a:xfrm>
          <a:prstGeom prst="rect">
            <a:avLst/>
          </a:prstGeom>
          <a:gradFill>
            <a:gsLst>
              <a:gs pos="0">
                <a:srgbClr val="002060"/>
              </a:gs>
              <a:gs pos="100000">
                <a:srgbClr val="FB0024"/>
              </a:gs>
              <a:gs pos="100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文本框 7"/>
          <p:cNvSpPr txBox="1"/>
          <p:nvPr userDrawn="1"/>
        </p:nvSpPr>
        <p:spPr>
          <a:xfrm>
            <a:off x="839416" y="2621996"/>
            <a:ext cx="9698025" cy="769441"/>
          </a:xfrm>
          <a:prstGeom prst="rect">
            <a:avLst/>
          </a:prstGeom>
          <a:noFill/>
        </p:spPr>
        <p:txBody>
          <a:bodyPr wrap="square" rtlCol="0">
            <a:spAutoFit/>
          </a:bodyPr>
          <a:lstStyle/>
          <a:p>
            <a:pPr algn="ctr"/>
            <a:r>
              <a:rPr lang="en-US" altLang="zh-CN" sz="4400" b="1" dirty="0">
                <a:solidFill>
                  <a:schemeClr val="tx1">
                    <a:lumMod val="95000"/>
                    <a:lumOff val="5000"/>
                  </a:schemeClr>
                </a:solidFill>
                <a:effectLst>
                  <a:outerShdw blurRad="38100" dist="38100" dir="2700000" algn="tl">
                    <a:srgbClr val="000000">
                      <a:alpha val="43137"/>
                    </a:srgbClr>
                  </a:outerShdw>
                  <a:reflection blurRad="6350" stA="28000" endPos="25000" dist="60007" dir="5400000" sy="-100000" algn="bl" rotWithShape="0"/>
                </a:effectLst>
                <a:latin typeface="微软雅黑" panose="020B0503020204020204" pitchFamily="34" charset="-122"/>
                <a:ea typeface="微软雅黑" panose="020B0503020204020204" pitchFamily="34" charset="-122"/>
              </a:rPr>
              <a:t>Linux</a:t>
            </a:r>
            <a:r>
              <a:rPr lang="zh-CN" altLang="en-US" sz="4400" b="1" dirty="0">
                <a:solidFill>
                  <a:schemeClr val="tx1">
                    <a:lumMod val="95000"/>
                    <a:lumOff val="5000"/>
                  </a:schemeClr>
                </a:solidFill>
                <a:effectLst>
                  <a:outerShdw blurRad="38100" dist="38100" dir="2700000" algn="tl">
                    <a:srgbClr val="000000">
                      <a:alpha val="43137"/>
                    </a:srgbClr>
                  </a:outerShdw>
                  <a:reflection blurRad="6350" stA="28000" endPos="25000" dist="60007" dir="5400000" sy="-100000" algn="bl" rotWithShape="0"/>
                </a:effectLst>
                <a:latin typeface="微软雅黑" panose="020B0503020204020204" pitchFamily="34" charset="-122"/>
                <a:ea typeface="微软雅黑" panose="020B0503020204020204" pitchFamily="34" charset="-122"/>
              </a:rPr>
              <a:t>网络服务器配置与管理项目教程</a:t>
            </a:r>
          </a:p>
        </p:txBody>
      </p:sp>
      <p:sp>
        <p:nvSpPr>
          <p:cNvPr id="10" name="矩形 9"/>
          <p:cNvSpPr/>
          <p:nvPr userDrawn="1"/>
        </p:nvSpPr>
        <p:spPr>
          <a:xfrm>
            <a:off x="9480376" y="4236446"/>
            <a:ext cx="1656184" cy="400110"/>
          </a:xfrm>
          <a:prstGeom prst="rect">
            <a:avLst/>
          </a:prstGeom>
        </p:spPr>
        <p:txBody>
          <a:bodyPr wrap="square">
            <a:spAutoFit/>
          </a:bodyPr>
          <a:lstStyle/>
          <a:p>
            <a:r>
              <a:rPr lang="zh-CN" altLang="en-US" sz="2000" b="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主编  谢树新</a:t>
            </a:r>
          </a:p>
        </p:txBody>
      </p:sp>
      <p:cxnSp>
        <p:nvCxnSpPr>
          <p:cNvPr id="11" name="直接连接符 10"/>
          <p:cNvCxnSpPr/>
          <p:nvPr userDrawn="1"/>
        </p:nvCxnSpPr>
        <p:spPr>
          <a:xfrm>
            <a:off x="10651934" y="2495109"/>
            <a:ext cx="0" cy="122334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487488" y="6093296"/>
            <a:ext cx="732356" cy="431936"/>
            <a:chOff x="1489075" y="5517232"/>
            <a:chExt cx="732356" cy="1008000"/>
          </a:xfrm>
        </p:grpSpPr>
        <p:sp>
          <p:nvSpPr>
            <p:cNvPr id="13" name="燕尾形 12"/>
            <p:cNvSpPr/>
            <p:nvPr/>
          </p:nvSpPr>
          <p:spPr>
            <a:xfrm>
              <a:off x="1897431" y="5517232"/>
              <a:ext cx="324000" cy="10080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1489075" y="5517232"/>
              <a:ext cx="324000" cy="10080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5" name="文本框 14"/>
          <p:cNvSpPr txBox="1"/>
          <p:nvPr userDrawn="1"/>
        </p:nvSpPr>
        <p:spPr>
          <a:xfrm>
            <a:off x="10630025" y="2647038"/>
            <a:ext cx="492443" cy="919482"/>
          </a:xfrm>
          <a:prstGeom prst="rect">
            <a:avLst/>
          </a:prstGeom>
          <a:noFill/>
        </p:spPr>
        <p:txBody>
          <a:bodyPr vert="eaVert" wrap="none" rtlCol="0">
            <a:spAutoFit/>
          </a:bodyPr>
          <a:lstStyle/>
          <a:p>
            <a:r>
              <a:rPr lang="zh-CN" altLang="en-US" sz="2000" spc="150" dirty="0">
                <a:solidFill>
                  <a:srgbClr val="FFC000"/>
                </a:solidFill>
                <a:latin typeface="微软雅黑" panose="020B0503020204020204" pitchFamily="34" charset="-122"/>
                <a:ea typeface="微软雅黑" panose="020B0503020204020204" pitchFamily="34" charset="-122"/>
              </a:rPr>
              <a:t>第三版</a:t>
            </a:r>
          </a:p>
        </p:txBody>
      </p:sp>
      <p:pic>
        <p:nvPicPr>
          <p:cNvPr id="4" name="图片 3">
            <a:extLst>
              <a:ext uri="{FF2B5EF4-FFF2-40B4-BE49-F238E27FC236}">
                <a16:creationId xmlns:a16="http://schemas.microsoft.com/office/drawing/2014/main" id="{C9F4ECCE-CAEA-4D7E-8EC5-9EA51255383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640" t="28738" r="4640" b="51439"/>
          <a:stretch/>
        </p:blipFill>
        <p:spPr>
          <a:xfrm>
            <a:off x="7896200" y="5963348"/>
            <a:ext cx="3456383" cy="604200"/>
          </a:xfrm>
          <a:prstGeom prst="rect">
            <a:avLst/>
          </a:prstGeom>
        </p:spPr>
      </p:pic>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3" presetClass="entr" presetSubtype="52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300" fill="hold"/>
                                            <p:tgtEl>
                                              <p:spTgt spid="8"/>
                                            </p:tgtEl>
                                            <p:attrNameLst>
                                              <p:attrName>ppt_w</p:attrName>
                                            </p:attrNameLst>
                                          </p:cBhvr>
                                          <p:tavLst>
                                            <p:tav tm="0">
                                              <p:val>
                                                <p:fltVal val="0"/>
                                              </p:val>
                                            </p:tav>
                                            <p:tav tm="100000">
                                              <p:val>
                                                <p:strVal val="#ppt_w"/>
                                              </p:val>
                                            </p:tav>
                                          </p:tavLst>
                                        </p:anim>
                                        <p:anim calcmode="lin" valueType="num">
                                          <p:cBhvr>
                                            <p:cTn id="12" dur="300" fill="hold"/>
                                            <p:tgtEl>
                                              <p:spTgt spid="8"/>
                                            </p:tgtEl>
                                            <p:attrNameLst>
                                              <p:attrName>ppt_h</p:attrName>
                                            </p:attrNameLst>
                                          </p:cBhvr>
                                          <p:tavLst>
                                            <p:tav tm="0">
                                              <p:val>
                                                <p:fltVal val="0"/>
                                              </p:val>
                                            </p:tav>
                                            <p:tav tm="100000">
                                              <p:val>
                                                <p:strVal val="#ppt_h"/>
                                              </p:val>
                                            </p:tav>
                                          </p:tavLst>
                                        </p:anim>
                                        <p:anim calcmode="lin" valueType="num">
                                          <p:cBhvr>
                                            <p:cTn id="13" dur="300" fill="hold"/>
                                            <p:tgtEl>
                                              <p:spTgt spid="8"/>
                                            </p:tgtEl>
                                            <p:attrNameLst>
                                              <p:attrName>ppt_x</p:attrName>
                                            </p:attrNameLst>
                                          </p:cBhvr>
                                          <p:tavLst>
                                            <p:tav tm="0">
                                              <p:val>
                                                <p:fltVal val="0.5"/>
                                              </p:val>
                                            </p:tav>
                                            <p:tav tm="100000">
                                              <p:val>
                                                <p:strVal val="#ppt_x"/>
                                              </p:val>
                                            </p:tav>
                                          </p:tavLst>
                                        </p:anim>
                                        <p:anim calcmode="lin" valueType="num">
                                          <p:cBhvr>
                                            <p:cTn id="14" dur="300" fill="hold"/>
                                            <p:tgtEl>
                                              <p:spTgt spid="8"/>
                                            </p:tgtEl>
                                            <p:attrNameLst>
                                              <p:attrName>ppt_y</p:attrName>
                                            </p:attrNameLst>
                                          </p:cBhvr>
                                          <p:tavLst>
                                            <p:tav tm="0">
                                              <p:val>
                                                <p:fltVal val="0.5"/>
                                              </p:val>
                                            </p:tav>
                                            <p:tav tm="100000">
                                              <p:val>
                                                <p:strVal val="#ppt_y"/>
                                              </p:val>
                                            </p:tav>
                                          </p:tavLst>
                                        </p:anim>
                                      </p:childTnLst>
                                    </p:cTn>
                                  </p:par>
                                </p:childTnLst>
                              </p:cTn>
                            </p:par>
                            <p:par>
                              <p:cTn id="15" fill="hold">
                                <p:stCondLst>
                                  <p:cond delay="800"/>
                                </p:stCondLst>
                                <p:childTnLst>
                                  <p:par>
                                    <p:cTn id="16" presetID="37"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900" decel="100000" fill="hold"/>
                                            <p:tgtEl>
                                              <p:spTgt spid="11"/>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par>
                              <p:cTn id="22" fill="hold">
                                <p:stCondLst>
                                  <p:cond delay="1800"/>
                                </p:stCondLst>
                                <p:childTnLst>
                                  <p:par>
                                    <p:cTn id="23" presetID="37"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900" decel="100000" fill="hold"/>
                                            <p:tgtEl>
                                              <p:spTgt spid="15"/>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par>
                              <p:cTn id="29" fill="hold">
                                <p:stCondLst>
                                  <p:cond delay="2800"/>
                                </p:stCondLst>
                                <p:childTnLst>
                                  <p:par>
                                    <p:cTn id="30" presetID="2" presetClass="entr" presetSubtype="8" fill="hold" nodeType="afterEffect" p14:presetBounceEnd="65000">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14:bounceEnd="65000">
                                          <p:cBhvr additive="base">
                                            <p:cTn id="32" dur="400" fill="hold"/>
                                            <p:tgtEl>
                                              <p:spTgt spid="12"/>
                                            </p:tgtEl>
                                            <p:attrNameLst>
                                              <p:attrName>ppt_x</p:attrName>
                                            </p:attrNameLst>
                                          </p:cBhvr>
                                          <p:tavLst>
                                            <p:tav tm="0">
                                              <p:val>
                                                <p:strVal val="0-#ppt_w/2"/>
                                              </p:val>
                                            </p:tav>
                                            <p:tav tm="100000">
                                              <p:val>
                                                <p:strVal val="#ppt_x"/>
                                              </p:val>
                                            </p:tav>
                                          </p:tavLst>
                                        </p:anim>
                                        <p:anim calcmode="lin" valueType="num" p14:bounceEnd="65000">
                                          <p:cBhvr additive="base">
                                            <p:cTn id="33" dur="400" fill="hold"/>
                                            <p:tgtEl>
                                              <p:spTgt spid="12"/>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14:presetBounceEnd="64000">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14:bounceEnd="64000">
                                          <p:cBhvr additive="base">
                                            <p:cTn id="36" dur="500" fill="hold"/>
                                            <p:tgtEl>
                                              <p:spTgt spid="10"/>
                                            </p:tgtEl>
                                            <p:attrNameLst>
                                              <p:attrName>ppt_x</p:attrName>
                                            </p:attrNameLst>
                                          </p:cBhvr>
                                          <p:tavLst>
                                            <p:tav tm="0">
                                              <p:val>
                                                <p:strVal val="1+#ppt_w/2"/>
                                              </p:val>
                                            </p:tav>
                                            <p:tav tm="100000">
                                              <p:val>
                                                <p:strVal val="#ppt_x"/>
                                              </p:val>
                                            </p:tav>
                                          </p:tavLst>
                                        </p:anim>
                                        <p:anim calcmode="lin" valueType="num" p14:bounceEnd="64000">
                                          <p:cBhvr additive="base">
                                            <p:cTn id="37"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p:bldP spid="1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3" presetClass="entr" presetSubtype="52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300" fill="hold"/>
                                            <p:tgtEl>
                                              <p:spTgt spid="8"/>
                                            </p:tgtEl>
                                            <p:attrNameLst>
                                              <p:attrName>ppt_w</p:attrName>
                                            </p:attrNameLst>
                                          </p:cBhvr>
                                          <p:tavLst>
                                            <p:tav tm="0">
                                              <p:val>
                                                <p:fltVal val="0"/>
                                              </p:val>
                                            </p:tav>
                                            <p:tav tm="100000">
                                              <p:val>
                                                <p:strVal val="#ppt_w"/>
                                              </p:val>
                                            </p:tav>
                                          </p:tavLst>
                                        </p:anim>
                                        <p:anim calcmode="lin" valueType="num">
                                          <p:cBhvr>
                                            <p:cTn id="12" dur="300" fill="hold"/>
                                            <p:tgtEl>
                                              <p:spTgt spid="8"/>
                                            </p:tgtEl>
                                            <p:attrNameLst>
                                              <p:attrName>ppt_h</p:attrName>
                                            </p:attrNameLst>
                                          </p:cBhvr>
                                          <p:tavLst>
                                            <p:tav tm="0">
                                              <p:val>
                                                <p:fltVal val="0"/>
                                              </p:val>
                                            </p:tav>
                                            <p:tav tm="100000">
                                              <p:val>
                                                <p:strVal val="#ppt_h"/>
                                              </p:val>
                                            </p:tav>
                                          </p:tavLst>
                                        </p:anim>
                                        <p:anim calcmode="lin" valueType="num">
                                          <p:cBhvr>
                                            <p:cTn id="13" dur="300" fill="hold"/>
                                            <p:tgtEl>
                                              <p:spTgt spid="8"/>
                                            </p:tgtEl>
                                            <p:attrNameLst>
                                              <p:attrName>ppt_x</p:attrName>
                                            </p:attrNameLst>
                                          </p:cBhvr>
                                          <p:tavLst>
                                            <p:tav tm="0">
                                              <p:val>
                                                <p:fltVal val="0.5"/>
                                              </p:val>
                                            </p:tav>
                                            <p:tav tm="100000">
                                              <p:val>
                                                <p:strVal val="#ppt_x"/>
                                              </p:val>
                                            </p:tav>
                                          </p:tavLst>
                                        </p:anim>
                                        <p:anim calcmode="lin" valueType="num">
                                          <p:cBhvr>
                                            <p:cTn id="14" dur="300" fill="hold"/>
                                            <p:tgtEl>
                                              <p:spTgt spid="8"/>
                                            </p:tgtEl>
                                            <p:attrNameLst>
                                              <p:attrName>ppt_y</p:attrName>
                                            </p:attrNameLst>
                                          </p:cBhvr>
                                          <p:tavLst>
                                            <p:tav tm="0">
                                              <p:val>
                                                <p:fltVal val="0.5"/>
                                              </p:val>
                                            </p:tav>
                                            <p:tav tm="100000">
                                              <p:val>
                                                <p:strVal val="#ppt_y"/>
                                              </p:val>
                                            </p:tav>
                                          </p:tavLst>
                                        </p:anim>
                                      </p:childTnLst>
                                    </p:cTn>
                                  </p:par>
                                </p:childTnLst>
                              </p:cTn>
                            </p:par>
                            <p:par>
                              <p:cTn id="15" fill="hold">
                                <p:stCondLst>
                                  <p:cond delay="800"/>
                                </p:stCondLst>
                                <p:childTnLst>
                                  <p:par>
                                    <p:cTn id="16" presetID="37"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900" decel="100000" fill="hold"/>
                                            <p:tgtEl>
                                              <p:spTgt spid="11"/>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par>
                              <p:cTn id="22" fill="hold">
                                <p:stCondLst>
                                  <p:cond delay="1800"/>
                                </p:stCondLst>
                                <p:childTnLst>
                                  <p:par>
                                    <p:cTn id="23" presetID="37"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900" decel="100000" fill="hold"/>
                                            <p:tgtEl>
                                              <p:spTgt spid="15"/>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par>
                              <p:cTn id="29" fill="hold">
                                <p:stCondLst>
                                  <p:cond delay="2800"/>
                                </p:stCondLst>
                                <p:childTnLst>
                                  <p:par>
                                    <p:cTn id="30" presetID="2" presetClass="entr" presetSubtype="8"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400" fill="hold"/>
                                            <p:tgtEl>
                                              <p:spTgt spid="12"/>
                                            </p:tgtEl>
                                            <p:attrNameLst>
                                              <p:attrName>ppt_x</p:attrName>
                                            </p:attrNameLst>
                                          </p:cBhvr>
                                          <p:tavLst>
                                            <p:tav tm="0">
                                              <p:val>
                                                <p:strVal val="0-#ppt_w/2"/>
                                              </p:val>
                                            </p:tav>
                                            <p:tav tm="100000">
                                              <p:val>
                                                <p:strVal val="#ppt_x"/>
                                              </p:val>
                                            </p:tav>
                                          </p:tavLst>
                                        </p:anim>
                                        <p:anim calcmode="lin" valueType="num">
                                          <p:cBhvr additive="base">
                                            <p:cTn id="33" dur="400" fill="hold"/>
                                            <p:tgtEl>
                                              <p:spTgt spid="12"/>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p:bldP spid="15" grpId="0"/>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页">
    <p:spTree>
      <p:nvGrpSpPr>
        <p:cNvPr id="1" name=""/>
        <p:cNvGrpSpPr/>
        <p:nvPr/>
      </p:nvGrpSpPr>
      <p:grpSpPr>
        <a:xfrm>
          <a:off x="0" y="0"/>
          <a:ext cx="0" cy="0"/>
          <a:chOff x="0" y="0"/>
          <a:chExt cx="0" cy="0"/>
        </a:xfrm>
      </p:grpSpPr>
      <p:sp>
        <p:nvSpPr>
          <p:cNvPr id="8" name="矩形 7"/>
          <p:cNvSpPr/>
          <p:nvPr userDrawn="1"/>
        </p:nvSpPr>
        <p:spPr>
          <a:xfrm>
            <a:off x="-813" y="976635"/>
            <a:ext cx="12193625" cy="95250"/>
          </a:xfrm>
          <a:prstGeom prst="rect">
            <a:avLst/>
          </a:prstGeom>
          <a:gradFill>
            <a:gsLst>
              <a:gs pos="0">
                <a:srgbClr val="E20084"/>
              </a:gs>
              <a:gs pos="100000">
                <a:srgbClr val="FB0024"/>
              </a:gs>
              <a:gs pos="100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sz="1800" dirty="0"/>
          </a:p>
        </p:txBody>
      </p:sp>
      <p:sp>
        <p:nvSpPr>
          <p:cNvPr id="9" name="TextBox 7"/>
          <p:cNvSpPr txBox="1">
            <a:spLocks noChangeArrowheads="1"/>
          </p:cNvSpPr>
          <p:nvPr userDrawn="1"/>
        </p:nvSpPr>
        <p:spPr bwMode="auto">
          <a:xfrm>
            <a:off x="9328972" y="739532"/>
            <a:ext cx="2391039" cy="519373"/>
          </a:xfrm>
          <a:prstGeom prst="rect">
            <a:avLst/>
          </a:prstGeom>
          <a:solidFill>
            <a:srgbClr val="F2F2E6"/>
          </a:solidFill>
          <a:ln>
            <a:noFill/>
          </a:ln>
        </p:spPr>
        <p:txBody>
          <a:bodyPr wrap="none" lIns="102870" tIns="51435" rIns="102870" bIns="51435">
            <a:spAutoFit/>
          </a:bodyPr>
          <a:lstStyle>
            <a:lvl1pPr>
              <a:defRPr sz="2000">
                <a:solidFill>
                  <a:schemeClr val="tx1"/>
                </a:solidFill>
                <a:latin typeface="Calibri" pitchFamily="34" charset="0"/>
                <a:ea typeface="宋体" charset="-122"/>
              </a:defRPr>
            </a:lvl1pPr>
            <a:lvl2pPr marL="742950" indent="-285750">
              <a:defRPr sz="2000">
                <a:solidFill>
                  <a:schemeClr val="tx1"/>
                </a:solidFill>
                <a:latin typeface="Calibri" pitchFamily="34" charset="0"/>
                <a:ea typeface="宋体" charset="-122"/>
              </a:defRPr>
            </a:lvl2pPr>
            <a:lvl3pPr marL="1143000" indent="-228600">
              <a:defRPr sz="2000">
                <a:solidFill>
                  <a:schemeClr val="tx1"/>
                </a:solidFill>
                <a:latin typeface="Calibri" pitchFamily="34" charset="0"/>
                <a:ea typeface="宋体" charset="-122"/>
              </a:defRPr>
            </a:lvl3pPr>
            <a:lvl4pPr marL="1600200" indent="-228600">
              <a:defRPr sz="2000">
                <a:solidFill>
                  <a:schemeClr val="tx1"/>
                </a:solidFill>
                <a:latin typeface="Calibri" pitchFamily="34" charset="0"/>
                <a:ea typeface="宋体" charset="-122"/>
              </a:defRPr>
            </a:lvl4pPr>
            <a:lvl5pPr>
              <a:defRPr sz="2000">
                <a:solidFill>
                  <a:schemeClr val="tx1"/>
                </a:solidFill>
                <a:latin typeface="Calibri" pitchFamily="34" charset="0"/>
                <a:ea typeface="宋体" charset="-122"/>
              </a:defRPr>
            </a:lvl5pPr>
            <a:lvl6pPr marL="2514600" indent="-228600" defTabSz="1028700" fontAlgn="base">
              <a:spcBef>
                <a:spcPct val="0"/>
              </a:spcBef>
              <a:spcAft>
                <a:spcPct val="0"/>
              </a:spcAft>
              <a:defRPr sz="2000">
                <a:solidFill>
                  <a:schemeClr val="tx1"/>
                </a:solidFill>
                <a:latin typeface="Calibri" pitchFamily="34" charset="0"/>
                <a:ea typeface="宋体" charset="-122"/>
              </a:defRPr>
            </a:lvl6pPr>
            <a:lvl7pPr marL="2971800" indent="-228600" defTabSz="1028700" fontAlgn="base">
              <a:spcBef>
                <a:spcPct val="0"/>
              </a:spcBef>
              <a:spcAft>
                <a:spcPct val="0"/>
              </a:spcAft>
              <a:defRPr sz="2000">
                <a:solidFill>
                  <a:schemeClr val="tx1"/>
                </a:solidFill>
                <a:latin typeface="Calibri" pitchFamily="34" charset="0"/>
                <a:ea typeface="宋体" charset="-122"/>
              </a:defRPr>
            </a:lvl7pPr>
            <a:lvl8pPr marL="3429000" indent="-228600" defTabSz="1028700" fontAlgn="base">
              <a:spcBef>
                <a:spcPct val="0"/>
              </a:spcBef>
              <a:spcAft>
                <a:spcPct val="0"/>
              </a:spcAft>
              <a:defRPr sz="2000">
                <a:solidFill>
                  <a:schemeClr val="tx1"/>
                </a:solidFill>
                <a:latin typeface="Calibri" pitchFamily="34" charset="0"/>
                <a:ea typeface="宋体" charset="-122"/>
              </a:defRPr>
            </a:lvl8pPr>
            <a:lvl9pPr marL="3886200" indent="-228600" defTabSz="1028700" fontAlgn="base">
              <a:spcBef>
                <a:spcPct val="0"/>
              </a:spcBef>
              <a:spcAft>
                <a:spcPct val="0"/>
              </a:spcAft>
              <a:defRPr sz="2000">
                <a:solidFill>
                  <a:schemeClr val="tx1"/>
                </a:solidFill>
                <a:latin typeface="Calibri" pitchFamily="34" charset="0"/>
                <a:ea typeface="宋体" charset="-122"/>
              </a:defRPr>
            </a:lvl9pPr>
          </a:lstStyle>
          <a:p>
            <a:pPr>
              <a:defRPr/>
            </a:pPr>
            <a:r>
              <a:rPr lang="en-US" altLang="zh-CN" sz="2700" b="0" dirty="0">
                <a:solidFill>
                  <a:srgbClr val="FB0024"/>
                </a:solidFill>
                <a:latin typeface="Impact" pitchFamily="34" charset="0"/>
              </a:rPr>
              <a:t>RHEL8/CentOS8</a:t>
            </a:r>
            <a:endParaRPr lang="zh-CN" altLang="en-US" sz="2700" b="0" dirty="0">
              <a:solidFill>
                <a:srgbClr val="FB0024"/>
              </a:solidFill>
              <a:latin typeface="Impact" pitchFamily="34" charset="0"/>
            </a:endParaRPr>
          </a:p>
        </p:txBody>
      </p:sp>
      <p:sp>
        <p:nvSpPr>
          <p:cNvPr id="10" name="TextBox 3"/>
          <p:cNvSpPr txBox="1"/>
          <p:nvPr userDrawn="1"/>
        </p:nvSpPr>
        <p:spPr>
          <a:xfrm>
            <a:off x="829095" y="404664"/>
            <a:ext cx="1451474" cy="523220"/>
          </a:xfrm>
          <a:prstGeom prst="rect">
            <a:avLst/>
          </a:prstGeom>
          <a:noFill/>
        </p:spPr>
        <p:txBody>
          <a:bodyPr wrap="square">
            <a:spAutoFit/>
          </a:bodyPr>
          <a:lstStyle/>
          <a:p>
            <a:pPr algn="l">
              <a:defRPr/>
            </a:pPr>
            <a:r>
              <a:rPr lang="zh-CN" altLang="en-US" sz="2800" b="1" dirty="0">
                <a:solidFill>
                  <a:srgbClr val="666666"/>
                </a:solidFill>
                <a:latin typeface="微软雅黑" pitchFamily="34" charset="-122"/>
                <a:ea typeface="微软雅黑" pitchFamily="34" charset="-122"/>
              </a:rPr>
              <a:t>目    录</a:t>
            </a:r>
          </a:p>
        </p:txBody>
      </p:sp>
      <p:sp>
        <p:nvSpPr>
          <p:cNvPr id="11" name="矩形 24"/>
          <p:cNvSpPr>
            <a:spLocks noChangeArrowheads="1"/>
          </p:cNvSpPr>
          <p:nvPr userDrawn="1"/>
        </p:nvSpPr>
        <p:spPr bwMode="auto">
          <a:xfrm>
            <a:off x="2136590" y="558552"/>
            <a:ext cx="2447635" cy="369332"/>
          </a:xfrm>
          <a:prstGeom prst="rect">
            <a:avLst/>
          </a:prstGeom>
          <a:noFill/>
          <a:ln w="9525">
            <a:noFill/>
            <a:miter lim="800000"/>
            <a:headEnd/>
            <a:tailEnd/>
          </a:ln>
        </p:spPr>
        <p:txBody>
          <a:bodyPr wrap="square">
            <a:spAutoFit/>
          </a:bodyPr>
          <a:lstStyle/>
          <a:p>
            <a:r>
              <a:rPr lang="en-US" altLang="zh-CN" sz="1800" b="1" dirty="0">
                <a:solidFill>
                  <a:srgbClr val="FFC000"/>
                </a:solidFill>
                <a:ea typeface="微软雅黑" pitchFamily="34" charset="-122"/>
                <a:cs typeface="Arial Unicode MS" pitchFamily="34" charset="-122"/>
              </a:rPr>
              <a:t>CONTENTS</a:t>
            </a:r>
          </a:p>
        </p:txBody>
      </p:sp>
      <p:sp>
        <p:nvSpPr>
          <p:cNvPr id="13" name="TextBox 15"/>
          <p:cNvSpPr txBox="1"/>
          <p:nvPr userDrawn="1"/>
        </p:nvSpPr>
        <p:spPr>
          <a:xfrm>
            <a:off x="11088403" y="6330806"/>
            <a:ext cx="982705" cy="338554"/>
          </a:xfrm>
          <a:prstGeom prst="rect">
            <a:avLst/>
          </a:prstGeom>
          <a:noFill/>
        </p:spPr>
        <p:txBody>
          <a:bodyPr wrap="none" rtlCol="0">
            <a:spAutoFit/>
          </a:bodyPr>
          <a:lstStyle/>
          <a:p>
            <a:r>
              <a:rPr lang="en-US" altLang="zh-CN" sz="1600" dirty="0">
                <a:solidFill>
                  <a:schemeClr val="bg1">
                    <a:lumMod val="50000"/>
                  </a:schemeClr>
                </a:solidFill>
              </a:rPr>
              <a:t>—  </a:t>
            </a:r>
            <a:fld id="{2EEF1883-7A0E-4F66-9932-E581691AD397}" type="slidenum">
              <a:rPr lang="zh-CN" altLang="en-US" sz="1600" smtClean="0">
                <a:solidFill>
                  <a:schemeClr val="bg1">
                    <a:lumMod val="50000"/>
                  </a:schemeClr>
                </a:solidFill>
              </a:rPr>
              <a:pPr/>
              <a:t>‹#›</a:t>
            </a:fld>
            <a:r>
              <a:rPr lang="zh-CN" altLang="en-US" sz="1600" dirty="0">
                <a:solidFill>
                  <a:schemeClr val="bg1">
                    <a:lumMod val="50000"/>
                  </a:schemeClr>
                </a:solidFill>
              </a:rPr>
              <a:t> </a:t>
            </a:r>
            <a:r>
              <a:rPr lang="en-US" altLang="zh-CN" sz="1600" dirty="0">
                <a:solidFill>
                  <a:schemeClr val="bg1">
                    <a:lumMod val="50000"/>
                  </a:schemeClr>
                </a:solidFill>
              </a:rPr>
              <a:t>—</a:t>
            </a:r>
            <a:r>
              <a:rPr lang="zh-CN" altLang="en-US" sz="1600" dirty="0">
                <a:solidFill>
                  <a:schemeClr val="bg1">
                    <a:lumMod val="50000"/>
                  </a:schemeClr>
                </a:solidFill>
              </a:rPr>
              <a:t> </a:t>
            </a:r>
            <a:endParaRPr lang="zh-CN" altLang="en-US" sz="1600" b="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679512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目录页">
    <p:spTree>
      <p:nvGrpSpPr>
        <p:cNvPr id="1" name=""/>
        <p:cNvGrpSpPr/>
        <p:nvPr/>
      </p:nvGrpSpPr>
      <p:grpSpPr>
        <a:xfrm>
          <a:off x="0" y="0"/>
          <a:ext cx="0" cy="0"/>
          <a:chOff x="0" y="0"/>
          <a:chExt cx="0" cy="0"/>
        </a:xfrm>
      </p:grpSpPr>
      <p:sp>
        <p:nvSpPr>
          <p:cNvPr id="8" name="矩形 7"/>
          <p:cNvSpPr/>
          <p:nvPr userDrawn="1"/>
        </p:nvSpPr>
        <p:spPr>
          <a:xfrm>
            <a:off x="-813" y="976635"/>
            <a:ext cx="12193625" cy="95250"/>
          </a:xfrm>
          <a:prstGeom prst="rect">
            <a:avLst/>
          </a:prstGeom>
          <a:gradFill>
            <a:gsLst>
              <a:gs pos="0">
                <a:srgbClr val="E20084"/>
              </a:gs>
              <a:gs pos="100000">
                <a:srgbClr val="FB0024"/>
              </a:gs>
              <a:gs pos="100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sz="1800"/>
          </a:p>
        </p:txBody>
      </p:sp>
      <p:sp>
        <p:nvSpPr>
          <p:cNvPr id="9" name="TextBox 7"/>
          <p:cNvSpPr txBox="1">
            <a:spLocks noChangeArrowheads="1"/>
          </p:cNvSpPr>
          <p:nvPr userDrawn="1"/>
        </p:nvSpPr>
        <p:spPr bwMode="auto">
          <a:xfrm>
            <a:off x="8904312" y="764573"/>
            <a:ext cx="2391039" cy="519373"/>
          </a:xfrm>
          <a:prstGeom prst="rect">
            <a:avLst/>
          </a:prstGeom>
          <a:solidFill>
            <a:srgbClr val="F2F2E6"/>
          </a:solidFill>
          <a:ln>
            <a:noFill/>
          </a:ln>
        </p:spPr>
        <p:txBody>
          <a:bodyPr wrap="none" lIns="102870" tIns="51435" rIns="102870" bIns="51435">
            <a:spAutoFit/>
          </a:bodyPr>
          <a:lstStyle>
            <a:lvl1pPr>
              <a:defRPr sz="2000">
                <a:solidFill>
                  <a:schemeClr val="tx1"/>
                </a:solidFill>
                <a:latin typeface="Calibri" pitchFamily="34" charset="0"/>
                <a:ea typeface="宋体" charset="-122"/>
              </a:defRPr>
            </a:lvl1pPr>
            <a:lvl2pPr marL="742950" indent="-285750">
              <a:defRPr sz="2000">
                <a:solidFill>
                  <a:schemeClr val="tx1"/>
                </a:solidFill>
                <a:latin typeface="Calibri" pitchFamily="34" charset="0"/>
                <a:ea typeface="宋体" charset="-122"/>
              </a:defRPr>
            </a:lvl2pPr>
            <a:lvl3pPr marL="1143000" indent="-228600">
              <a:defRPr sz="2000">
                <a:solidFill>
                  <a:schemeClr val="tx1"/>
                </a:solidFill>
                <a:latin typeface="Calibri" pitchFamily="34" charset="0"/>
                <a:ea typeface="宋体" charset="-122"/>
              </a:defRPr>
            </a:lvl3pPr>
            <a:lvl4pPr marL="1600200" indent="-228600">
              <a:defRPr sz="2000">
                <a:solidFill>
                  <a:schemeClr val="tx1"/>
                </a:solidFill>
                <a:latin typeface="Calibri" pitchFamily="34" charset="0"/>
                <a:ea typeface="宋体" charset="-122"/>
              </a:defRPr>
            </a:lvl4pPr>
            <a:lvl5pPr>
              <a:defRPr sz="2000">
                <a:solidFill>
                  <a:schemeClr val="tx1"/>
                </a:solidFill>
                <a:latin typeface="Calibri" pitchFamily="34" charset="0"/>
                <a:ea typeface="宋体" charset="-122"/>
              </a:defRPr>
            </a:lvl5pPr>
            <a:lvl6pPr marL="2514600" indent="-228600" defTabSz="1028700" fontAlgn="base">
              <a:spcBef>
                <a:spcPct val="0"/>
              </a:spcBef>
              <a:spcAft>
                <a:spcPct val="0"/>
              </a:spcAft>
              <a:defRPr sz="2000">
                <a:solidFill>
                  <a:schemeClr val="tx1"/>
                </a:solidFill>
                <a:latin typeface="Calibri" pitchFamily="34" charset="0"/>
                <a:ea typeface="宋体" charset="-122"/>
              </a:defRPr>
            </a:lvl6pPr>
            <a:lvl7pPr marL="2971800" indent="-228600" defTabSz="1028700" fontAlgn="base">
              <a:spcBef>
                <a:spcPct val="0"/>
              </a:spcBef>
              <a:spcAft>
                <a:spcPct val="0"/>
              </a:spcAft>
              <a:defRPr sz="2000">
                <a:solidFill>
                  <a:schemeClr val="tx1"/>
                </a:solidFill>
                <a:latin typeface="Calibri" pitchFamily="34" charset="0"/>
                <a:ea typeface="宋体" charset="-122"/>
              </a:defRPr>
            </a:lvl7pPr>
            <a:lvl8pPr marL="3429000" indent="-228600" defTabSz="1028700" fontAlgn="base">
              <a:spcBef>
                <a:spcPct val="0"/>
              </a:spcBef>
              <a:spcAft>
                <a:spcPct val="0"/>
              </a:spcAft>
              <a:defRPr sz="2000">
                <a:solidFill>
                  <a:schemeClr val="tx1"/>
                </a:solidFill>
                <a:latin typeface="Calibri" pitchFamily="34" charset="0"/>
                <a:ea typeface="宋体" charset="-122"/>
              </a:defRPr>
            </a:lvl8pPr>
            <a:lvl9pPr marL="3886200" indent="-228600" defTabSz="1028700" fontAlgn="base">
              <a:spcBef>
                <a:spcPct val="0"/>
              </a:spcBef>
              <a:spcAft>
                <a:spcPct val="0"/>
              </a:spcAft>
              <a:defRPr sz="2000">
                <a:solidFill>
                  <a:schemeClr val="tx1"/>
                </a:solidFill>
                <a:latin typeface="Calibri" pitchFamily="34" charset="0"/>
                <a:ea typeface="宋体" charset="-122"/>
              </a:defRPr>
            </a:lvl9pPr>
          </a:lstStyle>
          <a:p>
            <a:pPr>
              <a:defRPr/>
            </a:pPr>
            <a:r>
              <a:rPr lang="en-US" altLang="zh-CN" sz="2700" b="0" dirty="0">
                <a:solidFill>
                  <a:srgbClr val="FB0024"/>
                </a:solidFill>
                <a:latin typeface="Impact" pitchFamily="34" charset="0"/>
              </a:rPr>
              <a:t>RHEL8/CentOS8</a:t>
            </a:r>
            <a:endParaRPr lang="zh-CN" altLang="en-US" sz="2700" b="0" dirty="0">
              <a:solidFill>
                <a:srgbClr val="FB0024"/>
              </a:solidFill>
              <a:latin typeface="Impact" pitchFamily="34" charset="0"/>
            </a:endParaRPr>
          </a:p>
        </p:txBody>
      </p:sp>
      <p:sp>
        <p:nvSpPr>
          <p:cNvPr id="14" name="TextBox 15"/>
          <p:cNvSpPr txBox="1"/>
          <p:nvPr userDrawn="1"/>
        </p:nvSpPr>
        <p:spPr>
          <a:xfrm>
            <a:off x="11088403" y="6330806"/>
            <a:ext cx="982705" cy="338554"/>
          </a:xfrm>
          <a:prstGeom prst="rect">
            <a:avLst/>
          </a:prstGeom>
          <a:noFill/>
        </p:spPr>
        <p:txBody>
          <a:bodyPr wrap="none" rtlCol="0">
            <a:spAutoFit/>
          </a:bodyPr>
          <a:lstStyle/>
          <a:p>
            <a:r>
              <a:rPr lang="en-US" altLang="zh-CN" sz="1600" dirty="0">
                <a:solidFill>
                  <a:schemeClr val="bg1">
                    <a:lumMod val="50000"/>
                  </a:schemeClr>
                </a:solidFill>
              </a:rPr>
              <a:t>—  </a:t>
            </a:r>
            <a:fld id="{2EEF1883-7A0E-4F66-9932-E581691AD397}" type="slidenum">
              <a:rPr lang="zh-CN" altLang="en-US" sz="1600" smtClean="0">
                <a:solidFill>
                  <a:schemeClr val="bg1">
                    <a:lumMod val="50000"/>
                  </a:schemeClr>
                </a:solidFill>
              </a:rPr>
              <a:pPr/>
              <a:t>‹#›</a:t>
            </a:fld>
            <a:r>
              <a:rPr lang="zh-CN" altLang="en-US" sz="1600" dirty="0">
                <a:solidFill>
                  <a:schemeClr val="bg1">
                    <a:lumMod val="50000"/>
                  </a:schemeClr>
                </a:solidFill>
              </a:rPr>
              <a:t> </a:t>
            </a:r>
            <a:r>
              <a:rPr lang="en-US" altLang="zh-CN" sz="1600" dirty="0">
                <a:solidFill>
                  <a:schemeClr val="bg1">
                    <a:lumMod val="50000"/>
                  </a:schemeClr>
                </a:solidFill>
              </a:rPr>
              <a:t>—</a:t>
            </a:r>
            <a:r>
              <a:rPr lang="zh-CN" altLang="en-US" sz="1600" dirty="0">
                <a:solidFill>
                  <a:schemeClr val="bg1">
                    <a:lumMod val="50000"/>
                  </a:schemeClr>
                </a:solidFill>
              </a:rPr>
              <a:t> </a:t>
            </a:r>
            <a:endParaRPr lang="zh-CN" altLang="en-US" sz="1600" b="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700353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2" name="矩形 1"/>
          <p:cNvSpPr/>
          <p:nvPr userDrawn="1"/>
        </p:nvSpPr>
        <p:spPr>
          <a:xfrm>
            <a:off x="1" y="576595"/>
            <a:ext cx="1488688" cy="369332"/>
          </a:xfrm>
          <a:prstGeom prst="rect">
            <a:avLst/>
          </a:prstGeom>
        </p:spPr>
        <p:txBody>
          <a:bodyPr wrap="square">
            <a:spAutoFit/>
          </a:bodyPr>
          <a:lstStyle/>
          <a:p>
            <a:pPr lvl="0" algn="ctr">
              <a:defRPr/>
            </a:pPr>
            <a:r>
              <a:rPr lang="zh-CN" altLang="en-US" sz="1800" kern="0" dirty="0">
                <a:solidFill>
                  <a:schemeClr val="bg1"/>
                </a:solidFill>
                <a:latin typeface="微软雅黑" pitchFamily="34" charset="-122"/>
                <a:ea typeface="微软雅黑" pitchFamily="34" charset="-122"/>
              </a:rPr>
              <a:t>第一章</a:t>
            </a:r>
          </a:p>
        </p:txBody>
      </p:sp>
      <p:sp>
        <p:nvSpPr>
          <p:cNvPr id="3" name="TextBox 2"/>
          <p:cNvSpPr txBox="1"/>
          <p:nvPr userDrawn="1"/>
        </p:nvSpPr>
        <p:spPr>
          <a:xfrm>
            <a:off x="1776645" y="561206"/>
            <a:ext cx="3527473" cy="400110"/>
          </a:xfrm>
          <a:prstGeom prst="rect">
            <a:avLst/>
          </a:prstGeom>
          <a:noFill/>
        </p:spPr>
        <p:txBody>
          <a:bodyPr wrap="square" rtlCol="0">
            <a:spAutoFit/>
          </a:bodyPr>
          <a:lstStyle/>
          <a:p>
            <a:pPr marL="0" algn="l" defTabSz="914400" rtl="0" eaLnBrk="1" latinLnBrk="0" hangingPunct="1"/>
            <a:r>
              <a:rPr lang="zh-CN" altLang="en-US" sz="2000" dirty="0">
                <a:solidFill>
                  <a:schemeClr val="bg1"/>
                </a:solidFill>
                <a:latin typeface="微软雅黑" pitchFamily="34" charset="-122"/>
                <a:ea typeface="微软雅黑" pitchFamily="34" charset="-122"/>
              </a:rPr>
              <a:t>执行力知识概述</a:t>
            </a:r>
            <a:endParaRPr lang="zh-CN" altLang="en-US" sz="2000" kern="12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3625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过渡页1">
    <p:spTree>
      <p:nvGrpSpPr>
        <p:cNvPr id="1" name=""/>
        <p:cNvGrpSpPr/>
        <p:nvPr/>
      </p:nvGrpSpPr>
      <p:grpSpPr>
        <a:xfrm>
          <a:off x="0" y="0"/>
          <a:ext cx="0" cy="0"/>
          <a:chOff x="0" y="0"/>
          <a:chExt cx="0" cy="0"/>
        </a:xfrm>
      </p:grpSpPr>
      <p:sp>
        <p:nvSpPr>
          <p:cNvPr id="2" name="矩形 1"/>
          <p:cNvSpPr/>
          <p:nvPr userDrawn="1"/>
        </p:nvSpPr>
        <p:spPr>
          <a:xfrm>
            <a:off x="1" y="576595"/>
            <a:ext cx="1488688" cy="369332"/>
          </a:xfrm>
          <a:prstGeom prst="rect">
            <a:avLst/>
          </a:prstGeom>
        </p:spPr>
        <p:txBody>
          <a:bodyPr wrap="square">
            <a:spAutoFit/>
          </a:bodyPr>
          <a:lstStyle/>
          <a:p>
            <a:pPr lvl="0" algn="ctr">
              <a:defRPr/>
            </a:pPr>
            <a:r>
              <a:rPr lang="zh-CN" altLang="en-US" sz="1800" kern="0" dirty="0">
                <a:solidFill>
                  <a:schemeClr val="bg1"/>
                </a:solidFill>
                <a:latin typeface="微软雅黑" pitchFamily="34" charset="-122"/>
                <a:ea typeface="微软雅黑" pitchFamily="34" charset="-122"/>
              </a:rPr>
              <a:t>项目四</a:t>
            </a:r>
          </a:p>
        </p:txBody>
      </p:sp>
      <p:sp>
        <p:nvSpPr>
          <p:cNvPr id="5" name="矩形 4"/>
          <p:cNvSpPr/>
          <p:nvPr userDrawn="1"/>
        </p:nvSpPr>
        <p:spPr>
          <a:xfrm>
            <a:off x="1712195" y="476672"/>
            <a:ext cx="10479806" cy="576064"/>
          </a:xfrm>
          <a:prstGeom prst="rect">
            <a:avLst/>
          </a:prstGeom>
          <a:solidFill>
            <a:srgbClr val="FB0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TextBox 2"/>
          <p:cNvSpPr txBox="1"/>
          <p:nvPr userDrawn="1"/>
        </p:nvSpPr>
        <p:spPr>
          <a:xfrm>
            <a:off x="1776645" y="561206"/>
            <a:ext cx="3527473" cy="400110"/>
          </a:xfrm>
          <a:prstGeom prst="rect">
            <a:avLst/>
          </a:prstGeom>
          <a:noFill/>
        </p:spPr>
        <p:txBody>
          <a:bodyPr wrap="square" rtlCol="0">
            <a:spAutoFit/>
          </a:bodyPr>
          <a:lstStyle/>
          <a:p>
            <a:pPr marL="0" algn="l" defTabSz="914400" rtl="0" eaLnBrk="1" latinLnBrk="0" hangingPunct="1"/>
            <a:r>
              <a:rPr lang="en-US" altLang="zh-CN" sz="2000" kern="1200" dirty="0">
                <a:solidFill>
                  <a:schemeClr val="bg1"/>
                </a:solidFill>
                <a:latin typeface="微软雅黑" pitchFamily="34" charset="-122"/>
                <a:ea typeface="微软雅黑" pitchFamily="34" charset="-122"/>
              </a:rPr>
              <a:t>Shell</a:t>
            </a:r>
            <a:r>
              <a:rPr lang="zh-CN" altLang="en-US" sz="2000" kern="1200" dirty="0">
                <a:solidFill>
                  <a:schemeClr val="bg1"/>
                </a:solidFill>
                <a:latin typeface="微软雅黑" pitchFamily="34" charset="-122"/>
                <a:ea typeface="微软雅黑" pitchFamily="34" charset="-122"/>
              </a:rPr>
              <a:t>脚本编程</a:t>
            </a:r>
          </a:p>
        </p:txBody>
      </p:sp>
      <p:sp>
        <p:nvSpPr>
          <p:cNvPr id="6" name="TextBox 15"/>
          <p:cNvSpPr txBox="1"/>
          <p:nvPr userDrawn="1"/>
        </p:nvSpPr>
        <p:spPr>
          <a:xfrm>
            <a:off x="11088403" y="620688"/>
            <a:ext cx="982705" cy="338554"/>
          </a:xfrm>
          <a:prstGeom prst="rect">
            <a:avLst/>
          </a:prstGeom>
          <a:noFill/>
        </p:spPr>
        <p:txBody>
          <a:bodyPr wrap="none" rtlCol="0">
            <a:spAutoFit/>
          </a:bodyPr>
          <a:lstStyle/>
          <a:p>
            <a:r>
              <a:rPr lang="en-US" altLang="zh-CN" sz="1600" dirty="0">
                <a:solidFill>
                  <a:schemeClr val="bg1"/>
                </a:solidFill>
              </a:rPr>
              <a:t>—  </a:t>
            </a:r>
            <a:fld id="{2EEF1883-7A0E-4F66-9932-E581691AD397}" type="slidenum">
              <a:rPr lang="zh-CN" altLang="en-US" sz="1600" smtClean="0">
                <a:solidFill>
                  <a:schemeClr val="bg1"/>
                </a:solidFill>
              </a:rPr>
              <a:pPr/>
              <a:t>‹#›</a:t>
            </a:fld>
            <a:r>
              <a:rPr lang="zh-CN" altLang="en-US" sz="1600" dirty="0">
                <a:solidFill>
                  <a:schemeClr val="bg1"/>
                </a:solidFill>
              </a:rPr>
              <a:t> </a:t>
            </a:r>
            <a:r>
              <a:rPr lang="en-US" altLang="zh-CN" sz="1600" dirty="0">
                <a:solidFill>
                  <a:schemeClr val="bg1"/>
                </a:solidFill>
              </a:rPr>
              <a:t>—</a:t>
            </a:r>
            <a:r>
              <a:rPr lang="zh-CN" altLang="en-US" sz="1600" dirty="0">
                <a:solidFill>
                  <a:schemeClr val="bg1"/>
                </a:solidFill>
              </a:rPr>
              <a:t> </a:t>
            </a:r>
            <a:endParaRPr lang="zh-CN" altLang="en-US" sz="1600" b="0" dirty="0">
              <a:solidFill>
                <a:schemeClr val="bg1"/>
              </a:solidFill>
              <a:latin typeface="微软雅黑" pitchFamily="34" charset="-122"/>
              <a:ea typeface="微软雅黑" pitchFamily="34" charset="-122"/>
            </a:endParaRPr>
          </a:p>
        </p:txBody>
      </p:sp>
      <p:sp>
        <p:nvSpPr>
          <p:cNvPr id="10" name="TextBox 560">
            <a:extLst>
              <a:ext uri="{FF2B5EF4-FFF2-40B4-BE49-F238E27FC236}">
                <a16:creationId xmlns:a16="http://schemas.microsoft.com/office/drawing/2014/main" id="{793725AA-8836-4D44-8035-15F47A27BD69}"/>
              </a:ext>
            </a:extLst>
          </p:cNvPr>
          <p:cNvSpPr txBox="1"/>
          <p:nvPr userDrawn="1"/>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p>
        </p:txBody>
      </p:sp>
    </p:spTree>
    <p:extLst>
      <p:ext uri="{BB962C8B-B14F-4D97-AF65-F5344CB8AC3E}">
        <p14:creationId xmlns:p14="http://schemas.microsoft.com/office/powerpoint/2010/main" val="1355135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尾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1F1E5"/>
            </a:gs>
            <a:gs pos="74000">
              <a:srgbClr val="F7F7ED"/>
            </a:gs>
            <a:gs pos="83000">
              <a:srgbClr val="F8F8EE"/>
            </a:gs>
            <a:gs pos="100000">
              <a:srgbClr val="F9F9EF"/>
            </a:gs>
          </a:gsLst>
          <a:lin ang="5400000" scaled="1"/>
          <a:tileRect/>
        </a:gradFill>
        <a:effectLst/>
      </p:bgPr>
    </p:bg>
    <p:spTree>
      <p:nvGrpSpPr>
        <p:cNvPr id="1" name=""/>
        <p:cNvGrpSpPr/>
        <p:nvPr/>
      </p:nvGrpSpPr>
      <p:grpSpPr>
        <a:xfrm>
          <a:off x="0" y="0"/>
          <a:ext cx="0" cy="0"/>
          <a:chOff x="0" y="0"/>
          <a:chExt cx="0" cy="0"/>
        </a:xfrm>
      </p:grpSpPr>
      <p:sp>
        <p:nvSpPr>
          <p:cNvPr id="2" name="矩形 1"/>
          <p:cNvSpPr/>
          <p:nvPr userDrawn="1"/>
        </p:nvSpPr>
        <p:spPr>
          <a:xfrm>
            <a:off x="-813" y="6506195"/>
            <a:ext cx="12193625" cy="95250"/>
          </a:xfrm>
          <a:prstGeom prst="rect">
            <a:avLst/>
          </a:prstGeom>
          <a:gradFill>
            <a:gsLst>
              <a:gs pos="0">
                <a:srgbClr val="E20084"/>
              </a:gs>
              <a:gs pos="100000">
                <a:srgbClr val="FB0024"/>
              </a:gs>
              <a:gs pos="100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sz="1800"/>
          </a:p>
        </p:txBody>
      </p:sp>
      <p:sp>
        <p:nvSpPr>
          <p:cNvPr id="5" name="矩形 4"/>
          <p:cNvSpPr/>
          <p:nvPr userDrawn="1"/>
        </p:nvSpPr>
        <p:spPr>
          <a:xfrm>
            <a:off x="0" y="476672"/>
            <a:ext cx="1280260" cy="576064"/>
          </a:xfrm>
          <a:prstGeom prst="rect">
            <a:avLst/>
          </a:prstGeom>
          <a:solidFill>
            <a:srgbClr val="E20084">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矩形 5"/>
          <p:cNvSpPr/>
          <p:nvPr userDrawn="1"/>
        </p:nvSpPr>
        <p:spPr>
          <a:xfrm>
            <a:off x="1712195" y="476672"/>
            <a:ext cx="10479806" cy="576064"/>
          </a:xfrm>
          <a:prstGeom prst="rect">
            <a:avLst/>
          </a:prstGeom>
          <a:solidFill>
            <a:srgbClr val="FB0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直角三角形 6"/>
          <p:cNvSpPr/>
          <p:nvPr userDrawn="1"/>
        </p:nvSpPr>
        <p:spPr>
          <a:xfrm>
            <a:off x="1280260" y="476672"/>
            <a:ext cx="304031" cy="576064"/>
          </a:xfrm>
          <a:prstGeom prst="rtTriangle">
            <a:avLst/>
          </a:prstGeom>
          <a:solidFill>
            <a:srgbClr val="E20084">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8" name="直角三角形 7"/>
          <p:cNvSpPr/>
          <p:nvPr userDrawn="1"/>
        </p:nvSpPr>
        <p:spPr>
          <a:xfrm flipH="1" flipV="1">
            <a:off x="1406275" y="476672"/>
            <a:ext cx="305920" cy="576064"/>
          </a:xfrm>
          <a:prstGeom prst="rtTriangle">
            <a:avLst/>
          </a:prstGeom>
          <a:solidFill>
            <a:srgbClr val="FB00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10" name="TextBox 15"/>
          <p:cNvSpPr txBox="1"/>
          <p:nvPr userDrawn="1"/>
        </p:nvSpPr>
        <p:spPr>
          <a:xfrm>
            <a:off x="11088403" y="620688"/>
            <a:ext cx="982705" cy="338554"/>
          </a:xfrm>
          <a:prstGeom prst="rect">
            <a:avLst/>
          </a:prstGeom>
          <a:noFill/>
        </p:spPr>
        <p:txBody>
          <a:bodyPr wrap="none" rtlCol="0">
            <a:spAutoFit/>
          </a:bodyPr>
          <a:lstStyle/>
          <a:p>
            <a:r>
              <a:rPr lang="en-US" altLang="zh-CN" sz="1600" dirty="0">
                <a:solidFill>
                  <a:schemeClr val="bg1"/>
                </a:solidFill>
              </a:rPr>
              <a:t>—  </a:t>
            </a:r>
            <a:fld id="{2EEF1883-7A0E-4F66-9932-E581691AD397}" type="slidenum">
              <a:rPr lang="zh-CN" altLang="en-US" sz="1600" smtClean="0">
                <a:solidFill>
                  <a:schemeClr val="bg1"/>
                </a:solidFill>
              </a:rPr>
              <a:pPr/>
              <a:t>‹#›</a:t>
            </a:fld>
            <a:r>
              <a:rPr lang="zh-CN" altLang="en-US" sz="1600" dirty="0">
                <a:solidFill>
                  <a:schemeClr val="bg1"/>
                </a:solidFill>
              </a:rPr>
              <a:t> </a:t>
            </a:r>
            <a:r>
              <a:rPr lang="en-US" altLang="zh-CN" sz="1600" dirty="0">
                <a:solidFill>
                  <a:schemeClr val="bg1"/>
                </a:solidFill>
              </a:rPr>
              <a:t>—</a:t>
            </a:r>
            <a:r>
              <a:rPr lang="zh-CN" altLang="en-US" sz="1600" dirty="0">
                <a:solidFill>
                  <a:schemeClr val="bg1"/>
                </a:solidFill>
              </a:rPr>
              <a:t> </a:t>
            </a:r>
            <a:endParaRPr lang="zh-CN" altLang="en-US" sz="1600" b="0" dirty="0">
              <a:solidFill>
                <a:schemeClr val="bg1"/>
              </a:solidFill>
              <a:latin typeface="微软雅黑" pitchFamily="34" charset="-122"/>
              <a:ea typeface="微软雅黑" pitchFamily="34" charset="-122"/>
            </a:endParaRPr>
          </a:p>
        </p:txBody>
      </p:sp>
      <p:sp>
        <p:nvSpPr>
          <p:cNvPr id="12" name="TextBox 7">
            <a:extLst>
              <a:ext uri="{FF2B5EF4-FFF2-40B4-BE49-F238E27FC236}">
                <a16:creationId xmlns:a16="http://schemas.microsoft.com/office/drawing/2014/main" id="{9DB53566-B99A-49B8-84E5-F7610BC4ADE5}"/>
              </a:ext>
            </a:extLst>
          </p:cNvPr>
          <p:cNvSpPr txBox="1">
            <a:spLocks noChangeArrowheads="1"/>
          </p:cNvSpPr>
          <p:nvPr userDrawn="1"/>
        </p:nvSpPr>
        <p:spPr bwMode="auto">
          <a:xfrm>
            <a:off x="9336360" y="6294133"/>
            <a:ext cx="2391039" cy="519373"/>
          </a:xfrm>
          <a:prstGeom prst="rect">
            <a:avLst/>
          </a:prstGeom>
          <a:solidFill>
            <a:srgbClr val="F2F2E6"/>
          </a:solidFill>
          <a:ln>
            <a:noFill/>
          </a:ln>
        </p:spPr>
        <p:txBody>
          <a:bodyPr wrap="none" lIns="102870" tIns="51435" rIns="102870" bIns="51435">
            <a:spAutoFit/>
          </a:bodyPr>
          <a:lstStyle>
            <a:lvl1pPr>
              <a:defRPr sz="2000">
                <a:solidFill>
                  <a:schemeClr val="tx1"/>
                </a:solidFill>
                <a:latin typeface="Calibri" pitchFamily="34" charset="0"/>
                <a:ea typeface="宋体" charset="-122"/>
              </a:defRPr>
            </a:lvl1pPr>
            <a:lvl2pPr marL="742950" indent="-285750">
              <a:defRPr sz="2000">
                <a:solidFill>
                  <a:schemeClr val="tx1"/>
                </a:solidFill>
                <a:latin typeface="Calibri" pitchFamily="34" charset="0"/>
                <a:ea typeface="宋体" charset="-122"/>
              </a:defRPr>
            </a:lvl2pPr>
            <a:lvl3pPr marL="1143000" indent="-228600">
              <a:defRPr sz="2000">
                <a:solidFill>
                  <a:schemeClr val="tx1"/>
                </a:solidFill>
                <a:latin typeface="Calibri" pitchFamily="34" charset="0"/>
                <a:ea typeface="宋体" charset="-122"/>
              </a:defRPr>
            </a:lvl3pPr>
            <a:lvl4pPr marL="1600200" indent="-228600">
              <a:defRPr sz="2000">
                <a:solidFill>
                  <a:schemeClr val="tx1"/>
                </a:solidFill>
                <a:latin typeface="Calibri" pitchFamily="34" charset="0"/>
                <a:ea typeface="宋体" charset="-122"/>
              </a:defRPr>
            </a:lvl4pPr>
            <a:lvl5pPr>
              <a:defRPr sz="2000">
                <a:solidFill>
                  <a:schemeClr val="tx1"/>
                </a:solidFill>
                <a:latin typeface="Calibri" pitchFamily="34" charset="0"/>
                <a:ea typeface="宋体" charset="-122"/>
              </a:defRPr>
            </a:lvl5pPr>
            <a:lvl6pPr marL="2514600" indent="-228600" defTabSz="1028700" fontAlgn="base">
              <a:spcBef>
                <a:spcPct val="0"/>
              </a:spcBef>
              <a:spcAft>
                <a:spcPct val="0"/>
              </a:spcAft>
              <a:defRPr sz="2000">
                <a:solidFill>
                  <a:schemeClr val="tx1"/>
                </a:solidFill>
                <a:latin typeface="Calibri" pitchFamily="34" charset="0"/>
                <a:ea typeface="宋体" charset="-122"/>
              </a:defRPr>
            </a:lvl6pPr>
            <a:lvl7pPr marL="2971800" indent="-228600" defTabSz="1028700" fontAlgn="base">
              <a:spcBef>
                <a:spcPct val="0"/>
              </a:spcBef>
              <a:spcAft>
                <a:spcPct val="0"/>
              </a:spcAft>
              <a:defRPr sz="2000">
                <a:solidFill>
                  <a:schemeClr val="tx1"/>
                </a:solidFill>
                <a:latin typeface="Calibri" pitchFamily="34" charset="0"/>
                <a:ea typeface="宋体" charset="-122"/>
              </a:defRPr>
            </a:lvl7pPr>
            <a:lvl8pPr marL="3429000" indent="-228600" defTabSz="1028700" fontAlgn="base">
              <a:spcBef>
                <a:spcPct val="0"/>
              </a:spcBef>
              <a:spcAft>
                <a:spcPct val="0"/>
              </a:spcAft>
              <a:defRPr sz="2000">
                <a:solidFill>
                  <a:schemeClr val="tx1"/>
                </a:solidFill>
                <a:latin typeface="Calibri" pitchFamily="34" charset="0"/>
                <a:ea typeface="宋体" charset="-122"/>
              </a:defRPr>
            </a:lvl8pPr>
            <a:lvl9pPr marL="3886200" indent="-228600" defTabSz="1028700" fontAlgn="base">
              <a:spcBef>
                <a:spcPct val="0"/>
              </a:spcBef>
              <a:spcAft>
                <a:spcPct val="0"/>
              </a:spcAft>
              <a:defRPr sz="2000">
                <a:solidFill>
                  <a:schemeClr val="tx1"/>
                </a:solidFill>
                <a:latin typeface="Calibri" pitchFamily="34" charset="0"/>
                <a:ea typeface="宋体" charset="-122"/>
              </a:defRPr>
            </a:lvl9pPr>
          </a:lstStyle>
          <a:p>
            <a:pPr>
              <a:defRPr/>
            </a:pPr>
            <a:r>
              <a:rPr lang="en-US" altLang="zh-CN" sz="2700" b="0" dirty="0">
                <a:solidFill>
                  <a:schemeClr val="tx1"/>
                </a:solidFill>
                <a:latin typeface="Impact" pitchFamily="34" charset="0"/>
              </a:rPr>
              <a:t>RHEL8/CentOS8</a:t>
            </a:r>
            <a:endParaRPr lang="zh-CN" altLang="en-US" sz="2700" b="0" dirty="0">
              <a:solidFill>
                <a:schemeClr val="tx1"/>
              </a:solidFill>
              <a:latin typeface="Impact"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67" r:id="rId2"/>
    <p:sldLayoutId id="2147483680" r:id="rId3"/>
    <p:sldLayoutId id="2147483666" r:id="rId4"/>
    <p:sldLayoutId id="2147483681" r:id="rId5"/>
    <p:sldLayoutId id="2147483655" r:id="rId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baike.baidu.com/view/36272.htm" TargetMode="External"/><Relationship Id="rId2" Type="http://schemas.openxmlformats.org/officeDocument/2006/relationships/hyperlink" Target="http://baike.baidu.com/view/37115.htm"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7.jfif"/><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5.xml"/><Relationship Id="rId5" Type="http://schemas.openxmlformats.org/officeDocument/2006/relationships/image" Target="../media/image22.emf"/><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fif"/><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2924944"/>
            <a:ext cx="15310617" cy="1328936"/>
            <a:chOff x="480963" y="5096009"/>
            <a:chExt cx="4123150" cy="925279"/>
          </a:xfrm>
        </p:grpSpPr>
        <p:sp>
          <p:nvSpPr>
            <p:cNvPr id="11" name="矩形 10"/>
            <p:cNvSpPr/>
            <p:nvPr/>
          </p:nvSpPr>
          <p:spPr>
            <a:xfrm>
              <a:off x="480963" y="5096009"/>
              <a:ext cx="3270561" cy="925279"/>
            </a:xfrm>
            <a:prstGeom prst="rect">
              <a:avLst/>
            </a:prstGeom>
            <a:solidFill>
              <a:srgbClr val="016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3"/>
            <p:cNvSpPr txBox="1"/>
            <p:nvPr/>
          </p:nvSpPr>
          <p:spPr>
            <a:xfrm>
              <a:off x="2083833" y="5446961"/>
              <a:ext cx="2520280" cy="450012"/>
            </a:xfrm>
            <a:prstGeom prst="rect">
              <a:avLst/>
            </a:prstGeom>
            <a:noFill/>
          </p:spPr>
          <p:txBody>
            <a:bodyPr wrap="square">
              <a:spAutoFit/>
            </a:bodyPr>
            <a:lstStyle/>
            <a:p>
              <a:pPr>
                <a:defRPr/>
              </a:pPr>
              <a:r>
                <a:rPr lang="en-US" altLang="zh-CN" sz="3600" b="1"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Shell</a:t>
              </a:r>
              <a:r>
                <a:rPr lang="zh-CN" altLang="en-US" sz="3600" b="1" dirty="0">
                  <a:solidFill>
                    <a:srgbClr val="FFC000"/>
                  </a:solidFill>
                  <a:effectLst>
                    <a:outerShdw blurRad="38100" dist="38100" dir="2700000" algn="tl">
                      <a:srgbClr val="000000">
                        <a:alpha val="43137"/>
                      </a:srgbClr>
                    </a:outerShdw>
                  </a:effectLst>
                  <a:latin typeface="微软雅黑" pitchFamily="34" charset="-122"/>
                  <a:ea typeface="微软雅黑" pitchFamily="34" charset="-122"/>
                </a:rPr>
                <a:t>脚本编程</a:t>
              </a:r>
            </a:p>
          </p:txBody>
        </p:sp>
        <p:sp>
          <p:nvSpPr>
            <p:cNvPr id="13" name="文本框 24"/>
            <p:cNvSpPr txBox="1"/>
            <p:nvPr/>
          </p:nvSpPr>
          <p:spPr>
            <a:xfrm>
              <a:off x="1695997" y="5194354"/>
              <a:ext cx="2520280" cy="364295"/>
            </a:xfrm>
            <a:prstGeom prst="rect">
              <a:avLst/>
            </a:prstGeom>
            <a:noFill/>
          </p:spPr>
          <p:txBody>
            <a:bodyPr wrap="square" rtlCol="0">
              <a:spAutoFit/>
            </a:bodyPr>
            <a:lstStyle/>
            <a:p>
              <a:r>
                <a:rPr lang="zh-CN" altLang="en-US" sz="2800" b="1" dirty="0">
                  <a:solidFill>
                    <a:srgbClr val="FB0024"/>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项目</a:t>
              </a:r>
              <a:r>
                <a:rPr lang="en-US" altLang="zh-CN" sz="2800" b="1" dirty="0">
                  <a:solidFill>
                    <a:srgbClr val="FB0024"/>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 </a:t>
              </a:r>
              <a:endParaRPr lang="zh-CN" altLang="en-US" sz="2800" b="1" dirty="0">
                <a:solidFill>
                  <a:srgbClr val="FB0024"/>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5" name="椭圆 4">
            <a:extLst>
              <a:ext uri="{FF2B5EF4-FFF2-40B4-BE49-F238E27FC236}">
                <a16:creationId xmlns:a16="http://schemas.microsoft.com/office/drawing/2014/main" id="{3FAE8FC0-41E9-417B-BEA7-6B6D2EBB5A75}"/>
              </a:ext>
            </a:extLst>
          </p:cNvPr>
          <p:cNvSpPr/>
          <p:nvPr/>
        </p:nvSpPr>
        <p:spPr>
          <a:xfrm>
            <a:off x="767408" y="1756557"/>
            <a:ext cx="3528392" cy="3528392"/>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8372455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703FC3C-5FD3-4E8A-B4D2-A1AE72AC8318}"/>
              </a:ext>
            </a:extLst>
          </p:cNvPr>
          <p:cNvPicPr>
            <a:picLocks noChangeAspect="1"/>
          </p:cNvPicPr>
          <p:nvPr/>
        </p:nvPicPr>
        <p:blipFill rotWithShape="1">
          <a:blip r:embed="rId2">
            <a:extLst>
              <a:ext uri="{28A0092B-C50C-407E-A947-70E740481C1C}">
                <a14:useLocalDpi xmlns:a14="http://schemas.microsoft.com/office/drawing/2010/main" val="0"/>
              </a:ext>
            </a:extLst>
          </a:blip>
          <a:srcRect l="11882" r="12607"/>
          <a:stretch/>
        </p:blipFill>
        <p:spPr>
          <a:xfrm>
            <a:off x="1487488" y="1474624"/>
            <a:ext cx="3744416" cy="4958821"/>
          </a:xfrm>
          <a:prstGeom prst="rect">
            <a:avLst/>
          </a:prstGeom>
          <a:ln>
            <a:noFill/>
          </a:ln>
          <a:effectLst>
            <a:outerShdw blurRad="292100" dist="139700" dir="2700000" algn="tl" rotWithShape="0">
              <a:srgbClr val="333333">
                <a:alpha val="65000"/>
              </a:srgbClr>
            </a:outerShdw>
          </a:effectLst>
        </p:spPr>
      </p:pic>
      <p:grpSp>
        <p:nvGrpSpPr>
          <p:cNvPr id="3" name="组合 2">
            <a:extLst>
              <a:ext uri="{FF2B5EF4-FFF2-40B4-BE49-F238E27FC236}">
                <a16:creationId xmlns:a16="http://schemas.microsoft.com/office/drawing/2014/main" id="{9F400055-EED2-4139-92BA-6D5E1DFB71CB}"/>
              </a:ext>
            </a:extLst>
          </p:cNvPr>
          <p:cNvGrpSpPr/>
          <p:nvPr/>
        </p:nvGrpSpPr>
        <p:grpSpPr>
          <a:xfrm>
            <a:off x="6168008" y="1474624"/>
            <a:ext cx="4104456" cy="736573"/>
            <a:chOff x="6601643" y="1988840"/>
            <a:chExt cx="4104456" cy="736573"/>
          </a:xfrm>
        </p:grpSpPr>
        <p:sp>
          <p:nvSpPr>
            <p:cNvPr id="4" name="圆角矩形 25">
              <a:extLst>
                <a:ext uri="{FF2B5EF4-FFF2-40B4-BE49-F238E27FC236}">
                  <a16:creationId xmlns:a16="http://schemas.microsoft.com/office/drawing/2014/main" id="{F860EB58-0842-4154-84D8-9C3E4FB81635}"/>
                </a:ext>
              </a:extLst>
            </p:cNvPr>
            <p:cNvSpPr/>
            <p:nvPr/>
          </p:nvSpPr>
          <p:spPr>
            <a:xfrm>
              <a:off x="6601643" y="2221357"/>
              <a:ext cx="4104456" cy="504056"/>
            </a:xfrm>
            <a:prstGeom prst="roundRect">
              <a:avLst/>
            </a:prstGeom>
            <a:solidFill>
              <a:schemeClr val="accent3">
                <a:lumMod val="40000"/>
                <a:lumOff val="6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任务描述</a:t>
              </a:r>
            </a:p>
          </p:txBody>
        </p:sp>
        <p:sp>
          <p:nvSpPr>
            <p:cNvPr id="5" name="圆角矩形 5">
              <a:extLst>
                <a:ext uri="{FF2B5EF4-FFF2-40B4-BE49-F238E27FC236}">
                  <a16:creationId xmlns:a16="http://schemas.microsoft.com/office/drawing/2014/main" id="{04C7C4FD-3D3D-4B58-ABF7-99E8D4F80949}"/>
                </a:ext>
              </a:extLst>
            </p:cNvPr>
            <p:cNvSpPr/>
            <p:nvPr/>
          </p:nvSpPr>
          <p:spPr>
            <a:xfrm>
              <a:off x="9481963" y="1988840"/>
              <a:ext cx="1008112" cy="484545"/>
            </a:xfrm>
            <a:prstGeom prst="roundRect">
              <a:avLst>
                <a:gd name="adj" fmla="val 9725"/>
              </a:avLst>
            </a:prstGeom>
            <a:solidFill>
              <a:srgbClr val="F7F7ED"/>
            </a:solidFill>
            <a:ln>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7030A0"/>
                  </a:solidFill>
                  <a:latin typeface="微软雅黑" panose="020B0503020204020204" pitchFamily="34" charset="-122"/>
                  <a:ea typeface="微软雅黑" panose="020B0503020204020204" pitchFamily="34" charset="-122"/>
                </a:rPr>
                <a:t>  4.1</a:t>
              </a:r>
              <a:endParaRPr lang="zh-CN" altLang="en-US" dirty="0">
                <a:solidFill>
                  <a:srgbClr val="7030A0"/>
                </a:solidFill>
                <a:latin typeface="微软雅黑" panose="020B0503020204020204" pitchFamily="34" charset="-122"/>
                <a:ea typeface="微软雅黑" panose="020B0503020204020204" pitchFamily="34" charset="-122"/>
              </a:endParaRPr>
            </a:p>
          </p:txBody>
        </p:sp>
      </p:grpSp>
      <p:grpSp>
        <p:nvGrpSpPr>
          <p:cNvPr id="6" name="组合 5">
            <a:extLst>
              <a:ext uri="{FF2B5EF4-FFF2-40B4-BE49-F238E27FC236}">
                <a16:creationId xmlns:a16="http://schemas.microsoft.com/office/drawing/2014/main" id="{B46C82BB-C6D4-4036-BFC7-AFFC5D76141D}"/>
              </a:ext>
            </a:extLst>
          </p:cNvPr>
          <p:cNvGrpSpPr/>
          <p:nvPr/>
        </p:nvGrpSpPr>
        <p:grpSpPr>
          <a:xfrm>
            <a:off x="6168008" y="2302716"/>
            <a:ext cx="4104456" cy="756084"/>
            <a:chOff x="6601643" y="2896501"/>
            <a:chExt cx="4104456" cy="756084"/>
          </a:xfrm>
        </p:grpSpPr>
        <p:sp>
          <p:nvSpPr>
            <p:cNvPr id="7" name="圆角矩形 24">
              <a:extLst>
                <a:ext uri="{FF2B5EF4-FFF2-40B4-BE49-F238E27FC236}">
                  <a16:creationId xmlns:a16="http://schemas.microsoft.com/office/drawing/2014/main" id="{85776748-7741-4893-AD3A-1E427C16D46F}"/>
                </a:ext>
              </a:extLst>
            </p:cNvPr>
            <p:cNvSpPr/>
            <p:nvPr/>
          </p:nvSpPr>
          <p:spPr>
            <a:xfrm>
              <a:off x="6601643" y="3148529"/>
              <a:ext cx="4104456" cy="504056"/>
            </a:xfrm>
            <a:prstGeom prst="roundRect">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任务分析</a:t>
              </a:r>
            </a:p>
          </p:txBody>
        </p:sp>
        <p:sp>
          <p:nvSpPr>
            <p:cNvPr id="8" name="圆角矩形 26">
              <a:extLst>
                <a:ext uri="{FF2B5EF4-FFF2-40B4-BE49-F238E27FC236}">
                  <a16:creationId xmlns:a16="http://schemas.microsoft.com/office/drawing/2014/main" id="{B20ACCAD-949F-473A-ACC8-1C78B6B49C6F}"/>
                </a:ext>
              </a:extLst>
            </p:cNvPr>
            <p:cNvSpPr/>
            <p:nvPr/>
          </p:nvSpPr>
          <p:spPr>
            <a:xfrm>
              <a:off x="9481963" y="2896501"/>
              <a:ext cx="1008112" cy="484545"/>
            </a:xfrm>
            <a:prstGeom prst="roundRect">
              <a:avLst>
                <a:gd name="adj" fmla="val 9725"/>
              </a:avLst>
            </a:prstGeom>
            <a:solidFill>
              <a:srgbClr val="F7F7ED"/>
            </a:solidFill>
            <a:ln>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7030A0"/>
                  </a:solidFill>
                  <a:latin typeface="微软雅黑" panose="020B0503020204020204" pitchFamily="34" charset="-122"/>
                  <a:ea typeface="微软雅黑" panose="020B0503020204020204" pitchFamily="34" charset="-122"/>
                </a:rPr>
                <a:t>  4.2</a:t>
              </a:r>
              <a:endParaRPr lang="zh-CN" altLang="en-US" dirty="0">
                <a:solidFill>
                  <a:srgbClr val="7030A0"/>
                </a:solidFill>
                <a:latin typeface="微软雅黑" panose="020B0503020204020204" pitchFamily="34" charset="-122"/>
                <a:ea typeface="微软雅黑" panose="020B0503020204020204" pitchFamily="34" charset="-122"/>
              </a:endParaRPr>
            </a:p>
          </p:txBody>
        </p:sp>
      </p:grpSp>
      <p:grpSp>
        <p:nvGrpSpPr>
          <p:cNvPr id="9" name="组合 8">
            <a:extLst>
              <a:ext uri="{FF2B5EF4-FFF2-40B4-BE49-F238E27FC236}">
                <a16:creationId xmlns:a16="http://schemas.microsoft.com/office/drawing/2014/main" id="{07B8D2A5-B444-422E-AED7-182DF469D642}"/>
              </a:ext>
            </a:extLst>
          </p:cNvPr>
          <p:cNvGrpSpPr/>
          <p:nvPr/>
        </p:nvGrpSpPr>
        <p:grpSpPr>
          <a:xfrm>
            <a:off x="6168008" y="3151128"/>
            <a:ext cx="4104456" cy="675144"/>
            <a:chOff x="6601643" y="3904613"/>
            <a:chExt cx="4104456" cy="675144"/>
          </a:xfrm>
        </p:grpSpPr>
        <p:sp>
          <p:nvSpPr>
            <p:cNvPr id="10" name="圆角矩形 23">
              <a:extLst>
                <a:ext uri="{FF2B5EF4-FFF2-40B4-BE49-F238E27FC236}">
                  <a16:creationId xmlns:a16="http://schemas.microsoft.com/office/drawing/2014/main" id="{448F788F-6181-4AD2-9EBA-6C26E6719EED}"/>
                </a:ext>
              </a:extLst>
            </p:cNvPr>
            <p:cNvSpPr/>
            <p:nvPr/>
          </p:nvSpPr>
          <p:spPr>
            <a:xfrm>
              <a:off x="6601643" y="4075701"/>
              <a:ext cx="4104456" cy="504056"/>
            </a:xfrm>
            <a:prstGeom prst="roundRect">
              <a:avLst/>
            </a:prstGeom>
            <a:solidFill>
              <a:schemeClr val="accent3">
                <a:lumMod val="40000"/>
                <a:lumOff val="6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知识储备</a:t>
              </a:r>
            </a:p>
          </p:txBody>
        </p:sp>
        <p:sp>
          <p:nvSpPr>
            <p:cNvPr id="11" name="圆角矩形 27">
              <a:extLst>
                <a:ext uri="{FF2B5EF4-FFF2-40B4-BE49-F238E27FC236}">
                  <a16:creationId xmlns:a16="http://schemas.microsoft.com/office/drawing/2014/main" id="{AF5EEC22-5423-41EF-9958-F90B14D2B89E}"/>
                </a:ext>
              </a:extLst>
            </p:cNvPr>
            <p:cNvSpPr/>
            <p:nvPr/>
          </p:nvSpPr>
          <p:spPr>
            <a:xfrm>
              <a:off x="9481963" y="3904613"/>
              <a:ext cx="1008112" cy="484545"/>
            </a:xfrm>
            <a:prstGeom prst="roundRect">
              <a:avLst>
                <a:gd name="adj" fmla="val 9725"/>
              </a:avLst>
            </a:prstGeom>
            <a:solidFill>
              <a:srgbClr val="F7F7ED"/>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en-US" altLang="zh-CN" sz="2000" dirty="0">
                  <a:solidFill>
                    <a:srgbClr val="7030A0"/>
                  </a:solidFill>
                  <a:latin typeface="微软雅黑" panose="020B0503020204020204" pitchFamily="34" charset="-122"/>
                  <a:ea typeface="微软雅黑" panose="020B0503020204020204" pitchFamily="34" charset="-122"/>
                </a:rPr>
                <a:t>4.3</a:t>
              </a:r>
              <a:endParaRPr lang="zh-CN" altLang="en-US" sz="2000" dirty="0">
                <a:solidFill>
                  <a:srgbClr val="7030A0"/>
                </a:solidFill>
                <a:latin typeface="微软雅黑" panose="020B0503020204020204" pitchFamily="34" charset="-122"/>
                <a:ea typeface="微软雅黑" panose="020B0503020204020204" pitchFamily="34" charset="-122"/>
              </a:endParaRPr>
            </a:p>
          </p:txBody>
        </p:sp>
      </p:grpSp>
      <p:grpSp>
        <p:nvGrpSpPr>
          <p:cNvPr id="12" name="组合 11">
            <a:extLst>
              <a:ext uri="{FF2B5EF4-FFF2-40B4-BE49-F238E27FC236}">
                <a16:creationId xmlns:a16="http://schemas.microsoft.com/office/drawing/2014/main" id="{9125721F-CCC2-4A4E-9B0B-2B3745465BE1}"/>
              </a:ext>
            </a:extLst>
          </p:cNvPr>
          <p:cNvGrpSpPr/>
          <p:nvPr/>
        </p:nvGrpSpPr>
        <p:grpSpPr>
          <a:xfrm>
            <a:off x="6168008" y="3933056"/>
            <a:ext cx="4104456" cy="736573"/>
            <a:chOff x="6601643" y="4770357"/>
            <a:chExt cx="4104456" cy="736573"/>
          </a:xfrm>
        </p:grpSpPr>
        <p:sp>
          <p:nvSpPr>
            <p:cNvPr id="13" name="圆角矩形 4">
              <a:extLst>
                <a:ext uri="{FF2B5EF4-FFF2-40B4-BE49-F238E27FC236}">
                  <a16:creationId xmlns:a16="http://schemas.microsoft.com/office/drawing/2014/main" id="{9EB5D4DC-2FFD-460D-AB95-319A6FF72C5E}"/>
                </a:ext>
              </a:extLst>
            </p:cNvPr>
            <p:cNvSpPr/>
            <p:nvPr/>
          </p:nvSpPr>
          <p:spPr>
            <a:xfrm>
              <a:off x="6601643" y="5002874"/>
              <a:ext cx="4104456" cy="504056"/>
            </a:xfrm>
            <a:prstGeom prst="roundRect">
              <a:avLst/>
            </a:prstGeom>
            <a:solidFill>
              <a:schemeClr val="accent6">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任务实施</a:t>
              </a:r>
            </a:p>
          </p:txBody>
        </p:sp>
        <p:sp>
          <p:nvSpPr>
            <p:cNvPr id="14" name="圆角矩形 28">
              <a:extLst>
                <a:ext uri="{FF2B5EF4-FFF2-40B4-BE49-F238E27FC236}">
                  <a16:creationId xmlns:a16="http://schemas.microsoft.com/office/drawing/2014/main" id="{EF22DBE9-5AD1-4F4A-9C8C-AC26C305E455}"/>
                </a:ext>
              </a:extLst>
            </p:cNvPr>
            <p:cNvSpPr/>
            <p:nvPr/>
          </p:nvSpPr>
          <p:spPr>
            <a:xfrm>
              <a:off x="9481963" y="4770357"/>
              <a:ext cx="1008112" cy="484545"/>
            </a:xfrm>
            <a:prstGeom prst="roundRect">
              <a:avLst>
                <a:gd name="adj" fmla="val 9725"/>
              </a:avLst>
            </a:prstGeom>
            <a:solidFill>
              <a:srgbClr val="F7F7ED"/>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en-US" altLang="zh-CN" sz="2000" dirty="0">
                  <a:solidFill>
                    <a:srgbClr val="7030A0"/>
                  </a:solidFill>
                  <a:latin typeface="微软雅黑" panose="020B0503020204020204" pitchFamily="34" charset="-122"/>
                  <a:ea typeface="微软雅黑" panose="020B0503020204020204" pitchFamily="34" charset="-122"/>
                </a:rPr>
                <a:t>4.4</a:t>
              </a:r>
              <a:endParaRPr lang="zh-CN" altLang="en-US" sz="2000" dirty="0">
                <a:solidFill>
                  <a:srgbClr val="7030A0"/>
                </a:solidFill>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698D7403-EBEC-4752-A8B5-56FB7D447364}"/>
              </a:ext>
            </a:extLst>
          </p:cNvPr>
          <p:cNvGrpSpPr/>
          <p:nvPr/>
        </p:nvGrpSpPr>
        <p:grpSpPr>
          <a:xfrm>
            <a:off x="6163384" y="4786992"/>
            <a:ext cx="4104456" cy="736573"/>
            <a:chOff x="6601643" y="4770357"/>
            <a:chExt cx="4104456" cy="736573"/>
          </a:xfrm>
        </p:grpSpPr>
        <p:sp>
          <p:nvSpPr>
            <p:cNvPr id="16" name="圆角矩形 4">
              <a:extLst>
                <a:ext uri="{FF2B5EF4-FFF2-40B4-BE49-F238E27FC236}">
                  <a16:creationId xmlns:a16="http://schemas.microsoft.com/office/drawing/2014/main" id="{6341D1C0-9A77-46D9-830C-133CF835B5D1}"/>
                </a:ext>
              </a:extLst>
            </p:cNvPr>
            <p:cNvSpPr/>
            <p:nvPr/>
          </p:nvSpPr>
          <p:spPr>
            <a:xfrm>
              <a:off x="6601643" y="5002874"/>
              <a:ext cx="4104456" cy="504056"/>
            </a:xfrm>
            <a:prstGeom prst="roundRect">
              <a:avLst/>
            </a:prstGeom>
            <a:solidFill>
              <a:schemeClr val="accent3">
                <a:lumMod val="40000"/>
                <a:lumOff val="60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拓展训练</a:t>
              </a:r>
            </a:p>
          </p:txBody>
        </p:sp>
        <p:sp>
          <p:nvSpPr>
            <p:cNvPr id="17" name="圆角矩形 28">
              <a:extLst>
                <a:ext uri="{FF2B5EF4-FFF2-40B4-BE49-F238E27FC236}">
                  <a16:creationId xmlns:a16="http://schemas.microsoft.com/office/drawing/2014/main" id="{A784079C-8BC7-4634-86B9-BEEAD9DF91E8}"/>
                </a:ext>
              </a:extLst>
            </p:cNvPr>
            <p:cNvSpPr/>
            <p:nvPr/>
          </p:nvSpPr>
          <p:spPr>
            <a:xfrm>
              <a:off x="9481963" y="4770357"/>
              <a:ext cx="1008112" cy="484545"/>
            </a:xfrm>
            <a:prstGeom prst="roundRect">
              <a:avLst>
                <a:gd name="adj" fmla="val 9725"/>
              </a:avLst>
            </a:prstGeom>
            <a:solidFill>
              <a:srgbClr val="F7F7ED"/>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en-US" altLang="zh-CN" sz="2000" dirty="0">
                  <a:solidFill>
                    <a:srgbClr val="7030A0"/>
                  </a:solidFill>
                  <a:latin typeface="微软雅黑" panose="020B0503020204020204" pitchFamily="34" charset="-122"/>
                  <a:ea typeface="微软雅黑" panose="020B0503020204020204" pitchFamily="34" charset="-122"/>
                </a:rPr>
                <a:t>4.5</a:t>
              </a:r>
              <a:endParaRPr lang="zh-CN" altLang="en-US" sz="2000" dirty="0">
                <a:solidFill>
                  <a:srgbClr val="7030A0"/>
                </a:solidFill>
                <a:latin typeface="微软雅黑" panose="020B0503020204020204" pitchFamily="34" charset="-122"/>
                <a:ea typeface="微软雅黑" panose="020B0503020204020204" pitchFamily="34" charset="-122"/>
              </a:endParaRPr>
            </a:p>
          </p:txBody>
        </p:sp>
      </p:grpSp>
      <p:grpSp>
        <p:nvGrpSpPr>
          <p:cNvPr id="18" name="组合 17">
            <a:extLst>
              <a:ext uri="{FF2B5EF4-FFF2-40B4-BE49-F238E27FC236}">
                <a16:creationId xmlns:a16="http://schemas.microsoft.com/office/drawing/2014/main" id="{4329979C-A096-42C5-A3D9-A3A8AE1B2414}"/>
              </a:ext>
            </a:extLst>
          </p:cNvPr>
          <p:cNvGrpSpPr/>
          <p:nvPr/>
        </p:nvGrpSpPr>
        <p:grpSpPr>
          <a:xfrm>
            <a:off x="6163384" y="5644755"/>
            <a:ext cx="4104456" cy="736573"/>
            <a:chOff x="6601643" y="4770357"/>
            <a:chExt cx="4104456" cy="736573"/>
          </a:xfrm>
        </p:grpSpPr>
        <p:sp>
          <p:nvSpPr>
            <p:cNvPr id="19" name="圆角矩形 4">
              <a:extLst>
                <a:ext uri="{FF2B5EF4-FFF2-40B4-BE49-F238E27FC236}">
                  <a16:creationId xmlns:a16="http://schemas.microsoft.com/office/drawing/2014/main" id="{F97DDA48-C4B2-4126-B12D-E7135F36874A}"/>
                </a:ext>
              </a:extLst>
            </p:cNvPr>
            <p:cNvSpPr/>
            <p:nvPr/>
          </p:nvSpPr>
          <p:spPr>
            <a:xfrm>
              <a:off x="6601643" y="5002874"/>
              <a:ext cx="4104456" cy="504056"/>
            </a:xfrm>
            <a:prstGeom prst="roundRect">
              <a:avLst/>
            </a:prstGeom>
            <a:solidFill>
              <a:schemeClr val="accent6">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zh-CN" altLang="en-US" sz="2000" dirty="0">
                  <a:solidFill>
                    <a:srgbClr val="7030A0"/>
                  </a:solidFill>
                  <a:latin typeface="微软雅黑" panose="020B0503020204020204" pitchFamily="34" charset="-122"/>
                  <a:ea typeface="微软雅黑" panose="020B0503020204020204" pitchFamily="34" charset="-122"/>
                </a:rPr>
                <a:t>总结提高</a:t>
              </a:r>
            </a:p>
          </p:txBody>
        </p:sp>
        <p:sp>
          <p:nvSpPr>
            <p:cNvPr id="20" name="圆角矩形 28">
              <a:extLst>
                <a:ext uri="{FF2B5EF4-FFF2-40B4-BE49-F238E27FC236}">
                  <a16:creationId xmlns:a16="http://schemas.microsoft.com/office/drawing/2014/main" id="{2769E132-989F-4C78-8EAF-DD10BDCF5A72}"/>
                </a:ext>
              </a:extLst>
            </p:cNvPr>
            <p:cNvSpPr/>
            <p:nvPr/>
          </p:nvSpPr>
          <p:spPr>
            <a:xfrm>
              <a:off x="9481963" y="4770357"/>
              <a:ext cx="1008112" cy="484545"/>
            </a:xfrm>
            <a:prstGeom prst="roundRect">
              <a:avLst>
                <a:gd name="adj" fmla="val 9725"/>
              </a:avLst>
            </a:prstGeom>
            <a:solidFill>
              <a:srgbClr val="F7F7ED"/>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24000"/>
              <a:r>
                <a:rPr lang="en-US" altLang="zh-CN" sz="2000" dirty="0">
                  <a:solidFill>
                    <a:srgbClr val="7030A0"/>
                  </a:solidFill>
                  <a:latin typeface="微软雅黑" panose="020B0503020204020204" pitchFamily="34" charset="-122"/>
                  <a:ea typeface="微软雅黑" panose="020B0503020204020204" pitchFamily="34" charset="-122"/>
                </a:rPr>
                <a:t>4.6</a:t>
              </a:r>
              <a:endParaRPr lang="zh-CN" altLang="en-US" sz="2000" dirty="0">
                <a:solidFill>
                  <a:srgbClr val="7030A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044377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3" decel="10000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2" decel="10000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6" decel="10000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6" decel="10000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6" decel="10000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1+#ppt_w/2"/>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右箭头 3">
            <a:extLst>
              <a:ext uri="{FF2B5EF4-FFF2-40B4-BE49-F238E27FC236}">
                <a16:creationId xmlns:a16="http://schemas.microsoft.com/office/drawing/2014/main" id="{53D596A6-2492-4B35-AE48-3F6B11183D17}"/>
              </a:ext>
            </a:extLst>
          </p:cNvPr>
          <p:cNvSpPr/>
          <p:nvPr/>
        </p:nvSpPr>
        <p:spPr>
          <a:xfrm>
            <a:off x="410581" y="3803859"/>
            <a:ext cx="11271814" cy="246109"/>
          </a:xfrm>
          <a:prstGeom prst="rightArrow">
            <a:avLst>
              <a:gd name="adj1" fmla="val 45974"/>
              <a:gd name="adj2" fmla="val 69815"/>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grpSp>
        <p:nvGrpSpPr>
          <p:cNvPr id="25" name="组合 24">
            <a:extLst>
              <a:ext uri="{FF2B5EF4-FFF2-40B4-BE49-F238E27FC236}">
                <a16:creationId xmlns:a16="http://schemas.microsoft.com/office/drawing/2014/main" id="{B48A97C9-E174-4B19-AC97-89AD76EDD71A}"/>
              </a:ext>
            </a:extLst>
          </p:cNvPr>
          <p:cNvGrpSpPr/>
          <p:nvPr/>
        </p:nvGrpSpPr>
        <p:grpSpPr>
          <a:xfrm>
            <a:off x="659026" y="2568350"/>
            <a:ext cx="3227986" cy="1148682"/>
            <a:chOff x="440811" y="1222445"/>
            <a:chExt cx="3227986" cy="1148682"/>
          </a:xfrm>
        </p:grpSpPr>
        <p:sp>
          <p:nvSpPr>
            <p:cNvPr id="26" name="矩形 25">
              <a:extLst>
                <a:ext uri="{FF2B5EF4-FFF2-40B4-BE49-F238E27FC236}">
                  <a16:creationId xmlns:a16="http://schemas.microsoft.com/office/drawing/2014/main" id="{92D49F5F-5810-4EC8-9402-8DFFAA3E1B7E}"/>
                </a:ext>
              </a:extLst>
            </p:cNvPr>
            <p:cNvSpPr/>
            <p:nvPr/>
          </p:nvSpPr>
          <p:spPr>
            <a:xfrm>
              <a:off x="762319" y="1463414"/>
              <a:ext cx="2906478" cy="907713"/>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7" name="矩形 26">
              <a:extLst>
                <a:ext uri="{FF2B5EF4-FFF2-40B4-BE49-F238E27FC236}">
                  <a16:creationId xmlns:a16="http://schemas.microsoft.com/office/drawing/2014/main" id="{341858AA-0E27-40F1-B7BE-7A470C5AE3F5}"/>
                </a:ext>
              </a:extLst>
            </p:cNvPr>
            <p:cNvSpPr/>
            <p:nvPr/>
          </p:nvSpPr>
          <p:spPr>
            <a:xfrm>
              <a:off x="762320" y="1463414"/>
              <a:ext cx="1440000" cy="180000"/>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椭圆 27">
              <a:extLst>
                <a:ext uri="{FF2B5EF4-FFF2-40B4-BE49-F238E27FC236}">
                  <a16:creationId xmlns:a16="http://schemas.microsoft.com/office/drawing/2014/main" id="{110B6444-E3A7-4664-8B12-8499C61AF315}"/>
                </a:ext>
              </a:extLst>
            </p:cNvPr>
            <p:cNvSpPr/>
            <p:nvPr/>
          </p:nvSpPr>
          <p:spPr>
            <a:xfrm>
              <a:off x="440811" y="1222445"/>
              <a:ext cx="648000" cy="648000"/>
            </a:xfrm>
            <a:prstGeom prst="ellipse">
              <a:avLst/>
            </a:prstGeom>
            <a:solidFill>
              <a:srgbClr val="C00000"/>
            </a:solidFill>
            <a:ln w="38100" cap="flat" cmpd="sng" algn="ctr">
              <a:solidFill>
                <a:srgbClr val="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TextBox 8">
              <a:extLst>
                <a:ext uri="{FF2B5EF4-FFF2-40B4-BE49-F238E27FC236}">
                  <a16:creationId xmlns:a16="http://schemas.microsoft.com/office/drawing/2014/main" id="{BBCFC230-F180-4ED3-B7D9-03FD475E433F}"/>
                </a:ext>
              </a:extLst>
            </p:cNvPr>
            <p:cNvSpPr txBox="1"/>
            <p:nvPr/>
          </p:nvSpPr>
          <p:spPr>
            <a:xfrm>
              <a:off x="567481" y="1284835"/>
              <a:ext cx="394660" cy="523220"/>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1</a:t>
              </a:r>
              <a:endParaRPr kumimoji="0" lang="zh-CN" altLang="en-US"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30" name="矩形 29">
              <a:extLst>
                <a:ext uri="{FF2B5EF4-FFF2-40B4-BE49-F238E27FC236}">
                  <a16:creationId xmlns:a16="http://schemas.microsoft.com/office/drawing/2014/main" id="{66BB1034-03F4-4165-8E78-9DDF31EBAD75}"/>
                </a:ext>
              </a:extLst>
            </p:cNvPr>
            <p:cNvSpPr/>
            <p:nvPr/>
          </p:nvSpPr>
          <p:spPr>
            <a:xfrm>
              <a:off x="922515" y="1699202"/>
              <a:ext cx="2186663" cy="507127"/>
            </a:xfrm>
            <a:prstGeom prst="rect">
              <a:avLst/>
            </a:prstGeom>
          </p:spPr>
          <p:txBody>
            <a:bodyPr wrap="square">
              <a:spAutoFit/>
            </a:bodyPr>
            <a:lstStyle/>
            <a:p>
              <a:pPr marL="0" marR="0" lvl="0" indent="0" algn="ctr" defTabSz="4572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prstClr val="white"/>
                  </a:solidFill>
                  <a:uLnTx/>
                  <a:uFillTx/>
                  <a:latin typeface="微软雅黑" panose="020B0503020204020204" pitchFamily="34" charset="-122"/>
                  <a:ea typeface="微软雅黑" panose="020B0503020204020204" pitchFamily="34" charset="-122"/>
                </a:rPr>
                <a:t>知识目标</a:t>
              </a:r>
            </a:p>
          </p:txBody>
        </p:sp>
      </p:grpSp>
      <p:grpSp>
        <p:nvGrpSpPr>
          <p:cNvPr id="31" name="组合 30">
            <a:extLst>
              <a:ext uri="{FF2B5EF4-FFF2-40B4-BE49-F238E27FC236}">
                <a16:creationId xmlns:a16="http://schemas.microsoft.com/office/drawing/2014/main" id="{3D9101EE-4F11-4764-82BE-CB885CCD2F00}"/>
              </a:ext>
            </a:extLst>
          </p:cNvPr>
          <p:cNvGrpSpPr/>
          <p:nvPr/>
        </p:nvGrpSpPr>
        <p:grpSpPr>
          <a:xfrm>
            <a:off x="8217192" y="2536289"/>
            <a:ext cx="3169698" cy="1180743"/>
            <a:chOff x="5922492" y="1222445"/>
            <a:chExt cx="3169698" cy="1180743"/>
          </a:xfrm>
        </p:grpSpPr>
        <p:sp>
          <p:nvSpPr>
            <p:cNvPr id="32" name="矩形 31">
              <a:extLst>
                <a:ext uri="{FF2B5EF4-FFF2-40B4-BE49-F238E27FC236}">
                  <a16:creationId xmlns:a16="http://schemas.microsoft.com/office/drawing/2014/main" id="{EB42879E-21C9-496E-B8E9-B317E34560FD}"/>
                </a:ext>
              </a:extLst>
            </p:cNvPr>
            <p:cNvSpPr/>
            <p:nvPr/>
          </p:nvSpPr>
          <p:spPr>
            <a:xfrm>
              <a:off x="6244000" y="1463414"/>
              <a:ext cx="2848190" cy="939774"/>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3" name="矩形 32">
              <a:extLst>
                <a:ext uri="{FF2B5EF4-FFF2-40B4-BE49-F238E27FC236}">
                  <a16:creationId xmlns:a16="http://schemas.microsoft.com/office/drawing/2014/main" id="{4DAAC96C-D79D-4D49-8DC3-753AC353622A}"/>
                </a:ext>
              </a:extLst>
            </p:cNvPr>
            <p:cNvSpPr/>
            <p:nvPr/>
          </p:nvSpPr>
          <p:spPr>
            <a:xfrm>
              <a:off x="6244001" y="1463414"/>
              <a:ext cx="1440000" cy="180000"/>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4" name="椭圆 33">
              <a:extLst>
                <a:ext uri="{FF2B5EF4-FFF2-40B4-BE49-F238E27FC236}">
                  <a16:creationId xmlns:a16="http://schemas.microsoft.com/office/drawing/2014/main" id="{37724A4C-D3F9-406A-8B08-7D56C7E195F0}"/>
                </a:ext>
              </a:extLst>
            </p:cNvPr>
            <p:cNvSpPr/>
            <p:nvPr/>
          </p:nvSpPr>
          <p:spPr>
            <a:xfrm>
              <a:off x="5922492" y="1222445"/>
              <a:ext cx="648000" cy="648000"/>
            </a:xfrm>
            <a:prstGeom prst="ellipse">
              <a:avLst/>
            </a:prstGeom>
            <a:solidFill>
              <a:srgbClr val="C00000"/>
            </a:solidFill>
            <a:ln w="38100" cap="flat" cmpd="sng" algn="ctr">
              <a:solidFill>
                <a:srgbClr val="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5" name="TextBox 139">
              <a:extLst>
                <a:ext uri="{FF2B5EF4-FFF2-40B4-BE49-F238E27FC236}">
                  <a16:creationId xmlns:a16="http://schemas.microsoft.com/office/drawing/2014/main" id="{71A9C878-50B5-460F-A07E-6BFE50B65CB2}"/>
                </a:ext>
              </a:extLst>
            </p:cNvPr>
            <p:cNvSpPr txBox="1"/>
            <p:nvPr/>
          </p:nvSpPr>
          <p:spPr>
            <a:xfrm>
              <a:off x="6049162" y="1284835"/>
              <a:ext cx="394660" cy="523220"/>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3</a:t>
              </a:r>
              <a:endParaRPr kumimoji="0" lang="zh-CN" altLang="en-US"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36" name="矩形 35">
              <a:extLst>
                <a:ext uri="{FF2B5EF4-FFF2-40B4-BE49-F238E27FC236}">
                  <a16:creationId xmlns:a16="http://schemas.microsoft.com/office/drawing/2014/main" id="{F5C81377-6A99-4DA4-9380-38D7A9B259AD}"/>
                </a:ext>
              </a:extLst>
            </p:cNvPr>
            <p:cNvSpPr/>
            <p:nvPr/>
          </p:nvSpPr>
          <p:spPr>
            <a:xfrm>
              <a:off x="6570492" y="1731262"/>
              <a:ext cx="2027217" cy="507127"/>
            </a:xfrm>
            <a:prstGeom prst="rect">
              <a:avLst/>
            </a:prstGeom>
          </p:spPr>
          <p:txBody>
            <a:bodyPr wrap="square">
              <a:spAutoFit/>
            </a:bodyPr>
            <a:lstStyle/>
            <a:p>
              <a:pPr marL="0" marR="0" lvl="0" indent="0" algn="ctr" defTabSz="4572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素质目标</a:t>
              </a:r>
            </a:p>
          </p:txBody>
        </p:sp>
      </p:grpSp>
      <p:grpSp>
        <p:nvGrpSpPr>
          <p:cNvPr id="37" name="组合 36">
            <a:extLst>
              <a:ext uri="{FF2B5EF4-FFF2-40B4-BE49-F238E27FC236}">
                <a16:creationId xmlns:a16="http://schemas.microsoft.com/office/drawing/2014/main" id="{74CA2A62-C084-4DB6-A11F-F730EFE42D17}"/>
              </a:ext>
            </a:extLst>
          </p:cNvPr>
          <p:cNvGrpSpPr/>
          <p:nvPr/>
        </p:nvGrpSpPr>
        <p:grpSpPr>
          <a:xfrm>
            <a:off x="4505512" y="2550384"/>
            <a:ext cx="3327364" cy="1166648"/>
            <a:chOff x="3181652" y="1222445"/>
            <a:chExt cx="3327364" cy="1166648"/>
          </a:xfrm>
        </p:grpSpPr>
        <p:sp>
          <p:nvSpPr>
            <p:cNvPr id="38" name="矩形 37">
              <a:extLst>
                <a:ext uri="{FF2B5EF4-FFF2-40B4-BE49-F238E27FC236}">
                  <a16:creationId xmlns:a16="http://schemas.microsoft.com/office/drawing/2014/main" id="{159E69AA-0CF3-4387-8EA0-BE20184B5850}"/>
                </a:ext>
              </a:extLst>
            </p:cNvPr>
            <p:cNvSpPr/>
            <p:nvPr/>
          </p:nvSpPr>
          <p:spPr>
            <a:xfrm>
              <a:off x="3503159" y="1463414"/>
              <a:ext cx="3005857" cy="925679"/>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9" name="矩形 38">
              <a:extLst>
                <a:ext uri="{FF2B5EF4-FFF2-40B4-BE49-F238E27FC236}">
                  <a16:creationId xmlns:a16="http://schemas.microsoft.com/office/drawing/2014/main" id="{B3DFC67B-0468-4EB0-840E-E9F004B14AFD}"/>
                </a:ext>
              </a:extLst>
            </p:cNvPr>
            <p:cNvSpPr/>
            <p:nvPr/>
          </p:nvSpPr>
          <p:spPr>
            <a:xfrm>
              <a:off x="3503161" y="1463414"/>
              <a:ext cx="1440000" cy="180000"/>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0" name="椭圆 39">
              <a:extLst>
                <a:ext uri="{FF2B5EF4-FFF2-40B4-BE49-F238E27FC236}">
                  <a16:creationId xmlns:a16="http://schemas.microsoft.com/office/drawing/2014/main" id="{A5A63DE4-0A8A-4F55-8E5C-1458FCB7C91F}"/>
                </a:ext>
              </a:extLst>
            </p:cNvPr>
            <p:cNvSpPr/>
            <p:nvPr/>
          </p:nvSpPr>
          <p:spPr>
            <a:xfrm>
              <a:off x="3181652" y="1222445"/>
              <a:ext cx="648000" cy="648000"/>
            </a:xfrm>
            <a:prstGeom prst="ellipse">
              <a:avLst/>
            </a:prstGeom>
            <a:solidFill>
              <a:srgbClr val="C00000"/>
            </a:solidFill>
            <a:ln w="38100" cap="flat" cmpd="sng" algn="ctr">
              <a:solidFill>
                <a:srgbClr val="FFFFFF"/>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1" name="TextBox 147">
              <a:extLst>
                <a:ext uri="{FF2B5EF4-FFF2-40B4-BE49-F238E27FC236}">
                  <a16:creationId xmlns:a16="http://schemas.microsoft.com/office/drawing/2014/main" id="{B4B2D118-32EA-43B7-822A-601E2FF43D35}"/>
                </a:ext>
              </a:extLst>
            </p:cNvPr>
            <p:cNvSpPr txBox="1"/>
            <p:nvPr/>
          </p:nvSpPr>
          <p:spPr>
            <a:xfrm>
              <a:off x="3308322" y="1284835"/>
              <a:ext cx="394660" cy="523220"/>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2</a:t>
              </a:r>
              <a:endParaRPr kumimoji="0" lang="zh-CN" altLang="en-US" sz="2800" b="0" i="0" u="none" strike="noStrike" kern="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42" name="矩形 41">
              <a:extLst>
                <a:ext uri="{FF2B5EF4-FFF2-40B4-BE49-F238E27FC236}">
                  <a16:creationId xmlns:a16="http://schemas.microsoft.com/office/drawing/2014/main" id="{BF4B734C-1232-45A6-A683-8EC3E734C4B8}"/>
                </a:ext>
              </a:extLst>
            </p:cNvPr>
            <p:cNvSpPr/>
            <p:nvPr/>
          </p:nvSpPr>
          <p:spPr>
            <a:xfrm>
              <a:off x="3953704" y="1717168"/>
              <a:ext cx="1914473" cy="507127"/>
            </a:xfrm>
            <a:prstGeom prst="rect">
              <a:avLst/>
            </a:prstGeom>
          </p:spPr>
          <p:txBody>
            <a:bodyPr wrap="square">
              <a:spAutoFit/>
            </a:bodyPr>
            <a:lstStyle/>
            <a:p>
              <a:pPr marL="0" marR="0" lvl="0" indent="0" algn="ctr" defTabSz="457200" eaLnBrk="1" fontAlgn="auto" latinLnBrk="0" hangingPunct="1">
                <a:lnSpc>
                  <a:spcPct val="15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技能目标</a:t>
              </a:r>
            </a:p>
          </p:txBody>
        </p:sp>
      </p:grpSp>
      <p:sp>
        <p:nvSpPr>
          <p:cNvPr id="43" name="TextBox 36">
            <a:extLst>
              <a:ext uri="{FF2B5EF4-FFF2-40B4-BE49-F238E27FC236}">
                <a16:creationId xmlns:a16="http://schemas.microsoft.com/office/drawing/2014/main" id="{6714013F-2112-4E06-8A1C-DC0AF1B075C6}"/>
              </a:ext>
            </a:extLst>
          </p:cNvPr>
          <p:cNvSpPr txBox="1"/>
          <p:nvPr/>
        </p:nvSpPr>
        <p:spPr>
          <a:xfrm>
            <a:off x="980534" y="4173227"/>
            <a:ext cx="2906478" cy="2516073"/>
          </a:xfrm>
          <a:prstGeom prst="rect">
            <a:avLst/>
          </a:prstGeom>
          <a:noFill/>
          <a:ln>
            <a:solidFill>
              <a:schemeClr val="bg1"/>
            </a:solidFill>
            <a:prstDash val="dash"/>
          </a:ln>
        </p:spPr>
        <p:txBody>
          <a:bodyPr wrap="square" lIns="0" rtlCol="0">
            <a:spAutoFit/>
          </a:bodyPr>
          <a:lstStyle/>
          <a:p>
            <a:pPr marL="285750" indent="-285750" defTabSz="457200">
              <a:lnSpc>
                <a:spcPct val="125000"/>
              </a:lnSpc>
              <a:buClr>
                <a:srgbClr val="C00000"/>
              </a:buClr>
              <a:buFont typeface="Wingdings" panose="05000000000000000000" pitchFamily="2" charset="2"/>
              <a:buChar char="u"/>
            </a:pPr>
            <a:r>
              <a:rPr lang="zh-CN" altLang="en-US" sz="1400" b="1" dirty="0">
                <a:solidFill>
                  <a:prstClr val="black"/>
                </a:solidFill>
                <a:ea typeface="等线" panose="02010600030101010101" pitchFamily="2" charset="-122"/>
              </a:rPr>
              <a:t>了解</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的基本概念、种类，</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中的变量</a:t>
            </a:r>
          </a:p>
          <a:p>
            <a:pPr marL="285750" indent="-285750" defTabSz="457200">
              <a:lnSpc>
                <a:spcPct val="125000"/>
              </a:lnSpc>
              <a:buClr>
                <a:srgbClr val="C00000"/>
              </a:buClr>
              <a:buFont typeface="Wingdings" panose="05000000000000000000" pitchFamily="2" charset="2"/>
              <a:buChar char="u"/>
            </a:pPr>
            <a:r>
              <a:rPr lang="zh-CN" altLang="en-US" sz="1400" b="1" dirty="0">
                <a:solidFill>
                  <a:prstClr val="black"/>
                </a:solidFill>
                <a:ea typeface="等线" panose="02010600030101010101" pitchFamily="2" charset="-122"/>
              </a:rPr>
              <a:t>了解</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变量表达式</a:t>
            </a:r>
          </a:p>
          <a:p>
            <a:pPr marL="285750" indent="-285750" defTabSz="457200">
              <a:lnSpc>
                <a:spcPct val="125000"/>
              </a:lnSpc>
              <a:buClr>
                <a:srgbClr val="C00000"/>
              </a:buClr>
              <a:buFont typeface="Wingdings" panose="05000000000000000000" pitchFamily="2" charset="2"/>
              <a:buChar char="u"/>
            </a:pPr>
            <a:r>
              <a:rPr lang="zh-CN" altLang="en-US" sz="1400" b="1" dirty="0">
                <a:solidFill>
                  <a:prstClr val="black"/>
                </a:solidFill>
                <a:ea typeface="等线" panose="02010600030101010101" pitchFamily="2" charset="-122"/>
              </a:rPr>
              <a:t>了解</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的输入输出</a:t>
            </a:r>
          </a:p>
          <a:p>
            <a:pPr marL="285750" indent="-285750" defTabSz="457200">
              <a:lnSpc>
                <a:spcPct val="125000"/>
              </a:lnSpc>
              <a:buClr>
                <a:srgbClr val="C00000"/>
              </a:buClr>
              <a:buFont typeface="Wingdings" panose="05000000000000000000" pitchFamily="2" charset="2"/>
              <a:buChar char="u"/>
            </a:pPr>
            <a:r>
              <a:rPr lang="zh-CN" altLang="en-US" sz="1400" b="1" dirty="0">
                <a:solidFill>
                  <a:prstClr val="black"/>
                </a:solidFill>
                <a:ea typeface="等线" panose="02010600030101010101" pitchFamily="2" charset="-122"/>
              </a:rPr>
              <a:t>掌握</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脚本的编写方法</a:t>
            </a:r>
          </a:p>
          <a:p>
            <a:pPr marL="285750" indent="-285750" defTabSz="457200">
              <a:lnSpc>
                <a:spcPct val="125000"/>
              </a:lnSpc>
              <a:buClr>
                <a:srgbClr val="C00000"/>
              </a:buClr>
              <a:buFont typeface="Wingdings" panose="05000000000000000000" pitchFamily="2" charset="2"/>
              <a:buChar char="u"/>
            </a:pPr>
            <a:r>
              <a:rPr lang="zh-CN" altLang="en-US" sz="1400" b="1" dirty="0">
                <a:solidFill>
                  <a:prstClr val="black"/>
                </a:solidFill>
                <a:ea typeface="等线" panose="02010600030101010101" pitchFamily="2" charset="-122"/>
              </a:rPr>
              <a:t>掌握</a:t>
            </a:r>
            <a:r>
              <a:rPr lang="en-US" altLang="zh-CN" sz="1400" b="1" dirty="0">
                <a:solidFill>
                  <a:prstClr val="black"/>
                </a:solidFill>
                <a:ea typeface="等线" panose="02010600030101010101" pitchFamily="2" charset="-122"/>
              </a:rPr>
              <a:t>Shell</a:t>
            </a:r>
            <a:r>
              <a:rPr lang="zh-CN" altLang="en-US" sz="1400" b="1" dirty="0">
                <a:solidFill>
                  <a:prstClr val="black"/>
                </a:solidFill>
                <a:ea typeface="等线" panose="02010600030101010101" pitchFamily="2" charset="-122"/>
              </a:rPr>
              <a:t>脚本的执行方法</a:t>
            </a:r>
          </a:p>
          <a:p>
            <a:pPr indent="252000" defTabSz="457200">
              <a:lnSpc>
                <a:spcPct val="125000"/>
              </a:lnSpc>
            </a:pPr>
            <a:endParaRPr lang="en-US" altLang="zh-CN" sz="1400" b="1" dirty="0">
              <a:solidFill>
                <a:prstClr val="black"/>
              </a:solidFill>
              <a:ea typeface="等线" panose="02010600030101010101" pitchFamily="2" charset="-122"/>
            </a:endParaRPr>
          </a:p>
          <a:p>
            <a:pPr indent="252000" defTabSz="457200">
              <a:lnSpc>
                <a:spcPct val="125000"/>
              </a:lnSpc>
            </a:pPr>
            <a:endParaRPr lang="zh-CN" altLang="en-US" sz="1400" b="1" dirty="0">
              <a:solidFill>
                <a:prstClr val="black"/>
              </a:solidFill>
              <a:ea typeface="等线" panose="02010600030101010101" pitchFamily="2" charset="-122"/>
            </a:endParaRPr>
          </a:p>
          <a:p>
            <a:pPr defTabSz="457200">
              <a:lnSpc>
                <a:spcPct val="125000"/>
              </a:lnSpc>
            </a:pPr>
            <a:endParaRPr lang="zh-CN" altLang="en-US" sz="1400" b="1" dirty="0">
              <a:solidFill>
                <a:prstClr val="black"/>
              </a:solidFill>
              <a:ea typeface="等线" panose="02010600030101010101" pitchFamily="2" charset="-122"/>
            </a:endParaRPr>
          </a:p>
        </p:txBody>
      </p:sp>
      <p:sp>
        <p:nvSpPr>
          <p:cNvPr id="44" name="TextBox 36">
            <a:extLst>
              <a:ext uri="{FF2B5EF4-FFF2-40B4-BE49-F238E27FC236}">
                <a16:creationId xmlns:a16="http://schemas.microsoft.com/office/drawing/2014/main" id="{33AD3F71-F59A-4244-8594-75D026C6972E}"/>
              </a:ext>
            </a:extLst>
          </p:cNvPr>
          <p:cNvSpPr txBox="1"/>
          <p:nvPr/>
        </p:nvSpPr>
        <p:spPr>
          <a:xfrm>
            <a:off x="4827019" y="4164701"/>
            <a:ext cx="3005857" cy="2226828"/>
          </a:xfrm>
          <a:prstGeom prst="rect">
            <a:avLst/>
          </a:prstGeom>
          <a:noFill/>
          <a:ln>
            <a:noFill/>
            <a:prstDash val="dash"/>
          </a:ln>
        </p:spPr>
        <p:txBody>
          <a:bodyPr wrap="square" lIns="0" rtlCol="0">
            <a:spAutoFit/>
          </a:bodyPr>
          <a:lstStyle>
            <a:defPPr>
              <a:defRPr lang="zh-CN"/>
            </a:defPPr>
            <a:lvl1pPr marL="342900" indent="-342900" defTabSz="457200">
              <a:lnSpc>
                <a:spcPct val="125000"/>
              </a:lnSpc>
              <a:buFont typeface="+mj-ea"/>
              <a:buAutoNum type="circleNumDbPlain"/>
              <a:defRPr sz="1400" b="1">
                <a:solidFill>
                  <a:prstClr val="black"/>
                </a:solidFill>
                <a:ea typeface="等线" panose="02010600030101010101" pitchFamily="2" charset="-122"/>
              </a:defRPr>
            </a:lvl1pPr>
          </a:lstStyle>
          <a:p>
            <a:pPr marL="285750" indent="-285750">
              <a:buClr>
                <a:srgbClr val="C00000"/>
              </a:buClr>
              <a:buFont typeface="Wingdings" panose="05000000000000000000" pitchFamily="2" charset="2"/>
              <a:buChar char="u"/>
            </a:pPr>
            <a:r>
              <a:rPr lang="zh-CN" altLang="en-US" dirty="0"/>
              <a:t>熟悉</a:t>
            </a:r>
            <a:r>
              <a:rPr lang="en-US" altLang="zh-CN" dirty="0"/>
              <a:t>Shell</a:t>
            </a:r>
            <a:r>
              <a:rPr lang="zh-CN" altLang="en-US" dirty="0"/>
              <a:t>的基本语法结构</a:t>
            </a:r>
          </a:p>
          <a:p>
            <a:pPr marL="285750" indent="-285750">
              <a:buClr>
                <a:srgbClr val="C00000"/>
              </a:buClr>
              <a:buFont typeface="Wingdings" panose="05000000000000000000" pitchFamily="2" charset="2"/>
              <a:buChar char="u"/>
            </a:pPr>
            <a:r>
              <a:rPr lang="zh-CN" altLang="en-US" dirty="0"/>
              <a:t>能编写简单的</a:t>
            </a:r>
            <a:r>
              <a:rPr lang="en-US" altLang="zh-CN" dirty="0"/>
              <a:t>Shell</a:t>
            </a:r>
            <a:r>
              <a:rPr lang="zh-CN" altLang="en-US" dirty="0"/>
              <a:t>程序</a:t>
            </a:r>
          </a:p>
          <a:p>
            <a:pPr marL="285750" indent="-285750">
              <a:buClr>
                <a:srgbClr val="C00000"/>
              </a:buClr>
              <a:buFont typeface="Wingdings" panose="05000000000000000000" pitchFamily="2" charset="2"/>
              <a:buChar char="u"/>
            </a:pPr>
            <a:r>
              <a:rPr lang="zh-CN" altLang="en-US" dirty="0"/>
              <a:t>会在</a:t>
            </a:r>
            <a:r>
              <a:rPr lang="en-US" altLang="zh-CN" dirty="0"/>
              <a:t>Shell</a:t>
            </a:r>
            <a:r>
              <a:rPr lang="zh-CN" altLang="en-US" dirty="0"/>
              <a:t>中使用参数进行编程</a:t>
            </a:r>
          </a:p>
          <a:p>
            <a:pPr marL="285750" indent="-285750">
              <a:buClr>
                <a:srgbClr val="C00000"/>
              </a:buClr>
              <a:buFont typeface="Wingdings" panose="05000000000000000000" pitchFamily="2" charset="2"/>
              <a:buChar char="u"/>
            </a:pPr>
            <a:r>
              <a:rPr lang="zh-CN" altLang="en-US" dirty="0"/>
              <a:t>会使用表达式进行</a:t>
            </a:r>
            <a:r>
              <a:rPr lang="en-US" altLang="zh-CN" dirty="0"/>
              <a:t>Shell</a:t>
            </a:r>
            <a:r>
              <a:rPr lang="zh-CN" altLang="en-US" dirty="0"/>
              <a:t>编程</a:t>
            </a:r>
          </a:p>
          <a:p>
            <a:pPr marL="285750" indent="-285750">
              <a:buClr>
                <a:srgbClr val="C00000"/>
              </a:buClr>
              <a:buFont typeface="Wingdings" panose="05000000000000000000" pitchFamily="2" charset="2"/>
              <a:buChar char="u"/>
            </a:pPr>
            <a:r>
              <a:rPr lang="zh-CN" altLang="en-US" dirty="0"/>
              <a:t>会使用循环语句进行</a:t>
            </a:r>
            <a:r>
              <a:rPr lang="en-US" altLang="zh-CN" dirty="0"/>
              <a:t>Shell</a:t>
            </a:r>
            <a:r>
              <a:rPr lang="zh-CN" altLang="en-US" dirty="0"/>
              <a:t>编程</a:t>
            </a:r>
          </a:p>
          <a:p>
            <a:pPr marL="285750" indent="-285750">
              <a:buClr>
                <a:srgbClr val="C00000"/>
              </a:buClr>
              <a:buFont typeface="Wingdings" panose="05000000000000000000" pitchFamily="2" charset="2"/>
              <a:buChar char="u"/>
            </a:pPr>
            <a:r>
              <a:rPr lang="zh-CN" altLang="en-US" dirty="0"/>
              <a:t>会使用条件语句进行</a:t>
            </a:r>
            <a:r>
              <a:rPr lang="en-US" altLang="zh-CN" dirty="0"/>
              <a:t>Shell</a:t>
            </a:r>
            <a:r>
              <a:rPr lang="zh-CN" altLang="en-US" dirty="0"/>
              <a:t>编程</a:t>
            </a:r>
          </a:p>
          <a:p>
            <a:pPr marL="0" indent="252000">
              <a:buClr>
                <a:srgbClr val="C00000"/>
              </a:buClr>
              <a:buNone/>
            </a:pPr>
            <a:endParaRPr lang="zh-CN" altLang="en-US" dirty="0"/>
          </a:p>
          <a:p>
            <a:pPr marL="0" indent="0">
              <a:buClr>
                <a:srgbClr val="C00000"/>
              </a:buClr>
              <a:buNone/>
            </a:pPr>
            <a:endParaRPr lang="zh-CN" altLang="en-US" dirty="0"/>
          </a:p>
        </p:txBody>
      </p:sp>
      <p:sp>
        <p:nvSpPr>
          <p:cNvPr id="45" name="TextBox 36">
            <a:extLst>
              <a:ext uri="{FF2B5EF4-FFF2-40B4-BE49-F238E27FC236}">
                <a16:creationId xmlns:a16="http://schemas.microsoft.com/office/drawing/2014/main" id="{914E2480-EF4F-45EC-9E40-37DCCD9E6751}"/>
              </a:ext>
            </a:extLst>
          </p:cNvPr>
          <p:cNvSpPr txBox="1"/>
          <p:nvPr/>
        </p:nvSpPr>
        <p:spPr>
          <a:xfrm>
            <a:off x="8549323" y="4131629"/>
            <a:ext cx="2837567" cy="2227276"/>
          </a:xfrm>
          <a:prstGeom prst="rect">
            <a:avLst/>
          </a:prstGeom>
          <a:noFill/>
          <a:ln>
            <a:noFill/>
            <a:prstDash val="dash"/>
          </a:ln>
        </p:spPr>
        <p:txBody>
          <a:bodyPr wrap="square" lIns="0" rtlCol="0">
            <a:spAutoFit/>
          </a:bodyPr>
          <a:lstStyle>
            <a:defPPr>
              <a:defRPr lang="zh-CN"/>
            </a:defPPr>
            <a:lvl1pPr marL="342900" indent="-342900" defTabSz="457200">
              <a:lnSpc>
                <a:spcPct val="125000"/>
              </a:lnSpc>
              <a:buFont typeface="+mj-ea"/>
              <a:buAutoNum type="circleNumDbPlain"/>
              <a:defRPr sz="1400" b="1">
                <a:solidFill>
                  <a:prstClr val="black"/>
                </a:solidFill>
                <a:ea typeface="等线" panose="02010600030101010101" pitchFamily="2" charset="-122"/>
              </a:defRPr>
            </a:lvl1pPr>
          </a:lstStyle>
          <a:p>
            <a:pPr marL="285750" indent="-285750">
              <a:buClr>
                <a:srgbClr val="C00000"/>
              </a:buClr>
              <a:buFont typeface="Wingdings" panose="05000000000000000000" pitchFamily="2" charset="2"/>
              <a:buChar char="u"/>
            </a:pPr>
            <a:r>
              <a:rPr lang="zh-CN" altLang="en-US" dirty="0"/>
              <a:t>养认真细致的工作态度和工作作风</a:t>
            </a:r>
          </a:p>
          <a:p>
            <a:pPr marL="285750" indent="-285750">
              <a:buClr>
                <a:srgbClr val="C00000"/>
              </a:buClr>
              <a:buFont typeface="Wingdings" panose="05000000000000000000" pitchFamily="2" charset="2"/>
              <a:buChar char="u"/>
            </a:pPr>
            <a:r>
              <a:rPr lang="zh-CN" altLang="en-US" dirty="0"/>
              <a:t>养成刻苦、勤奋、好问、独立思考和细心检查的学习习惯</a:t>
            </a:r>
          </a:p>
          <a:p>
            <a:pPr marL="285750" indent="-285750">
              <a:buClr>
                <a:srgbClr val="C00000"/>
              </a:buClr>
              <a:buFont typeface="Wingdings" panose="05000000000000000000" pitchFamily="2" charset="2"/>
              <a:buChar char="u"/>
            </a:pPr>
            <a:r>
              <a:rPr lang="zh-CN" altLang="en-US" dirty="0"/>
              <a:t>能与组员精诚合作，能正确面对他人的成功或失败</a:t>
            </a:r>
          </a:p>
          <a:p>
            <a:pPr marL="285750" indent="-285750">
              <a:buClr>
                <a:srgbClr val="C00000"/>
              </a:buClr>
              <a:buFont typeface="Wingdings" panose="05000000000000000000" pitchFamily="2" charset="2"/>
              <a:buChar char="u"/>
            </a:pPr>
            <a:r>
              <a:rPr lang="zh-CN" altLang="en-US" dirty="0"/>
              <a:t>具有一定的自学能力，分析问题、解决问题能力和创新能力</a:t>
            </a:r>
          </a:p>
        </p:txBody>
      </p:sp>
      <p:sp>
        <p:nvSpPr>
          <p:cNvPr id="48" name="矩形 47">
            <a:extLst>
              <a:ext uri="{FF2B5EF4-FFF2-40B4-BE49-F238E27FC236}">
                <a16:creationId xmlns:a16="http://schemas.microsoft.com/office/drawing/2014/main" id="{41181159-6A97-48F9-AF67-0AAA4B299FB3}"/>
              </a:ext>
            </a:extLst>
          </p:cNvPr>
          <p:cNvSpPr/>
          <p:nvPr/>
        </p:nvSpPr>
        <p:spPr>
          <a:xfrm>
            <a:off x="958580" y="1273044"/>
            <a:ext cx="10552440" cy="1200329"/>
          </a:xfrm>
          <a:prstGeom prst="rect">
            <a:avLst/>
          </a:prstGeom>
        </p:spPr>
        <p:txBody>
          <a:bodyPr wrap="square">
            <a:spAutoFit/>
          </a:bodyPr>
          <a:lstStyle/>
          <a:p>
            <a:pPr indent="288000">
              <a:lnSpc>
                <a:spcPct val="150000"/>
              </a:lnSpc>
            </a:pPr>
            <a:r>
              <a:rPr lang="zh-CN" altLang="en-US" sz="1600" dirty="0">
                <a:latin typeface="微软雅黑" panose="020B0503020204020204" pitchFamily="34" charset="-122"/>
                <a:ea typeface="微软雅黑" panose="020B0503020204020204" pitchFamily="34" charset="-122"/>
              </a:rPr>
              <a:t>本项目详细介绍了</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编程的一些基本知识、</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的种类、</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中的变量、变量表达式、</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的输入输出以及</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的基本语法结构。通过任务案例引导大家学习</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编程的方法和技巧；具体训练大家进行简单的</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编程、在</a:t>
            </a:r>
            <a:r>
              <a:rPr lang="en-US" altLang="zh-CN" sz="1600" dirty="0">
                <a:latin typeface="微软雅黑" panose="020B0503020204020204" pitchFamily="34" charset="-122"/>
                <a:ea typeface="微软雅黑" panose="020B0503020204020204" pitchFamily="34" charset="-122"/>
              </a:rPr>
              <a:t>Shell</a:t>
            </a:r>
            <a:r>
              <a:rPr lang="zh-CN" altLang="en-US" sz="1600" dirty="0">
                <a:latin typeface="微软雅黑" panose="020B0503020204020204" pitchFamily="34" charset="-122"/>
                <a:ea typeface="微软雅黑" panose="020B0503020204020204" pitchFamily="34" charset="-122"/>
              </a:rPr>
              <a:t>中使用参数进行编程、使用表达式进行编程、使用循环语句进行编程和使用条件语句进行编程的能力。</a:t>
            </a:r>
          </a:p>
        </p:txBody>
      </p:sp>
      <p:sp>
        <p:nvSpPr>
          <p:cNvPr id="49" name="矩形 48">
            <a:extLst>
              <a:ext uri="{FF2B5EF4-FFF2-40B4-BE49-F238E27FC236}">
                <a16:creationId xmlns:a16="http://schemas.microsoft.com/office/drawing/2014/main" id="{D6EDDCE3-565E-4400-8F18-EA886C7930A5}"/>
              </a:ext>
            </a:extLst>
          </p:cNvPr>
          <p:cNvSpPr/>
          <p:nvPr/>
        </p:nvSpPr>
        <p:spPr>
          <a:xfrm>
            <a:off x="973614" y="324454"/>
            <a:ext cx="6096000" cy="523220"/>
          </a:xfrm>
          <a:prstGeom prst="rect">
            <a:avLst/>
          </a:prstGeom>
        </p:spPr>
        <p:txBody>
          <a:bodyPr>
            <a:spAutoFit/>
          </a:bodyPr>
          <a:lstStyle/>
          <a:p>
            <a:r>
              <a:rPr lang="zh-CN" altLang="en-US" sz="2800" b="1" dirty="0">
                <a:solidFill>
                  <a:schemeClr val="tx1">
                    <a:lumMod val="65000"/>
                    <a:lumOff val="3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学习目标</a:t>
            </a:r>
          </a:p>
        </p:txBody>
      </p:sp>
    </p:spTree>
    <p:extLst>
      <p:ext uri="{BB962C8B-B14F-4D97-AF65-F5344CB8AC3E}">
        <p14:creationId xmlns:p14="http://schemas.microsoft.com/office/powerpoint/2010/main" val="3473779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2" presetClass="entr" presetSubtype="2"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additive="base">
                                        <p:cTn id="10" dur="3000" fill="hold"/>
                                        <p:tgtEl>
                                          <p:spTgt spid="25"/>
                                        </p:tgtEl>
                                        <p:attrNameLst>
                                          <p:attrName>ppt_x</p:attrName>
                                        </p:attrNameLst>
                                      </p:cBhvr>
                                      <p:tavLst>
                                        <p:tav tm="0">
                                          <p:val>
                                            <p:strVal val="1+#ppt_w/2"/>
                                          </p:val>
                                        </p:tav>
                                        <p:tav tm="100000">
                                          <p:val>
                                            <p:strVal val="#ppt_x"/>
                                          </p:val>
                                        </p:tav>
                                      </p:tavLst>
                                    </p:anim>
                                    <p:anim calcmode="lin" valueType="num">
                                      <p:cBhvr additive="base">
                                        <p:cTn id="11" dur="3000" fill="hold"/>
                                        <p:tgtEl>
                                          <p:spTgt spid="25"/>
                                        </p:tgtEl>
                                        <p:attrNameLst>
                                          <p:attrName>ppt_y</p:attrName>
                                        </p:attrNameLst>
                                      </p:cBhvr>
                                      <p:tavLst>
                                        <p:tav tm="0">
                                          <p:val>
                                            <p:strVal val="#ppt_y"/>
                                          </p:val>
                                        </p:tav>
                                        <p:tav tm="100000">
                                          <p:val>
                                            <p:strVal val="#ppt_y"/>
                                          </p:val>
                                        </p:tav>
                                      </p:tavLst>
                                    </p:anim>
                                  </p:childTnLst>
                                </p:cTn>
                              </p:par>
                            </p:childTnLst>
                          </p:cTn>
                        </p:par>
                        <p:par>
                          <p:cTn id="12" fill="hold">
                            <p:stCondLst>
                              <p:cond delay="3000"/>
                            </p:stCondLst>
                            <p:childTnLst>
                              <p:par>
                                <p:cTn id="13" presetID="47" presetClass="entr" presetSubtype="0"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anim calcmode="lin" valueType="num">
                                      <p:cBhvr>
                                        <p:cTn id="16" dur="500" fill="hold"/>
                                        <p:tgtEl>
                                          <p:spTgt spid="43"/>
                                        </p:tgtEl>
                                        <p:attrNameLst>
                                          <p:attrName>ppt_x</p:attrName>
                                        </p:attrNameLst>
                                      </p:cBhvr>
                                      <p:tavLst>
                                        <p:tav tm="0">
                                          <p:val>
                                            <p:strVal val="#ppt_x"/>
                                          </p:val>
                                        </p:tav>
                                        <p:tav tm="100000">
                                          <p:val>
                                            <p:strVal val="#ppt_x"/>
                                          </p:val>
                                        </p:tav>
                                      </p:tavLst>
                                    </p:anim>
                                    <p:anim calcmode="lin" valueType="num">
                                      <p:cBhvr>
                                        <p:cTn id="17"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additive="base">
                                        <p:cTn id="22" dur="3000" fill="hold"/>
                                        <p:tgtEl>
                                          <p:spTgt spid="37"/>
                                        </p:tgtEl>
                                        <p:attrNameLst>
                                          <p:attrName>ppt_x</p:attrName>
                                        </p:attrNameLst>
                                      </p:cBhvr>
                                      <p:tavLst>
                                        <p:tav tm="0">
                                          <p:val>
                                            <p:strVal val="1+#ppt_w/2"/>
                                          </p:val>
                                        </p:tav>
                                        <p:tav tm="100000">
                                          <p:val>
                                            <p:strVal val="#ppt_x"/>
                                          </p:val>
                                        </p:tav>
                                      </p:tavLst>
                                    </p:anim>
                                    <p:anim calcmode="lin" valueType="num">
                                      <p:cBhvr additive="base">
                                        <p:cTn id="23" dur="3000" fill="hold"/>
                                        <p:tgtEl>
                                          <p:spTgt spid="37"/>
                                        </p:tgtEl>
                                        <p:attrNameLst>
                                          <p:attrName>ppt_y</p:attrName>
                                        </p:attrNameLst>
                                      </p:cBhvr>
                                      <p:tavLst>
                                        <p:tav tm="0">
                                          <p:val>
                                            <p:strVal val="#ppt_y"/>
                                          </p:val>
                                        </p:tav>
                                        <p:tav tm="100000">
                                          <p:val>
                                            <p:strVal val="#ppt_y"/>
                                          </p:val>
                                        </p:tav>
                                      </p:tavLst>
                                    </p:anim>
                                  </p:childTnLst>
                                </p:cTn>
                              </p:par>
                            </p:childTnLst>
                          </p:cTn>
                        </p:par>
                        <p:par>
                          <p:cTn id="24" fill="hold">
                            <p:stCondLst>
                              <p:cond delay="3000"/>
                            </p:stCondLst>
                            <p:childTnLst>
                              <p:par>
                                <p:cTn id="25" presetID="47" presetClass="entr" presetSubtype="0"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anim calcmode="lin" valueType="num">
                                      <p:cBhvr>
                                        <p:cTn id="28" dur="500" fill="hold"/>
                                        <p:tgtEl>
                                          <p:spTgt spid="44"/>
                                        </p:tgtEl>
                                        <p:attrNameLst>
                                          <p:attrName>ppt_x</p:attrName>
                                        </p:attrNameLst>
                                      </p:cBhvr>
                                      <p:tavLst>
                                        <p:tav tm="0">
                                          <p:val>
                                            <p:strVal val="#ppt_x"/>
                                          </p:val>
                                        </p:tav>
                                        <p:tav tm="100000">
                                          <p:val>
                                            <p:strVal val="#ppt_x"/>
                                          </p:val>
                                        </p:tav>
                                      </p:tavLst>
                                    </p:anim>
                                    <p:anim calcmode="lin" valueType="num">
                                      <p:cBhvr>
                                        <p:cTn id="29"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3000" fill="hold"/>
                                        <p:tgtEl>
                                          <p:spTgt spid="31"/>
                                        </p:tgtEl>
                                        <p:attrNameLst>
                                          <p:attrName>ppt_x</p:attrName>
                                        </p:attrNameLst>
                                      </p:cBhvr>
                                      <p:tavLst>
                                        <p:tav tm="0">
                                          <p:val>
                                            <p:strVal val="1+#ppt_w/2"/>
                                          </p:val>
                                        </p:tav>
                                        <p:tav tm="100000">
                                          <p:val>
                                            <p:strVal val="#ppt_x"/>
                                          </p:val>
                                        </p:tav>
                                      </p:tavLst>
                                    </p:anim>
                                    <p:anim calcmode="lin" valueType="num">
                                      <p:cBhvr additive="base">
                                        <p:cTn id="35" dur="3000" fill="hold"/>
                                        <p:tgtEl>
                                          <p:spTgt spid="31"/>
                                        </p:tgtEl>
                                        <p:attrNameLst>
                                          <p:attrName>ppt_y</p:attrName>
                                        </p:attrNameLst>
                                      </p:cBhvr>
                                      <p:tavLst>
                                        <p:tav tm="0">
                                          <p:val>
                                            <p:strVal val="#ppt_y"/>
                                          </p:val>
                                        </p:tav>
                                        <p:tav tm="100000">
                                          <p:val>
                                            <p:strVal val="#ppt_y"/>
                                          </p:val>
                                        </p:tav>
                                      </p:tavLst>
                                    </p:anim>
                                  </p:childTnLst>
                                </p:cTn>
                              </p:par>
                            </p:childTnLst>
                          </p:cTn>
                        </p:par>
                        <p:par>
                          <p:cTn id="36" fill="hold">
                            <p:stCondLst>
                              <p:cond delay="3000"/>
                            </p:stCondLst>
                            <p:childTnLst>
                              <p:par>
                                <p:cTn id="37" presetID="47" presetClass="entr" presetSubtype="0" fill="hold" grpId="0" nodeType="after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anim calcmode="lin" valueType="num">
                                      <p:cBhvr>
                                        <p:cTn id="40" dur="500" fill="hold"/>
                                        <p:tgtEl>
                                          <p:spTgt spid="45"/>
                                        </p:tgtEl>
                                        <p:attrNameLst>
                                          <p:attrName>ppt_x</p:attrName>
                                        </p:attrNameLst>
                                      </p:cBhvr>
                                      <p:tavLst>
                                        <p:tav tm="0">
                                          <p:val>
                                            <p:strVal val="#ppt_x"/>
                                          </p:val>
                                        </p:tav>
                                        <p:tav tm="100000">
                                          <p:val>
                                            <p:strVal val="#ppt_x"/>
                                          </p:val>
                                        </p:tav>
                                      </p:tavLst>
                                    </p:anim>
                                    <p:anim calcmode="lin" valueType="num">
                                      <p:cBhvr>
                                        <p:cTn id="4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3" grpId="0" animBg="1"/>
      <p:bldP spid="44" grpId="0" animBg="1"/>
      <p:bldP spid="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560"/>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4.1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任务描述</a:t>
            </a:r>
          </a:p>
        </p:txBody>
      </p:sp>
      <p:sp>
        <p:nvSpPr>
          <p:cNvPr id="18" name="矩形 3"/>
          <p:cNvSpPr>
            <a:spLocks noChangeArrowheads="1"/>
          </p:cNvSpPr>
          <p:nvPr/>
        </p:nvSpPr>
        <p:spPr bwMode="auto">
          <a:xfrm>
            <a:off x="6676326" y="1903925"/>
            <a:ext cx="4892282" cy="3904146"/>
          </a:xfrm>
          <a:prstGeom prst="rect">
            <a:avLst/>
          </a:prstGeom>
          <a:noFill/>
          <a:ln w="9525">
            <a:solidFill>
              <a:schemeClr val="tx1"/>
            </a:solidFill>
            <a:prstDash val="dashDot"/>
            <a:miter lim="800000"/>
            <a:headEnd/>
            <a:tailEnd/>
          </a:ln>
        </p:spPr>
        <p:txBody>
          <a:bodyPr wrap="square">
            <a:spAutoFit/>
          </a:bodyPr>
          <a:lstStyle/>
          <a:p>
            <a:pPr>
              <a:lnSpc>
                <a:spcPct val="129000"/>
              </a:lnSpc>
              <a:defRPr/>
            </a:pPr>
            <a:r>
              <a:rPr lang="zh-CN" altLang="en-US" sz="1600" dirty="0">
                <a:solidFill>
                  <a:schemeClr val="tx1">
                    <a:lumMod val="75000"/>
                    <a:lumOff val="25000"/>
                  </a:schemeClr>
                </a:solidFill>
                <a:latin typeface="微软雅黑" pitchFamily="34" charset="-122"/>
                <a:ea typeface="微软雅黑" pitchFamily="34" charset="-122"/>
              </a:rPr>
              <a:t>       在天一电子产品研发中心的网络改造项目中，谢立夫负责技术开发和服务器的配置与管理，完成</a:t>
            </a:r>
            <a:r>
              <a:rPr lang="en-US" altLang="zh-CN" sz="1600" dirty="0">
                <a:solidFill>
                  <a:schemeClr val="tx1">
                    <a:lumMod val="75000"/>
                    <a:lumOff val="25000"/>
                  </a:schemeClr>
                </a:solidFill>
                <a:latin typeface="微软雅黑" pitchFamily="34" charset="-122"/>
                <a:ea typeface="微软雅黑" pitchFamily="34" charset="-122"/>
              </a:rPr>
              <a:t>Linux</a:t>
            </a:r>
            <a:r>
              <a:rPr lang="zh-CN" altLang="en-US" sz="1600" dirty="0">
                <a:solidFill>
                  <a:schemeClr val="tx1">
                    <a:lumMod val="75000"/>
                    <a:lumOff val="25000"/>
                  </a:schemeClr>
                </a:solidFill>
                <a:latin typeface="微软雅黑" pitchFamily="34" charset="-122"/>
                <a:ea typeface="微软雅黑" pitchFamily="34" charset="-122"/>
              </a:rPr>
              <a:t>网络操作系统的安装后，对天一研发中心的网络管理员吴航的培训也进行得比较理想，他让吴航学会了在终端模式下使用命令对</a:t>
            </a:r>
            <a:r>
              <a:rPr lang="en-US" altLang="zh-CN" sz="1600" dirty="0">
                <a:solidFill>
                  <a:schemeClr val="tx1">
                    <a:lumMod val="75000"/>
                    <a:lumOff val="25000"/>
                  </a:schemeClr>
                </a:solidFill>
                <a:latin typeface="微软雅黑" pitchFamily="34" charset="-122"/>
                <a:ea typeface="微软雅黑" pitchFamily="34" charset="-122"/>
              </a:rPr>
              <a:t>Linux</a:t>
            </a:r>
            <a:r>
              <a:rPr lang="zh-CN" altLang="en-US" sz="1600" dirty="0">
                <a:solidFill>
                  <a:schemeClr val="tx1">
                    <a:lumMod val="75000"/>
                    <a:lumOff val="25000"/>
                  </a:schemeClr>
                </a:solidFill>
                <a:latin typeface="微软雅黑" pitchFamily="34" charset="-122"/>
                <a:ea typeface="微软雅黑" pitchFamily="34" charset="-122"/>
              </a:rPr>
              <a:t>的文件系统进行管理，还学会了使用命令对操作系统进行管理，但是，每输入一次命令就能得到系统的一次响应，</a:t>
            </a:r>
            <a:r>
              <a:rPr lang="zh-CN" altLang="en-US" sz="1600" b="1" dirty="0">
                <a:solidFill>
                  <a:srgbClr val="C00000"/>
                </a:solidFill>
                <a:latin typeface="微软雅黑" pitchFamily="34" charset="-122"/>
                <a:ea typeface="微软雅黑" pitchFamily="34" charset="-122"/>
              </a:rPr>
              <a:t>当需要执行多个命令时就得一个接着一个地输入</a:t>
            </a:r>
            <a:r>
              <a:rPr lang="zh-CN" altLang="en-US" sz="1600" dirty="0">
                <a:solidFill>
                  <a:schemeClr val="tx1">
                    <a:lumMod val="75000"/>
                    <a:lumOff val="25000"/>
                  </a:schemeClr>
                </a:solidFill>
                <a:latin typeface="微软雅黑" pitchFamily="34" charset="-122"/>
                <a:ea typeface="微软雅黑" pitchFamily="34" charset="-122"/>
              </a:rPr>
              <a:t>，这样的做法效率太低，有没有一个更好的方法呢？</a:t>
            </a:r>
            <a:endParaRPr lang="en-US" altLang="zh-CN" sz="1600" dirty="0">
              <a:solidFill>
                <a:schemeClr val="tx1">
                  <a:lumMod val="75000"/>
                  <a:lumOff val="25000"/>
                </a:schemeClr>
              </a:solidFill>
              <a:latin typeface="微软雅黑" pitchFamily="34" charset="-122"/>
              <a:ea typeface="微软雅黑" pitchFamily="34" charset="-122"/>
            </a:endParaRPr>
          </a:p>
          <a:p>
            <a:pPr>
              <a:lnSpc>
                <a:spcPct val="129000"/>
              </a:lnSpc>
              <a:defRPr/>
            </a:pPr>
            <a:r>
              <a:rPr lang="zh-CN" altLang="en-US" sz="1600" dirty="0">
                <a:solidFill>
                  <a:schemeClr val="tx1">
                    <a:lumMod val="75000"/>
                    <a:lumOff val="25000"/>
                  </a:schemeClr>
                </a:solidFill>
                <a:latin typeface="微软雅黑" pitchFamily="34" charset="-122"/>
                <a:ea typeface="微软雅黑" pitchFamily="34" charset="-122"/>
              </a:rPr>
              <a:t>       谢立夫凭借自己所学的知识和多年的工作经验，经过认真分析，认为必须让吴航尽快熟悉在终端模式下</a:t>
            </a:r>
            <a:r>
              <a:rPr lang="zh-CN" altLang="en-US" sz="1600" b="1" dirty="0">
                <a:solidFill>
                  <a:srgbClr val="C00000"/>
                </a:solidFill>
                <a:latin typeface="微软雅黑" pitchFamily="34" charset="-122"/>
                <a:ea typeface="微软雅黑" pitchFamily="34" charset="-122"/>
              </a:rPr>
              <a:t>使用</a:t>
            </a:r>
            <a:r>
              <a:rPr lang="en-US" altLang="zh-CN" sz="1600" b="1" dirty="0">
                <a:solidFill>
                  <a:srgbClr val="C00000"/>
                </a:solidFill>
                <a:latin typeface="微软雅黑" pitchFamily="34" charset="-122"/>
                <a:ea typeface="微软雅黑" pitchFamily="34" charset="-122"/>
              </a:rPr>
              <a:t>Shell</a:t>
            </a:r>
            <a:r>
              <a:rPr lang="zh-CN" altLang="en-US" sz="1600" b="1" dirty="0">
                <a:solidFill>
                  <a:srgbClr val="C00000"/>
                </a:solidFill>
                <a:latin typeface="微软雅黑" pitchFamily="34" charset="-122"/>
                <a:ea typeface="微软雅黑" pitchFamily="34" charset="-122"/>
              </a:rPr>
              <a:t>进行编程</a:t>
            </a:r>
            <a:r>
              <a:rPr lang="zh-CN" altLang="en-US" sz="1600" dirty="0">
                <a:solidFill>
                  <a:schemeClr val="tx1">
                    <a:lumMod val="75000"/>
                    <a:lumOff val="25000"/>
                  </a:schemeClr>
                </a:solidFill>
                <a:latin typeface="微软雅黑" pitchFamily="34" charset="-122"/>
                <a:ea typeface="微软雅黑" pitchFamily="34" charset="-122"/>
              </a:rPr>
              <a:t>。</a:t>
            </a:r>
          </a:p>
        </p:txBody>
      </p:sp>
      <p:pic>
        <p:nvPicPr>
          <p:cNvPr id="2" name="图片 1"/>
          <p:cNvPicPr>
            <a:picLocks noChangeAspect="1"/>
          </p:cNvPicPr>
          <p:nvPr/>
        </p:nvPicPr>
        <p:blipFill>
          <a:blip r:embed="rId2"/>
          <a:stretch>
            <a:fillRect/>
          </a:stretch>
        </p:blipFill>
        <p:spPr>
          <a:xfrm>
            <a:off x="479377" y="1903925"/>
            <a:ext cx="5688632" cy="388723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41584541"/>
      </p:ext>
    </p:extLst>
  </p:cSld>
  <p:clrMapOvr>
    <a:masterClrMapping/>
  </p:clrMapOvr>
  <mc:AlternateContent xmlns:mc="http://schemas.openxmlformats.org/markup-compatibility/2006" xmlns:p14="http://schemas.microsoft.com/office/powerpoint/2010/main">
    <mc:Choice Requires="p14">
      <p:transition spd="med">
        <p14:switch dir="r"/>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Scale>
                                      <p:cBhvr>
                                        <p:cTn id="7"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8"/>
                                        </p:tgtEl>
                                        <p:attrNameLst>
                                          <p:attrName>ppt_x</p:attrName>
                                          <p:attrName>ppt_y</p:attrName>
                                        </p:attrNameLst>
                                      </p:cBhvr>
                                    </p:animMotion>
                                    <p:animEffect transition="in" filter="fade">
                                      <p:cBhvr>
                                        <p:cTn id="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47C5C97-9DB8-4CD2-B75B-C779EE93E2D8}"/>
              </a:ext>
            </a:extLst>
          </p:cNvPr>
          <p:cNvSpPr>
            <a:spLocks noChangeArrowheads="1"/>
          </p:cNvSpPr>
          <p:nvPr/>
        </p:nvSpPr>
        <p:spPr bwMode="auto">
          <a:xfrm>
            <a:off x="1329492" y="2168918"/>
            <a:ext cx="10027354" cy="90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198" tIns="33599" rIns="67198" bIns="3359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indent="288000" defTabSz="457200">
              <a:lnSpc>
                <a:spcPct val="150000"/>
              </a:lnSpc>
              <a:buNone/>
            </a:pPr>
            <a:r>
              <a:rPr lang="en-US" altLang="zh-CN" sz="1200" kern="0" dirty="0">
                <a:solidFill>
                  <a:prstClr val="black"/>
                </a:solidFill>
              </a:rPr>
              <a:t>Shell</a:t>
            </a:r>
            <a:r>
              <a:rPr lang="zh-CN" altLang="en-US" sz="1200" kern="0" dirty="0">
                <a:solidFill>
                  <a:prstClr val="black"/>
                </a:solidFill>
              </a:rPr>
              <a:t>是一个命令解释器，它会解释用户在命令提示符下输入的命令。</a:t>
            </a:r>
            <a:endParaRPr lang="en-US" altLang="zh-CN" sz="1200" kern="0" dirty="0">
              <a:solidFill>
                <a:prstClr val="black"/>
              </a:solidFill>
            </a:endParaRPr>
          </a:p>
          <a:p>
            <a:pPr lvl="0" indent="288000" defTabSz="457200">
              <a:lnSpc>
                <a:spcPct val="150000"/>
              </a:lnSpc>
              <a:buNone/>
            </a:pPr>
            <a:r>
              <a:rPr lang="en-US" altLang="zh-CN" sz="1200" kern="0" dirty="0">
                <a:solidFill>
                  <a:prstClr val="black"/>
                </a:solidFill>
              </a:rPr>
              <a:t>Shell</a:t>
            </a:r>
            <a:r>
              <a:rPr lang="zh-CN" altLang="en-US" sz="1200" kern="0" dirty="0">
                <a:solidFill>
                  <a:prstClr val="black"/>
                </a:solidFill>
              </a:rPr>
              <a:t>提供了一种功能，让用户将这组命令存放在一个文件中，然后用户可以像</a:t>
            </a:r>
            <a:r>
              <a:rPr lang="en-US" altLang="zh-CN" sz="1200" kern="0" dirty="0">
                <a:solidFill>
                  <a:prstClr val="black"/>
                </a:solidFill>
              </a:rPr>
              <a:t>UNIX</a:t>
            </a:r>
            <a:r>
              <a:rPr lang="zh-CN" altLang="en-US" sz="1200" kern="0" dirty="0">
                <a:solidFill>
                  <a:prstClr val="black"/>
                </a:solidFill>
              </a:rPr>
              <a:t>系统提供的其他程序一样执行这个文件。这个命令文件就称为</a:t>
            </a:r>
            <a:r>
              <a:rPr lang="en-US" altLang="zh-CN" sz="1200" kern="0" dirty="0">
                <a:solidFill>
                  <a:prstClr val="black"/>
                </a:solidFill>
              </a:rPr>
              <a:t>Shell</a:t>
            </a:r>
            <a:r>
              <a:rPr lang="zh-CN" altLang="en-US" sz="1200" kern="0" dirty="0">
                <a:solidFill>
                  <a:prstClr val="black"/>
                </a:solidFill>
              </a:rPr>
              <a:t>程序或者</a:t>
            </a:r>
            <a:r>
              <a:rPr lang="en-US" altLang="zh-CN" sz="1200" kern="0" dirty="0">
                <a:solidFill>
                  <a:prstClr val="black"/>
                </a:solidFill>
              </a:rPr>
              <a:t>Shell</a:t>
            </a:r>
            <a:r>
              <a:rPr lang="zh-CN" altLang="en-US" sz="1200" kern="0" dirty="0">
                <a:solidFill>
                  <a:prstClr val="black"/>
                </a:solidFill>
              </a:rPr>
              <a:t>脚本。</a:t>
            </a:r>
            <a:endParaRPr kumimoji="0" lang="en-US" altLang="zh-CN" sz="12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
        <p:nvSpPr>
          <p:cNvPr id="2" name="TextBox 560">
            <a:extLst>
              <a:ext uri="{FF2B5EF4-FFF2-40B4-BE49-F238E27FC236}">
                <a16:creationId xmlns:a16="http://schemas.microsoft.com/office/drawing/2014/main" id="{5BCC0495-11F8-4548-9D95-B313C24D73E2}"/>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4.2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任务分析</a:t>
            </a:r>
          </a:p>
        </p:txBody>
      </p:sp>
      <p:sp>
        <p:nvSpPr>
          <p:cNvPr id="15" name="燕尾形 44">
            <a:extLst>
              <a:ext uri="{FF2B5EF4-FFF2-40B4-BE49-F238E27FC236}">
                <a16:creationId xmlns:a16="http://schemas.microsoft.com/office/drawing/2014/main" id="{024DE0B0-B5D4-49C1-9A53-F8B1C3AB4697}"/>
              </a:ext>
            </a:extLst>
          </p:cNvPr>
          <p:cNvSpPr/>
          <p:nvPr/>
        </p:nvSpPr>
        <p:spPr>
          <a:xfrm rot="5400000">
            <a:off x="1065332" y="1395945"/>
            <a:ext cx="264613" cy="423380"/>
          </a:xfrm>
          <a:prstGeom prst="chevron">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Calibri" panose="020F0502020204030204"/>
              <a:ea typeface="等线" panose="02010600030101010101" pitchFamily="2" charset="-122"/>
              <a:cs typeface="+mn-cs"/>
            </a:endParaRPr>
          </a:p>
        </p:txBody>
      </p:sp>
      <p:cxnSp>
        <p:nvCxnSpPr>
          <p:cNvPr id="16" name="直接连接符 15">
            <a:extLst>
              <a:ext uri="{FF2B5EF4-FFF2-40B4-BE49-F238E27FC236}">
                <a16:creationId xmlns:a16="http://schemas.microsoft.com/office/drawing/2014/main" id="{71FAA6A2-0468-413E-A6CE-33EEDDD75F29}"/>
              </a:ext>
            </a:extLst>
          </p:cNvPr>
          <p:cNvCxnSpPr>
            <a:cxnSpLocks/>
          </p:cNvCxnSpPr>
          <p:nvPr/>
        </p:nvCxnSpPr>
        <p:spPr>
          <a:xfrm>
            <a:off x="1418021" y="3573016"/>
            <a:ext cx="9799238" cy="0"/>
          </a:xfrm>
          <a:prstGeom prst="line">
            <a:avLst/>
          </a:prstGeom>
          <a:noFill/>
          <a:ln w="6350" cap="flat" cmpd="sng" algn="ctr">
            <a:solidFill>
              <a:sysClr val="window" lastClr="FFFFFF">
                <a:lumMod val="50000"/>
              </a:sysClr>
            </a:solidFill>
            <a:prstDash val="solid"/>
            <a:miter lim="800000"/>
            <a:headEnd type="oval" w="med" len="med"/>
            <a:tailEnd type="oval" w="med" len="med"/>
          </a:ln>
          <a:effectLst/>
        </p:spPr>
      </p:cxnSp>
      <p:sp>
        <p:nvSpPr>
          <p:cNvPr id="17" name="矩形 16">
            <a:extLst>
              <a:ext uri="{FF2B5EF4-FFF2-40B4-BE49-F238E27FC236}">
                <a16:creationId xmlns:a16="http://schemas.microsoft.com/office/drawing/2014/main" id="{A60E2CA8-F497-45A4-B925-A8CDA968175C}"/>
              </a:ext>
            </a:extLst>
          </p:cNvPr>
          <p:cNvSpPr/>
          <p:nvPr/>
        </p:nvSpPr>
        <p:spPr>
          <a:xfrm>
            <a:off x="1311177" y="1793731"/>
            <a:ext cx="1371624" cy="252520"/>
          </a:xfrm>
          <a:prstGeom prst="rect">
            <a:avLst/>
          </a:prstGeom>
        </p:spPr>
        <p:txBody>
          <a:bodyPr wrap="none" lIns="67198" tIns="33599" rIns="67198" bIns="33599">
            <a:spAutoFit/>
          </a:bodyPr>
          <a:lstStyle/>
          <a:p>
            <a:pPr defTabSz="457200"/>
            <a:r>
              <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1</a:t>
            </a:r>
            <a:r>
              <a:rPr lang="zh-CN" altLang="en-US"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、了解</a:t>
            </a:r>
            <a:r>
              <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Shell</a:t>
            </a:r>
            <a:r>
              <a:rPr lang="zh-CN" altLang="en-US"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程序</a:t>
            </a:r>
            <a:endPar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19" name="燕尾形 48">
            <a:extLst>
              <a:ext uri="{FF2B5EF4-FFF2-40B4-BE49-F238E27FC236}">
                <a16:creationId xmlns:a16="http://schemas.microsoft.com/office/drawing/2014/main" id="{E1A55AE6-B3C5-4D9D-90B0-62FDC2B517F7}"/>
              </a:ext>
            </a:extLst>
          </p:cNvPr>
          <p:cNvSpPr/>
          <p:nvPr/>
        </p:nvSpPr>
        <p:spPr>
          <a:xfrm rot="5400000">
            <a:off x="1065331" y="3820991"/>
            <a:ext cx="264613" cy="423380"/>
          </a:xfrm>
          <a:prstGeom prst="chevron">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Calibri" panose="020F0502020204030204"/>
              <a:ea typeface="等线" panose="02010600030101010101" pitchFamily="2" charset="-122"/>
              <a:cs typeface="+mn-cs"/>
            </a:endParaRPr>
          </a:p>
        </p:txBody>
      </p:sp>
      <p:sp>
        <p:nvSpPr>
          <p:cNvPr id="21" name="矩形 20">
            <a:extLst>
              <a:ext uri="{FF2B5EF4-FFF2-40B4-BE49-F238E27FC236}">
                <a16:creationId xmlns:a16="http://schemas.microsoft.com/office/drawing/2014/main" id="{8123745C-7DF5-4707-86A1-5789D0EEAF62}"/>
              </a:ext>
            </a:extLst>
          </p:cNvPr>
          <p:cNvSpPr/>
          <p:nvPr/>
        </p:nvSpPr>
        <p:spPr>
          <a:xfrm>
            <a:off x="1361728" y="4293567"/>
            <a:ext cx="1679401" cy="252520"/>
          </a:xfrm>
          <a:prstGeom prst="rect">
            <a:avLst/>
          </a:prstGeom>
        </p:spPr>
        <p:txBody>
          <a:bodyPr wrap="none" lIns="67198" tIns="33599" rIns="67198" bIns="33599">
            <a:spAutoFit/>
          </a:bodyPr>
          <a:lstStyle/>
          <a:p>
            <a:pPr defTabSz="457200"/>
            <a:r>
              <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2</a:t>
            </a:r>
            <a:r>
              <a:rPr lang="zh-CN" altLang="en-US"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、学会编写</a:t>
            </a:r>
            <a:r>
              <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Shell</a:t>
            </a:r>
            <a:r>
              <a:rPr lang="zh-CN" altLang="en-US"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脚本</a:t>
            </a:r>
            <a:endPar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22" name="矩形 47">
            <a:extLst>
              <a:ext uri="{FF2B5EF4-FFF2-40B4-BE49-F238E27FC236}">
                <a16:creationId xmlns:a16="http://schemas.microsoft.com/office/drawing/2014/main" id="{055A6117-E5F9-4A36-9179-A9353AF4C617}"/>
              </a:ext>
            </a:extLst>
          </p:cNvPr>
          <p:cNvSpPr>
            <a:spLocks noChangeArrowheads="1"/>
          </p:cNvSpPr>
          <p:nvPr/>
        </p:nvSpPr>
        <p:spPr bwMode="auto">
          <a:xfrm>
            <a:off x="1361728" y="4724671"/>
            <a:ext cx="9894439" cy="935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198" tIns="33599" rIns="67198" bIns="33599">
            <a:spAutoFit/>
          </a:bodyPr>
          <a:lstStyle/>
          <a:p>
            <a:pPr defTabSz="457200">
              <a:lnSpc>
                <a:spcPct val="150000"/>
              </a:lnSpc>
              <a:spcBef>
                <a:spcPct val="20000"/>
              </a:spcBef>
              <a:buFont typeface="Arial" panose="020B0604020202020204" pitchFamily="34" charset="0"/>
              <a:buNone/>
            </a:pPr>
            <a:r>
              <a:rPr lang="en-US" altLang="zh-CN" sz="1200" kern="0" dirty="0">
                <a:solidFill>
                  <a:prstClr val="black"/>
                </a:solidFill>
                <a:latin typeface="微软雅黑" panose="020B0503020204020204" pitchFamily="34" charset="-122"/>
                <a:ea typeface="微软雅黑" panose="020B0503020204020204" pitchFamily="34" charset="-122"/>
              </a:rPr>
              <a:t>       Shell</a:t>
            </a:r>
            <a:r>
              <a:rPr lang="zh-CN" altLang="en-US" sz="1200" kern="0" dirty="0">
                <a:solidFill>
                  <a:prstClr val="black"/>
                </a:solidFill>
                <a:latin typeface="微软雅黑" panose="020B0503020204020204" pitchFamily="34" charset="-122"/>
                <a:ea typeface="微软雅黑" panose="020B0503020204020204" pitchFamily="34" charset="-122"/>
              </a:rPr>
              <a:t>编程实际上是用户使用文本编辑程序（如</a:t>
            </a:r>
            <a:r>
              <a:rPr lang="en-US" altLang="zh-CN" sz="1200" kern="0" dirty="0">
                <a:solidFill>
                  <a:prstClr val="black"/>
                </a:solidFill>
                <a:latin typeface="微软雅黑" panose="020B0503020204020204" pitchFamily="34" charset="-122"/>
                <a:ea typeface="微软雅黑" panose="020B0503020204020204" pitchFamily="34" charset="-122"/>
              </a:rPr>
              <a:t>vi</a:t>
            </a:r>
            <a:r>
              <a:rPr lang="zh-CN" altLang="en-US" sz="1200" kern="0" dirty="0">
                <a:solidFill>
                  <a:prstClr val="black"/>
                </a:solidFill>
                <a:latin typeface="微软雅黑" panose="020B0503020204020204" pitchFamily="34" charset="-122"/>
                <a:ea typeface="微软雅黑" panose="020B0503020204020204" pitchFamily="34" charset="-122"/>
              </a:rPr>
              <a:t>）将一系列的</a:t>
            </a:r>
            <a:r>
              <a:rPr lang="en-US" altLang="zh-CN" sz="1200" kern="0" dirty="0">
                <a:solidFill>
                  <a:prstClr val="black"/>
                </a:solidFill>
                <a:latin typeface="微软雅黑" panose="020B0503020204020204" pitchFamily="34" charset="-122"/>
                <a:ea typeface="微软雅黑" panose="020B0503020204020204" pitchFamily="34" charset="-122"/>
              </a:rPr>
              <a:t>Linux</a:t>
            </a:r>
            <a:r>
              <a:rPr lang="zh-CN" altLang="en-US" sz="1200" kern="0" dirty="0">
                <a:solidFill>
                  <a:prstClr val="black"/>
                </a:solidFill>
                <a:latin typeface="微软雅黑" panose="020B0503020204020204" pitchFamily="34" charset="-122"/>
                <a:ea typeface="微软雅黑" panose="020B0503020204020204" pitchFamily="34" charset="-122"/>
              </a:rPr>
              <a:t>命令按照一定的规则，将其放在一个文件中的过程。</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脚本是以行为单位的，在执行脚本的时候会分解成一行一行依次解释和执行单个命令。</a:t>
            </a:r>
            <a:endParaRPr lang="en-US" altLang="zh-CN" sz="1200" kern="0" dirty="0">
              <a:solidFill>
                <a:prstClr val="black"/>
              </a:solidFill>
              <a:latin typeface="微软雅黑" panose="020B0503020204020204" pitchFamily="34" charset="-122"/>
              <a:ea typeface="微软雅黑" panose="020B0503020204020204" pitchFamily="34" charset="-122"/>
            </a:endParaRPr>
          </a:p>
          <a:p>
            <a:pPr defTabSz="457200">
              <a:lnSpc>
                <a:spcPct val="150000"/>
              </a:lnSpc>
              <a:spcBef>
                <a:spcPct val="20000"/>
              </a:spcBef>
              <a:buFont typeface="Arial" panose="020B0604020202020204" pitchFamily="34" charset="0"/>
              <a:buNone/>
            </a:pPr>
            <a:r>
              <a:rPr lang="en-US" altLang="zh-CN" sz="1200" kern="0" dirty="0">
                <a:solidFill>
                  <a:prstClr val="black"/>
                </a:solidFill>
                <a:latin typeface="微软雅黑" panose="020B0503020204020204" pitchFamily="34" charset="-122"/>
                <a:ea typeface="微软雅黑" panose="020B0503020204020204" pitchFamily="34" charset="-122"/>
              </a:rPr>
              <a:t>       </a:t>
            </a:r>
            <a:r>
              <a:rPr lang="zh-CN" altLang="en-US" sz="1200" kern="0" dirty="0">
                <a:solidFill>
                  <a:prstClr val="black"/>
                </a:solidFill>
                <a:latin typeface="微软雅黑" panose="020B0503020204020204" pitchFamily="34" charset="-122"/>
                <a:ea typeface="微软雅黑" panose="020B0503020204020204" pitchFamily="34" charset="-122"/>
              </a:rPr>
              <a:t>脚本中所包含的主要内容有注释、命令、</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变量和结构控制语句。。</a:t>
            </a:r>
          </a:p>
        </p:txBody>
      </p:sp>
      <p:cxnSp>
        <p:nvCxnSpPr>
          <p:cNvPr id="24" name="直接连接符 23">
            <a:extLst>
              <a:ext uri="{FF2B5EF4-FFF2-40B4-BE49-F238E27FC236}">
                <a16:creationId xmlns:a16="http://schemas.microsoft.com/office/drawing/2014/main" id="{F94ACE77-7C6C-4FE2-BBD2-F072ABF9829B}"/>
              </a:ext>
            </a:extLst>
          </p:cNvPr>
          <p:cNvCxnSpPr>
            <a:cxnSpLocks/>
          </p:cNvCxnSpPr>
          <p:nvPr/>
        </p:nvCxnSpPr>
        <p:spPr>
          <a:xfrm flipV="1">
            <a:off x="1439233" y="5988101"/>
            <a:ext cx="9681367" cy="52078"/>
          </a:xfrm>
          <a:prstGeom prst="line">
            <a:avLst/>
          </a:prstGeom>
          <a:noFill/>
          <a:ln w="6350" cap="flat" cmpd="sng" algn="ctr">
            <a:solidFill>
              <a:sysClr val="window" lastClr="FFFFFF">
                <a:lumMod val="50000"/>
              </a:sysClr>
            </a:solidFill>
            <a:prstDash val="solid"/>
            <a:miter lim="800000"/>
            <a:headEnd type="oval" w="med" len="med"/>
            <a:tailEnd type="oval" w="med" len="med"/>
          </a:ln>
          <a:effectLst/>
        </p:spPr>
      </p:cxnSp>
    </p:spTree>
    <p:extLst>
      <p:ext uri="{BB962C8B-B14F-4D97-AF65-F5344CB8AC3E}">
        <p14:creationId xmlns:p14="http://schemas.microsoft.com/office/powerpoint/2010/main" val="285685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par>
                          <p:cTn id="23" fill="hold">
                            <p:stCondLst>
                              <p:cond delay="500"/>
                            </p:stCondLst>
                            <p:childTnLst>
                              <p:par>
                                <p:cTn id="24" presetID="47" presetClass="entr" presetSubtype="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animBg="1"/>
      <p:bldP spid="17" grpId="0"/>
      <p:bldP spid="19" grpId="0" animBg="1"/>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47C5C97-9DB8-4CD2-B75B-C779EE93E2D8}"/>
              </a:ext>
            </a:extLst>
          </p:cNvPr>
          <p:cNvSpPr>
            <a:spLocks noChangeArrowheads="1"/>
          </p:cNvSpPr>
          <p:nvPr/>
        </p:nvSpPr>
        <p:spPr bwMode="auto">
          <a:xfrm>
            <a:off x="1329492" y="2168918"/>
            <a:ext cx="10027354" cy="50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198" tIns="33599" rIns="67198" bIns="3359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defTabSz="457200">
              <a:lnSpc>
                <a:spcPct val="125000"/>
              </a:lnSpc>
              <a:buNone/>
            </a:pPr>
            <a:r>
              <a:rPr lang="zh-CN" altLang="en-US" sz="1200" kern="0" dirty="0">
                <a:solidFill>
                  <a:prstClr val="black"/>
                </a:solidFill>
              </a:rPr>
              <a:t>       一旦启动了终端仿真软件包或者登录</a:t>
            </a:r>
            <a:r>
              <a:rPr lang="en-US" altLang="zh-CN" sz="1200" kern="0" dirty="0">
                <a:solidFill>
                  <a:prstClr val="black"/>
                </a:solidFill>
              </a:rPr>
              <a:t>Linux</a:t>
            </a:r>
            <a:r>
              <a:rPr lang="zh-CN" altLang="en-US" sz="1200" kern="0" dirty="0">
                <a:solidFill>
                  <a:prstClr val="black"/>
                </a:solidFill>
              </a:rPr>
              <a:t>虚拟控制台，你就会看到</a:t>
            </a:r>
            <a:r>
              <a:rPr lang="en-US" altLang="zh-CN" sz="1200" kern="0" dirty="0">
                <a:solidFill>
                  <a:prstClr val="black"/>
                </a:solidFill>
              </a:rPr>
              <a:t>shell CLI</a:t>
            </a:r>
            <a:r>
              <a:rPr lang="zh-CN" altLang="en-US" sz="1200" kern="0" dirty="0">
                <a:solidFill>
                  <a:prstClr val="black"/>
                </a:solidFill>
              </a:rPr>
              <a:t>提示符。提示符就是进入</a:t>
            </a:r>
            <a:r>
              <a:rPr lang="en-US" altLang="zh-CN" sz="1200" kern="0" dirty="0">
                <a:solidFill>
                  <a:prstClr val="black"/>
                </a:solidFill>
              </a:rPr>
              <a:t>shell</a:t>
            </a:r>
            <a:r>
              <a:rPr lang="zh-CN" altLang="en-US" sz="1200" kern="0" dirty="0">
                <a:solidFill>
                  <a:prstClr val="black"/>
                </a:solidFill>
              </a:rPr>
              <a:t>世界的大门，是你输入</a:t>
            </a:r>
            <a:r>
              <a:rPr lang="en-US" altLang="zh-CN" sz="1200" kern="0" dirty="0">
                <a:solidFill>
                  <a:prstClr val="black"/>
                </a:solidFill>
              </a:rPr>
              <a:t>shell</a:t>
            </a:r>
            <a:r>
              <a:rPr lang="zh-CN" altLang="en-US" sz="1200" kern="0" dirty="0">
                <a:solidFill>
                  <a:prstClr val="black"/>
                </a:solidFill>
              </a:rPr>
              <a:t>命令的地方。默认</a:t>
            </a:r>
            <a:r>
              <a:rPr lang="en-US" altLang="zh-CN" sz="1200" kern="0" dirty="0">
                <a:solidFill>
                  <a:prstClr val="black"/>
                </a:solidFill>
              </a:rPr>
              <a:t>bash shell</a:t>
            </a:r>
            <a:r>
              <a:rPr lang="zh-CN" altLang="en-US" sz="1200" kern="0" dirty="0">
                <a:solidFill>
                  <a:prstClr val="black"/>
                </a:solidFill>
              </a:rPr>
              <a:t>提示符是美元符号（</a:t>
            </a:r>
            <a:r>
              <a:rPr lang="en-US" altLang="zh-CN" sz="1200" kern="0" dirty="0">
                <a:solidFill>
                  <a:prstClr val="black"/>
                </a:solidFill>
              </a:rPr>
              <a:t>$</a:t>
            </a:r>
            <a:r>
              <a:rPr lang="zh-CN" altLang="en-US" sz="1200" kern="0" dirty="0">
                <a:solidFill>
                  <a:prstClr val="black"/>
                </a:solidFill>
              </a:rPr>
              <a:t>），这个符号表明</a:t>
            </a:r>
            <a:r>
              <a:rPr lang="en-US" altLang="zh-CN" sz="1200" kern="0" dirty="0">
                <a:solidFill>
                  <a:prstClr val="black"/>
                </a:solidFill>
              </a:rPr>
              <a:t>shell</a:t>
            </a:r>
            <a:r>
              <a:rPr lang="zh-CN" altLang="en-US" sz="1200" kern="0" dirty="0">
                <a:solidFill>
                  <a:prstClr val="black"/>
                </a:solidFill>
              </a:rPr>
              <a:t>在等待用户输入。不同的</a:t>
            </a:r>
            <a:r>
              <a:rPr lang="en-US" altLang="zh-CN" sz="1200" kern="0" dirty="0">
                <a:solidFill>
                  <a:prstClr val="black"/>
                </a:solidFill>
              </a:rPr>
              <a:t>Linux</a:t>
            </a:r>
            <a:r>
              <a:rPr lang="zh-CN" altLang="en-US" sz="1200" kern="0" dirty="0">
                <a:solidFill>
                  <a:prstClr val="black"/>
                </a:solidFill>
              </a:rPr>
              <a:t>发行版采用不同格式的提示符。</a:t>
            </a:r>
          </a:p>
        </p:txBody>
      </p:sp>
      <p:sp>
        <p:nvSpPr>
          <p:cNvPr id="2" name="TextBox 560">
            <a:extLst>
              <a:ext uri="{FF2B5EF4-FFF2-40B4-BE49-F238E27FC236}">
                <a16:creationId xmlns:a16="http://schemas.microsoft.com/office/drawing/2014/main" id="{5BCC0495-11F8-4548-9D95-B313C24D73E2}"/>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4.2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任务分析</a:t>
            </a:r>
          </a:p>
        </p:txBody>
      </p:sp>
      <p:sp>
        <p:nvSpPr>
          <p:cNvPr id="15" name="燕尾形 44">
            <a:extLst>
              <a:ext uri="{FF2B5EF4-FFF2-40B4-BE49-F238E27FC236}">
                <a16:creationId xmlns:a16="http://schemas.microsoft.com/office/drawing/2014/main" id="{024DE0B0-B5D4-49C1-9A53-F8B1C3AB4697}"/>
              </a:ext>
            </a:extLst>
          </p:cNvPr>
          <p:cNvSpPr/>
          <p:nvPr/>
        </p:nvSpPr>
        <p:spPr>
          <a:xfrm rot="5400000">
            <a:off x="1065332" y="1395945"/>
            <a:ext cx="264613" cy="423380"/>
          </a:xfrm>
          <a:prstGeom prst="chevron">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Calibri" panose="020F0502020204030204"/>
              <a:ea typeface="等线" panose="02010600030101010101" pitchFamily="2" charset="-122"/>
              <a:cs typeface="+mn-cs"/>
            </a:endParaRPr>
          </a:p>
        </p:txBody>
      </p:sp>
      <p:cxnSp>
        <p:nvCxnSpPr>
          <p:cNvPr id="16" name="直接连接符 15">
            <a:extLst>
              <a:ext uri="{FF2B5EF4-FFF2-40B4-BE49-F238E27FC236}">
                <a16:creationId xmlns:a16="http://schemas.microsoft.com/office/drawing/2014/main" id="{71FAA6A2-0468-413E-A6CE-33EEDDD75F29}"/>
              </a:ext>
            </a:extLst>
          </p:cNvPr>
          <p:cNvCxnSpPr>
            <a:cxnSpLocks/>
          </p:cNvCxnSpPr>
          <p:nvPr/>
        </p:nvCxnSpPr>
        <p:spPr>
          <a:xfrm>
            <a:off x="1396686" y="2924944"/>
            <a:ext cx="9799238" cy="0"/>
          </a:xfrm>
          <a:prstGeom prst="line">
            <a:avLst/>
          </a:prstGeom>
          <a:noFill/>
          <a:ln w="6350" cap="flat" cmpd="sng" algn="ctr">
            <a:solidFill>
              <a:sysClr val="window" lastClr="FFFFFF">
                <a:lumMod val="50000"/>
              </a:sysClr>
            </a:solidFill>
            <a:prstDash val="solid"/>
            <a:miter lim="800000"/>
            <a:headEnd type="oval" w="med" len="med"/>
            <a:tailEnd type="oval" w="med" len="med"/>
          </a:ln>
          <a:effectLst/>
        </p:spPr>
      </p:cxnSp>
      <p:sp>
        <p:nvSpPr>
          <p:cNvPr id="17" name="矩形 16">
            <a:extLst>
              <a:ext uri="{FF2B5EF4-FFF2-40B4-BE49-F238E27FC236}">
                <a16:creationId xmlns:a16="http://schemas.microsoft.com/office/drawing/2014/main" id="{A60E2CA8-F497-45A4-B925-A8CDA968175C}"/>
              </a:ext>
            </a:extLst>
          </p:cNvPr>
          <p:cNvSpPr/>
          <p:nvPr/>
        </p:nvSpPr>
        <p:spPr>
          <a:xfrm>
            <a:off x="1311177" y="1793731"/>
            <a:ext cx="1833289" cy="252520"/>
          </a:xfrm>
          <a:prstGeom prst="rect">
            <a:avLst/>
          </a:prstGeom>
        </p:spPr>
        <p:txBody>
          <a:bodyPr wrap="none" lIns="67198" tIns="33599" rIns="67198" bIns="33599">
            <a:spAutoFit/>
          </a:bodyPr>
          <a:lstStyle/>
          <a:p>
            <a:pPr defTabSz="457200"/>
            <a:r>
              <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3</a:t>
            </a:r>
            <a:r>
              <a:rPr lang="zh-CN" altLang="en-US"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、熟悉</a:t>
            </a:r>
            <a:r>
              <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Shell</a:t>
            </a:r>
            <a:r>
              <a:rPr lang="zh-CN" altLang="en-US"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的打开方式</a:t>
            </a:r>
            <a:endPar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19" name="燕尾形 48">
            <a:extLst>
              <a:ext uri="{FF2B5EF4-FFF2-40B4-BE49-F238E27FC236}">
                <a16:creationId xmlns:a16="http://schemas.microsoft.com/office/drawing/2014/main" id="{E1A55AE6-B3C5-4D9D-90B0-62FDC2B517F7}"/>
              </a:ext>
            </a:extLst>
          </p:cNvPr>
          <p:cNvSpPr/>
          <p:nvPr/>
        </p:nvSpPr>
        <p:spPr>
          <a:xfrm rot="5400000">
            <a:off x="1071547" y="3020060"/>
            <a:ext cx="264613" cy="423380"/>
          </a:xfrm>
          <a:prstGeom prst="chevron">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Calibri" panose="020F0502020204030204"/>
              <a:ea typeface="等线" panose="02010600030101010101" pitchFamily="2" charset="-122"/>
              <a:cs typeface="+mn-cs"/>
            </a:endParaRPr>
          </a:p>
        </p:txBody>
      </p:sp>
      <p:sp>
        <p:nvSpPr>
          <p:cNvPr id="21" name="矩形 20">
            <a:extLst>
              <a:ext uri="{FF2B5EF4-FFF2-40B4-BE49-F238E27FC236}">
                <a16:creationId xmlns:a16="http://schemas.microsoft.com/office/drawing/2014/main" id="{8123745C-7DF5-4707-86A1-5789D0EEAF62}"/>
              </a:ext>
            </a:extLst>
          </p:cNvPr>
          <p:cNvSpPr/>
          <p:nvPr/>
        </p:nvSpPr>
        <p:spPr>
          <a:xfrm>
            <a:off x="1311177" y="3327583"/>
            <a:ext cx="1679401" cy="252520"/>
          </a:xfrm>
          <a:prstGeom prst="rect">
            <a:avLst/>
          </a:prstGeom>
        </p:spPr>
        <p:txBody>
          <a:bodyPr wrap="none" lIns="67198" tIns="33599" rIns="67198" bIns="33599">
            <a:spAutoFit/>
          </a:bodyPr>
          <a:lstStyle/>
          <a:p>
            <a:pPr defTabSz="457200"/>
            <a:r>
              <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4</a:t>
            </a:r>
            <a:r>
              <a:rPr lang="zh-CN" altLang="en-US"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、学会运行</a:t>
            </a:r>
            <a:r>
              <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Shell</a:t>
            </a:r>
            <a:r>
              <a:rPr lang="zh-CN" altLang="en-US"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脚本</a:t>
            </a:r>
            <a:endParaRPr lang="en-US" altLang="zh-CN" sz="1200" b="1"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22" name="矩形 47">
            <a:extLst>
              <a:ext uri="{FF2B5EF4-FFF2-40B4-BE49-F238E27FC236}">
                <a16:creationId xmlns:a16="http://schemas.microsoft.com/office/drawing/2014/main" id="{055A6117-E5F9-4A36-9179-A9353AF4C617}"/>
              </a:ext>
            </a:extLst>
          </p:cNvPr>
          <p:cNvSpPr>
            <a:spLocks noChangeArrowheads="1"/>
          </p:cNvSpPr>
          <p:nvPr/>
        </p:nvSpPr>
        <p:spPr bwMode="auto">
          <a:xfrm>
            <a:off x="1301485" y="3652508"/>
            <a:ext cx="9894439" cy="128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198" tIns="33599" rIns="67198" bIns="33599">
            <a:spAutoFit/>
          </a:bodyPr>
          <a:lstStyle/>
          <a:p>
            <a:pPr defTabSz="457200">
              <a:lnSpc>
                <a:spcPct val="150000"/>
              </a:lnSpc>
              <a:spcBef>
                <a:spcPct val="20000"/>
              </a:spcBef>
              <a:buFont typeface="Arial" panose="020B0604020202020204" pitchFamily="34" charset="0"/>
              <a:buNone/>
            </a:pPr>
            <a:r>
              <a:rPr lang="zh-CN" altLang="en-US" sz="1200" kern="0" dirty="0">
                <a:solidFill>
                  <a:prstClr val="black"/>
                </a:solidFill>
                <a:latin typeface="微软雅黑" panose="020B0503020204020204" pitchFamily="34" charset="-122"/>
                <a:ea typeface="微软雅黑" panose="020B0503020204020204" pitchFamily="34" charset="-122"/>
              </a:rPr>
              <a:t>编写</a:t>
            </a:r>
            <a:r>
              <a:rPr lang="en-US" altLang="zh-CN" sz="1200" kern="0" dirty="0">
                <a:solidFill>
                  <a:prstClr val="black"/>
                </a:solidFill>
                <a:latin typeface="微软雅黑" panose="020B0503020204020204" pitchFamily="34" charset="-122"/>
                <a:ea typeface="微软雅黑" panose="020B0503020204020204" pitchFamily="34" charset="-122"/>
              </a:rPr>
              <a:t>showinfo.sh</a:t>
            </a:r>
            <a:r>
              <a:rPr lang="zh-CN" altLang="en-US" sz="1200" kern="0" dirty="0">
                <a:solidFill>
                  <a:prstClr val="black"/>
                </a:solidFill>
                <a:latin typeface="微软雅黑" panose="020B0503020204020204" pitchFamily="34" charset="-122"/>
                <a:ea typeface="微软雅黑" panose="020B0503020204020204" pitchFamily="34" charset="-122"/>
              </a:rPr>
              <a:t>脚本：</a:t>
            </a:r>
            <a:endParaRPr lang="en-US" altLang="zh-CN" sz="1200" kern="0" dirty="0">
              <a:solidFill>
                <a:prstClr val="black"/>
              </a:solidFill>
              <a:latin typeface="微软雅黑" panose="020B0503020204020204" pitchFamily="34" charset="-122"/>
              <a:ea typeface="微软雅黑" panose="020B0503020204020204" pitchFamily="34" charset="-122"/>
            </a:endParaRPr>
          </a:p>
          <a:p>
            <a:pPr defTabSz="457200">
              <a:lnSpc>
                <a:spcPct val="150000"/>
              </a:lnSpc>
              <a:spcBef>
                <a:spcPct val="20000"/>
              </a:spcBef>
              <a:buFont typeface="Arial" panose="020B0604020202020204" pitchFamily="34" charset="0"/>
              <a:buNone/>
            </a:pPr>
            <a:r>
              <a:rPr lang="en-US" altLang="zh-CN" sz="1200" kern="0" dirty="0">
                <a:solidFill>
                  <a:prstClr val="black"/>
                </a:solidFill>
                <a:latin typeface="微软雅黑" panose="020B0503020204020204" pitchFamily="34" charset="-122"/>
                <a:ea typeface="微软雅黑" panose="020B0503020204020204" pitchFamily="34" charset="-122"/>
              </a:rPr>
              <a:t>1</a:t>
            </a:r>
            <a:r>
              <a:rPr lang="zh-CN" altLang="en-US" sz="1200" kern="0" dirty="0">
                <a:solidFill>
                  <a:prstClr val="black"/>
                </a:solidFill>
                <a:latin typeface="微软雅黑" panose="020B0503020204020204" pitchFamily="34" charset="-122"/>
                <a:ea typeface="微软雅黑" panose="020B0503020204020204" pitchFamily="34" charset="-122"/>
              </a:rPr>
              <a:t>）先用</a:t>
            </a:r>
            <a:r>
              <a:rPr lang="en-US" altLang="zh-CN" sz="1200" kern="0" dirty="0">
                <a:solidFill>
                  <a:prstClr val="black"/>
                </a:solidFill>
                <a:latin typeface="微软雅黑" panose="020B0503020204020204" pitchFamily="34" charset="-122"/>
                <a:ea typeface="微软雅黑" panose="020B0503020204020204" pitchFamily="34" charset="-122"/>
              </a:rPr>
              <a:t>vi</a:t>
            </a:r>
            <a:r>
              <a:rPr lang="zh-CN" altLang="en-US" sz="1200" kern="0" dirty="0">
                <a:solidFill>
                  <a:prstClr val="black"/>
                </a:solidFill>
                <a:latin typeface="微软雅黑" panose="020B0503020204020204" pitchFamily="34" charset="-122"/>
                <a:ea typeface="微软雅黑" panose="020B0503020204020204" pitchFamily="34" charset="-122"/>
              </a:rPr>
              <a:t>将</a:t>
            </a:r>
            <a:r>
              <a:rPr lang="en-US" altLang="zh-CN" sz="1200" kern="0" dirty="0">
                <a:solidFill>
                  <a:prstClr val="black"/>
                </a:solidFill>
                <a:latin typeface="微软雅黑" panose="020B0503020204020204" pitchFamily="34" charset="-122"/>
                <a:ea typeface="微软雅黑" panose="020B0503020204020204" pitchFamily="34" charset="-122"/>
              </a:rPr>
              <a:t>date</a:t>
            </a:r>
            <a:r>
              <a:rPr lang="zh-CN" altLang="en-US"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who</a:t>
            </a:r>
            <a:r>
              <a:rPr lang="zh-CN" altLang="en-US" sz="1200" kern="0" dirty="0">
                <a:solidFill>
                  <a:prstClr val="black"/>
                </a:solidFill>
                <a:latin typeface="微软雅黑" panose="020B0503020204020204" pitchFamily="34" charset="-122"/>
                <a:ea typeface="微软雅黑" panose="020B0503020204020204" pitchFamily="34" charset="-122"/>
              </a:rPr>
              <a:t>两个</a:t>
            </a:r>
            <a:r>
              <a:rPr lang="en-US" altLang="zh-CN" sz="1200" kern="0" dirty="0">
                <a:solidFill>
                  <a:prstClr val="black"/>
                </a:solidFill>
                <a:latin typeface="微软雅黑" panose="020B0503020204020204" pitchFamily="34" charset="-122"/>
                <a:ea typeface="微软雅黑" panose="020B0503020204020204" pitchFamily="34" charset="-122"/>
              </a:rPr>
              <a:t>bash shell</a:t>
            </a:r>
            <a:r>
              <a:rPr lang="zh-CN" altLang="en-US" sz="1200" kern="0" dirty="0">
                <a:solidFill>
                  <a:prstClr val="black"/>
                </a:solidFill>
                <a:latin typeface="微软雅黑" panose="020B0503020204020204" pitchFamily="34" charset="-122"/>
                <a:ea typeface="微软雅黑" panose="020B0503020204020204" pitchFamily="34" charset="-122"/>
              </a:rPr>
              <a:t>命令写入到</a:t>
            </a:r>
            <a:r>
              <a:rPr lang="en-US" altLang="zh-CN" sz="1200" kern="0" dirty="0">
                <a:solidFill>
                  <a:prstClr val="black"/>
                </a:solidFill>
                <a:latin typeface="微软雅黑" panose="020B0503020204020204" pitchFamily="34" charset="-122"/>
                <a:ea typeface="微软雅黑" panose="020B0503020204020204" pitchFamily="34" charset="-122"/>
              </a:rPr>
              <a:t>showinfo.sh</a:t>
            </a:r>
            <a:r>
              <a:rPr lang="zh-CN" altLang="en-US" sz="1200" kern="0" dirty="0">
                <a:solidFill>
                  <a:prstClr val="black"/>
                </a:solidFill>
                <a:latin typeface="微软雅黑" panose="020B0503020204020204" pitchFamily="34" charset="-122"/>
                <a:ea typeface="微软雅黑" panose="020B0503020204020204" pitchFamily="34" charset="-122"/>
              </a:rPr>
              <a:t>文件中。</a:t>
            </a:r>
            <a:endParaRPr lang="en-US" altLang="zh-CN" sz="1200" kern="0" dirty="0">
              <a:solidFill>
                <a:prstClr val="black"/>
              </a:solidFill>
              <a:latin typeface="微软雅黑" panose="020B0503020204020204" pitchFamily="34" charset="-122"/>
              <a:ea typeface="微软雅黑" panose="020B0503020204020204" pitchFamily="34" charset="-122"/>
            </a:endParaRPr>
          </a:p>
          <a:p>
            <a:pPr defTabSz="457200">
              <a:lnSpc>
                <a:spcPct val="150000"/>
              </a:lnSpc>
              <a:spcBef>
                <a:spcPct val="20000"/>
              </a:spcBef>
              <a:buFont typeface="Arial" panose="020B0604020202020204" pitchFamily="34" charset="0"/>
              <a:buNone/>
            </a:pPr>
            <a:r>
              <a:rPr lang="en-US" altLang="zh-CN" sz="1200" kern="0" dirty="0">
                <a:solidFill>
                  <a:prstClr val="black"/>
                </a:solidFill>
                <a:latin typeface="微软雅黑" panose="020B0503020204020204" pitchFamily="34" charset="-122"/>
                <a:ea typeface="微软雅黑" panose="020B0503020204020204" pitchFamily="34" charset="-122"/>
              </a:rPr>
              <a:t>2</a:t>
            </a:r>
            <a:r>
              <a:rPr lang="zh-CN" altLang="en-US" sz="1200" kern="0" dirty="0">
                <a:solidFill>
                  <a:prstClr val="black"/>
                </a:solidFill>
                <a:latin typeface="微软雅黑" panose="020B0503020204020204" pitchFamily="34" charset="-122"/>
                <a:ea typeface="微软雅黑" panose="020B0503020204020204" pitchFamily="34" charset="-122"/>
              </a:rPr>
              <a:t>）将脚本的权限使用</a:t>
            </a:r>
            <a:r>
              <a:rPr lang="en-US" altLang="zh-CN" sz="1200" kern="0" dirty="0" err="1">
                <a:solidFill>
                  <a:prstClr val="black"/>
                </a:solidFill>
                <a:latin typeface="微软雅黑" panose="020B0503020204020204" pitchFamily="34" charset="-122"/>
                <a:ea typeface="微软雅黑" panose="020B0503020204020204" pitchFamily="34" charset="-122"/>
              </a:rPr>
              <a:t>chmod</a:t>
            </a:r>
            <a:r>
              <a:rPr lang="zh-CN" altLang="en-US" sz="1200" kern="0" dirty="0">
                <a:solidFill>
                  <a:prstClr val="black"/>
                </a:solidFill>
                <a:latin typeface="微软雅黑" panose="020B0503020204020204" pitchFamily="34" charset="-122"/>
                <a:ea typeface="微软雅黑" panose="020B0503020204020204" pitchFamily="34" charset="-122"/>
              </a:rPr>
              <a:t>命令设置为可执行。</a:t>
            </a:r>
            <a:endParaRPr lang="en-US" altLang="zh-CN" sz="1200" kern="0" dirty="0">
              <a:solidFill>
                <a:prstClr val="black"/>
              </a:solidFill>
              <a:latin typeface="微软雅黑" panose="020B0503020204020204" pitchFamily="34" charset="-122"/>
              <a:ea typeface="微软雅黑" panose="020B0503020204020204" pitchFamily="34" charset="-122"/>
            </a:endParaRPr>
          </a:p>
          <a:p>
            <a:pPr defTabSz="457200">
              <a:lnSpc>
                <a:spcPct val="150000"/>
              </a:lnSpc>
              <a:spcBef>
                <a:spcPct val="20000"/>
              </a:spcBef>
              <a:buFont typeface="Arial" panose="020B0604020202020204" pitchFamily="34" charset="0"/>
              <a:buNone/>
            </a:pPr>
            <a:r>
              <a:rPr lang="en-US" altLang="zh-CN" sz="1200" kern="0" dirty="0">
                <a:solidFill>
                  <a:prstClr val="black"/>
                </a:solidFill>
                <a:latin typeface="微软雅黑" panose="020B0503020204020204" pitchFamily="34" charset="-122"/>
                <a:ea typeface="微软雅黑" panose="020B0503020204020204" pitchFamily="34" charset="-122"/>
              </a:rPr>
              <a:t>3</a:t>
            </a:r>
            <a:r>
              <a:rPr lang="zh-CN" altLang="en-US"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Linux</a:t>
            </a:r>
            <a:r>
              <a:rPr lang="zh-CN" altLang="en-US" sz="1200" kern="0" dirty="0">
                <a:solidFill>
                  <a:prstClr val="black"/>
                </a:solidFill>
                <a:latin typeface="微软雅黑" panose="020B0503020204020204" pitchFamily="34" charset="-122"/>
                <a:ea typeface="微软雅黑" panose="020B0503020204020204" pitchFamily="34" charset="-122"/>
              </a:rPr>
              <a:t>中</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脚本的执行通常有工作目录执行、绝对路径执行、</a:t>
            </a:r>
            <a:r>
              <a:rPr lang="en-US" altLang="zh-CN" sz="1200" kern="0" dirty="0" err="1">
                <a:solidFill>
                  <a:prstClr val="black"/>
                </a:solidFill>
                <a:latin typeface="微软雅黑" panose="020B0503020204020204" pitchFamily="34" charset="-122"/>
                <a:ea typeface="微软雅黑" panose="020B0503020204020204" pitchFamily="34" charset="-122"/>
              </a:rPr>
              <a:t>sh</a:t>
            </a:r>
            <a:r>
              <a:rPr lang="zh-CN" altLang="en-US" sz="1200" kern="0" dirty="0">
                <a:solidFill>
                  <a:prstClr val="black"/>
                </a:solidFill>
                <a:latin typeface="微软雅黑" panose="020B0503020204020204" pitchFamily="34" charset="-122"/>
                <a:ea typeface="微软雅黑" panose="020B0503020204020204" pitchFamily="34" charset="-122"/>
              </a:rPr>
              <a:t>执行和</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环境执行等</a:t>
            </a:r>
            <a:r>
              <a:rPr lang="en-US" altLang="zh-CN" sz="1200" kern="0" dirty="0">
                <a:solidFill>
                  <a:prstClr val="black"/>
                </a:solidFill>
                <a:latin typeface="微软雅黑" panose="020B0503020204020204" pitchFamily="34" charset="-122"/>
                <a:ea typeface="微软雅黑" panose="020B0503020204020204" pitchFamily="34" charset="-122"/>
              </a:rPr>
              <a:t>4</a:t>
            </a:r>
            <a:r>
              <a:rPr lang="zh-CN" altLang="en-US" sz="1200" kern="0" dirty="0">
                <a:solidFill>
                  <a:prstClr val="black"/>
                </a:solidFill>
                <a:latin typeface="微软雅黑" panose="020B0503020204020204" pitchFamily="34" charset="-122"/>
                <a:ea typeface="微软雅黑" panose="020B0503020204020204" pitchFamily="34" charset="-122"/>
              </a:rPr>
              <a:t>种执行方式。</a:t>
            </a:r>
            <a:endParaRPr lang="en-US" altLang="zh-CN" sz="1200" kern="0" dirty="0">
              <a:solidFill>
                <a:prstClr val="black"/>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71FAA6A2-0468-413E-A6CE-33EEDDD75F29}"/>
              </a:ext>
            </a:extLst>
          </p:cNvPr>
          <p:cNvCxnSpPr>
            <a:cxnSpLocks/>
          </p:cNvCxnSpPr>
          <p:nvPr/>
        </p:nvCxnSpPr>
        <p:spPr>
          <a:xfrm>
            <a:off x="1329492" y="5089835"/>
            <a:ext cx="9799238" cy="0"/>
          </a:xfrm>
          <a:prstGeom prst="line">
            <a:avLst/>
          </a:prstGeom>
          <a:noFill/>
          <a:ln w="6350" cap="flat" cmpd="sng" algn="ctr">
            <a:solidFill>
              <a:sysClr val="window" lastClr="FFFFFF">
                <a:lumMod val="50000"/>
              </a:sysClr>
            </a:solidFill>
            <a:prstDash val="solid"/>
            <a:miter lim="800000"/>
            <a:headEnd type="oval" w="med" len="med"/>
            <a:tailEnd type="oval" w="med" len="med"/>
          </a:ln>
          <a:effectLst/>
        </p:spPr>
      </p:cxnSp>
      <p:sp>
        <p:nvSpPr>
          <p:cNvPr id="13" name="燕尾形 48">
            <a:extLst>
              <a:ext uri="{FF2B5EF4-FFF2-40B4-BE49-F238E27FC236}">
                <a16:creationId xmlns:a16="http://schemas.microsoft.com/office/drawing/2014/main" id="{E1A55AE6-B3C5-4D9D-90B0-62FDC2B517F7}"/>
              </a:ext>
            </a:extLst>
          </p:cNvPr>
          <p:cNvSpPr/>
          <p:nvPr/>
        </p:nvSpPr>
        <p:spPr>
          <a:xfrm rot="5400000">
            <a:off x="1049967" y="5106977"/>
            <a:ext cx="264613" cy="423380"/>
          </a:xfrm>
          <a:prstGeom prst="chevron">
            <a:avLst/>
          </a:prstGeom>
          <a:solidFill>
            <a:srgbClr val="00B05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Calibri" panose="020F0502020204030204"/>
              <a:ea typeface="等线" panose="02010600030101010101" pitchFamily="2" charset="-122"/>
              <a:cs typeface="+mn-cs"/>
            </a:endParaRPr>
          </a:p>
        </p:txBody>
      </p:sp>
      <p:sp>
        <p:nvSpPr>
          <p:cNvPr id="14" name="矩形 13">
            <a:extLst>
              <a:ext uri="{FF2B5EF4-FFF2-40B4-BE49-F238E27FC236}">
                <a16:creationId xmlns:a16="http://schemas.microsoft.com/office/drawing/2014/main" id="{8123745C-7DF5-4707-86A1-5789D0EEAF62}"/>
              </a:ext>
            </a:extLst>
          </p:cNvPr>
          <p:cNvSpPr/>
          <p:nvPr/>
        </p:nvSpPr>
        <p:spPr>
          <a:xfrm>
            <a:off x="1290151" y="5492474"/>
            <a:ext cx="1923057" cy="252520"/>
          </a:xfrm>
          <a:prstGeom prst="rect">
            <a:avLst/>
          </a:prstGeom>
        </p:spPr>
        <p:txBody>
          <a:bodyPr wrap="none" lIns="67198" tIns="33599" rIns="67198" bIns="33599">
            <a:spAutoFit/>
          </a:bodyPr>
          <a:lstStyle/>
          <a:p>
            <a:pPr defTabSz="457200"/>
            <a:r>
              <a:rPr lang="en-US" altLang="zh-CN" sz="1200" b="1" dirty="0">
                <a:solidFill>
                  <a:schemeClr val="accent3">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5</a:t>
            </a:r>
            <a:r>
              <a:rPr lang="zh-CN" altLang="en-US" sz="1200" b="1" dirty="0">
                <a:solidFill>
                  <a:schemeClr val="accent3">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、熟悉本项目的具体任务</a:t>
            </a:r>
            <a:endParaRPr lang="en-US" altLang="zh-CN" sz="1200" b="1" dirty="0">
              <a:solidFill>
                <a:schemeClr val="accent3">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20" name="矩形 47">
            <a:extLst>
              <a:ext uri="{FF2B5EF4-FFF2-40B4-BE49-F238E27FC236}">
                <a16:creationId xmlns:a16="http://schemas.microsoft.com/office/drawing/2014/main" id="{055A6117-E5F9-4A36-9179-A9353AF4C617}"/>
              </a:ext>
            </a:extLst>
          </p:cNvPr>
          <p:cNvSpPr>
            <a:spLocks noChangeArrowheads="1"/>
          </p:cNvSpPr>
          <p:nvPr/>
        </p:nvSpPr>
        <p:spPr bwMode="auto">
          <a:xfrm>
            <a:off x="1349085" y="5853612"/>
            <a:ext cx="9894439" cy="31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198" tIns="33599" rIns="67198" bIns="33599">
            <a:spAutoFit/>
          </a:bodyPr>
          <a:lstStyle/>
          <a:p>
            <a:pPr defTabSz="457200">
              <a:lnSpc>
                <a:spcPct val="150000"/>
              </a:lnSpc>
              <a:spcBef>
                <a:spcPct val="20000"/>
              </a:spcBef>
              <a:buFont typeface="Arial" panose="020B0604020202020204" pitchFamily="34" charset="0"/>
              <a:buNone/>
            </a:pPr>
            <a:r>
              <a:rPr lang="zh-CN" altLang="en-US" sz="1200" kern="0" dirty="0">
                <a:solidFill>
                  <a:prstClr val="black"/>
                </a:solidFill>
                <a:latin typeface="微软雅黑" panose="020B0503020204020204" pitchFamily="34" charset="-122"/>
                <a:ea typeface="微软雅黑" panose="020B0503020204020204" pitchFamily="34" charset="-122"/>
              </a:rPr>
              <a:t>本项目的具体任务包括了解</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的基本概念，掌握</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脚本的基本结构，学会</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脚本的编写方法，能够执行等几个方面。</a:t>
            </a:r>
          </a:p>
        </p:txBody>
      </p:sp>
    </p:spTree>
    <p:extLst>
      <p:ext uri="{BB962C8B-B14F-4D97-AF65-F5344CB8AC3E}">
        <p14:creationId xmlns:p14="http://schemas.microsoft.com/office/powerpoint/2010/main" val="403322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par>
                          <p:cTn id="23" fill="hold">
                            <p:stCondLst>
                              <p:cond delay="500"/>
                            </p:stCondLst>
                            <p:childTnLst>
                              <p:par>
                                <p:cTn id="24" presetID="47" presetClass="entr" presetSubtype="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childTnLst>
                          </p:cTn>
                        </p:par>
                        <p:par>
                          <p:cTn id="42" fill="hold">
                            <p:stCondLst>
                              <p:cond delay="1000"/>
                            </p:stCondLst>
                            <p:childTnLst>
                              <p:par>
                                <p:cTn id="43" presetID="47"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left)">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animBg="1"/>
      <p:bldP spid="17" grpId="0"/>
      <p:bldP spid="19" grpId="0" animBg="1"/>
      <p:bldP spid="21" grpId="0"/>
      <p:bldP spid="22" grpId="0"/>
      <p:bldP spid="13" grpId="0" animBg="1"/>
      <p:bldP spid="14"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sp>
        <p:nvSpPr>
          <p:cNvPr id="3" name="矩形 47">
            <a:extLst>
              <a:ext uri="{FF2B5EF4-FFF2-40B4-BE49-F238E27FC236}">
                <a16:creationId xmlns:a16="http://schemas.microsoft.com/office/drawing/2014/main" id="{3F28B98B-4DA6-4C60-9927-AFD1F2589925}"/>
              </a:ext>
            </a:extLst>
          </p:cNvPr>
          <p:cNvSpPr>
            <a:spLocks noChangeArrowheads="1"/>
          </p:cNvSpPr>
          <p:nvPr/>
        </p:nvSpPr>
        <p:spPr bwMode="auto">
          <a:xfrm>
            <a:off x="1157674" y="3351130"/>
            <a:ext cx="6018446" cy="2543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0398" tIns="25199" rIns="50398" bIns="25199">
            <a:spAutoFit/>
          </a:bodyPr>
          <a:lstStyle/>
          <a:p>
            <a:pPr defTabSz="457200">
              <a:lnSpc>
                <a:spcPct val="150000"/>
              </a:lnSpc>
            </a:pPr>
            <a:r>
              <a:rPr lang="en-US" altLang="zh-CN" sz="1200" dirty="0">
                <a:solidFill>
                  <a:prstClr val="black"/>
                </a:solidFill>
                <a:latin typeface="微软雅黑" panose="020B0503020204020204" pitchFamily="34" charset="-122"/>
                <a:ea typeface="微软雅黑" panose="020B0503020204020204" pitchFamily="34" charset="-122"/>
              </a:rPr>
              <a:t>       Shell</a:t>
            </a:r>
            <a:r>
              <a:rPr lang="zh-CN" altLang="en-US" sz="1200" dirty="0">
                <a:solidFill>
                  <a:prstClr val="black"/>
                </a:solidFill>
                <a:latin typeface="微软雅黑" panose="020B0503020204020204" pitchFamily="34" charset="-122"/>
                <a:ea typeface="微软雅黑" panose="020B0503020204020204" pitchFamily="34" charset="-122"/>
              </a:rPr>
              <a:t>是一种应用程序，当用户登录</a:t>
            </a:r>
            <a:r>
              <a:rPr lang="en-US" altLang="zh-CN" sz="1200" dirty="0">
                <a:solidFill>
                  <a:prstClr val="black"/>
                </a:solidFill>
                <a:latin typeface="微软雅黑" panose="020B0503020204020204" pitchFamily="34" charset="-122"/>
                <a:ea typeface="微软雅黑" panose="020B0503020204020204" pitchFamily="34" charset="-122"/>
              </a:rPr>
              <a:t>Linux</a:t>
            </a:r>
            <a:r>
              <a:rPr lang="zh-CN" altLang="en-US" sz="1200" dirty="0">
                <a:solidFill>
                  <a:prstClr val="black"/>
                </a:solidFill>
                <a:latin typeface="微软雅黑" panose="020B0503020204020204" pitchFamily="34" charset="-122"/>
                <a:ea typeface="微软雅黑" panose="020B0503020204020204" pitchFamily="34" charset="-122"/>
              </a:rPr>
              <a:t>系统时，</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就会被调入内存执行。</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独立于内核，它是连接内核和应用程序的桥梁，并由输入设备读取命令，再将其转为计算机可以理解的机械码，</a:t>
            </a:r>
            <a:r>
              <a:rPr lang="en-US" altLang="zh-CN" sz="1200" dirty="0">
                <a:solidFill>
                  <a:prstClr val="black"/>
                </a:solidFill>
                <a:latin typeface="微软雅黑" panose="020B0503020204020204" pitchFamily="34" charset="-122"/>
                <a:ea typeface="微软雅黑" panose="020B0503020204020204" pitchFamily="34" charset="-122"/>
              </a:rPr>
              <a:t>Linux</a:t>
            </a:r>
            <a:r>
              <a:rPr lang="zh-CN" altLang="en-US" sz="1200" dirty="0">
                <a:solidFill>
                  <a:prstClr val="black"/>
                </a:solidFill>
                <a:latin typeface="微软雅黑" panose="020B0503020204020204" pitchFamily="34" charset="-122"/>
                <a:ea typeface="微软雅黑" panose="020B0503020204020204" pitchFamily="34" charset="-122"/>
              </a:rPr>
              <a:t>内核才能执行该命令。图</a:t>
            </a:r>
            <a:r>
              <a:rPr lang="en-US" altLang="zh-CN" sz="1200" dirty="0">
                <a:solidFill>
                  <a:prstClr val="black"/>
                </a:solidFill>
                <a:latin typeface="微软雅黑" panose="020B0503020204020204" pitchFamily="34" charset="-122"/>
                <a:ea typeface="微软雅黑" panose="020B0503020204020204" pitchFamily="34" charset="-122"/>
              </a:rPr>
              <a:t>4-3</a:t>
            </a:r>
            <a:r>
              <a:rPr lang="zh-CN" altLang="en-US" sz="1200" dirty="0">
                <a:solidFill>
                  <a:prstClr val="black"/>
                </a:solidFill>
                <a:latin typeface="微软雅黑" panose="020B0503020204020204" pitchFamily="34" charset="-122"/>
                <a:ea typeface="微软雅黑" panose="020B0503020204020204" pitchFamily="34" charset="-122"/>
              </a:rPr>
              <a:t>描述了</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在</a:t>
            </a:r>
            <a:r>
              <a:rPr lang="en-US" altLang="zh-CN" sz="1200" dirty="0">
                <a:solidFill>
                  <a:prstClr val="black"/>
                </a:solidFill>
                <a:latin typeface="微软雅黑" panose="020B0503020204020204" pitchFamily="34" charset="-122"/>
                <a:ea typeface="微软雅黑" panose="020B0503020204020204" pitchFamily="34" charset="-122"/>
              </a:rPr>
              <a:t>Linux</a:t>
            </a:r>
            <a:r>
              <a:rPr lang="zh-CN" altLang="en-US" sz="1200" dirty="0">
                <a:solidFill>
                  <a:prstClr val="black"/>
                </a:solidFill>
                <a:latin typeface="微软雅黑" panose="020B0503020204020204" pitchFamily="34" charset="-122"/>
                <a:ea typeface="微软雅黑" panose="020B0503020204020204" pitchFamily="34" charset="-122"/>
              </a:rPr>
              <a:t>系统中的位置。</a:t>
            </a:r>
            <a:endParaRPr lang="en-US" altLang="zh-CN" sz="1200" dirty="0">
              <a:solidFill>
                <a:prstClr val="black"/>
              </a:solidFill>
              <a:latin typeface="微软雅黑" panose="020B0503020204020204" pitchFamily="34" charset="-122"/>
              <a:ea typeface="微软雅黑" panose="020B0503020204020204" pitchFamily="34" charset="-122"/>
            </a:endParaRPr>
          </a:p>
          <a:p>
            <a:pPr defTabSz="457200">
              <a:lnSpc>
                <a:spcPct val="150000"/>
              </a:lnSpc>
            </a:pPr>
            <a:r>
              <a:rPr lang="en-US" altLang="zh-CN" sz="1200" dirty="0">
                <a:solidFill>
                  <a:prstClr val="black"/>
                </a:solidFill>
                <a:latin typeface="微软雅黑" panose="020B0503020204020204" pitchFamily="34" charset="-122"/>
                <a:ea typeface="微软雅黑" panose="020B0503020204020204" pitchFamily="34" charset="-122"/>
              </a:rPr>
              <a:t>       Shell</a:t>
            </a:r>
            <a:r>
              <a:rPr lang="zh-CN" altLang="en-US" sz="1200" dirty="0">
                <a:solidFill>
                  <a:prstClr val="black"/>
                </a:solidFill>
                <a:latin typeface="微软雅黑" panose="020B0503020204020204" pitchFamily="34" charset="-122"/>
                <a:ea typeface="微软雅黑" panose="020B0503020204020204" pitchFamily="34" charset="-122"/>
              </a:rPr>
              <a:t>接到用户输入的命令后首先检查命令是否是内部命令，若不是再检查是否是一个应用程序。当普通用户成功登录后，系统将执行一个称为</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的程序。正是</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进程提供了命令行提示符。对普通用户用“</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作提示符，对超级用户（</a:t>
            </a:r>
            <a:r>
              <a:rPr lang="en-US" altLang="zh-CN" sz="1200" dirty="0">
                <a:solidFill>
                  <a:prstClr val="black"/>
                </a:solidFill>
                <a:latin typeface="微软雅黑" panose="020B0503020204020204" pitchFamily="34" charset="-122"/>
                <a:ea typeface="微软雅黑" panose="020B0503020204020204" pitchFamily="34" charset="-122"/>
              </a:rPr>
              <a:t>root</a:t>
            </a:r>
            <a:r>
              <a:rPr lang="zh-CN" altLang="en-US" sz="1200" dirty="0">
                <a:solidFill>
                  <a:prstClr val="black"/>
                </a:solidFill>
                <a:latin typeface="微软雅黑" panose="020B0503020204020204" pitchFamily="34" charset="-122"/>
                <a:ea typeface="微软雅黑" panose="020B0503020204020204" pitchFamily="34" charset="-122"/>
              </a:rPr>
              <a:t>）用“</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作提示符。一旦出现了</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提示符，就可以键入命令名称及命令所需要的参数。</a:t>
            </a:r>
            <a:r>
              <a:rPr lang="en-US" altLang="zh-CN" sz="1200" dirty="0">
                <a:solidFill>
                  <a:prstClr val="black"/>
                </a:solidFill>
                <a:latin typeface="微软雅黑" panose="020B0503020204020204" pitchFamily="34" charset="-122"/>
                <a:ea typeface="微软雅黑" panose="020B0503020204020204" pitchFamily="34" charset="-122"/>
              </a:rPr>
              <a:t>Shell</a:t>
            </a:r>
            <a:r>
              <a:rPr lang="zh-CN" altLang="en-US" sz="1200" dirty="0">
                <a:solidFill>
                  <a:prstClr val="black"/>
                </a:solidFill>
                <a:latin typeface="微软雅黑" panose="020B0503020204020204" pitchFamily="34" charset="-122"/>
                <a:ea typeface="微软雅黑" panose="020B0503020204020204" pitchFamily="34" charset="-122"/>
              </a:rPr>
              <a:t>将执行这些命令。</a:t>
            </a:r>
          </a:p>
        </p:txBody>
      </p:sp>
      <p:sp>
        <p:nvSpPr>
          <p:cNvPr id="4" name="矩形 3">
            <a:extLst>
              <a:ext uri="{FF2B5EF4-FFF2-40B4-BE49-F238E27FC236}">
                <a16:creationId xmlns:a16="http://schemas.microsoft.com/office/drawing/2014/main" id="{8D7E0493-6C88-419D-AF4D-61080DD0C7E0}"/>
              </a:ext>
            </a:extLst>
          </p:cNvPr>
          <p:cNvSpPr>
            <a:spLocks noChangeArrowheads="1"/>
          </p:cNvSpPr>
          <p:nvPr/>
        </p:nvSpPr>
        <p:spPr bwMode="auto">
          <a:xfrm>
            <a:off x="1207494" y="2905412"/>
            <a:ext cx="2745418" cy="235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0398" tIns="25199" rIns="50398" bIns="25199">
            <a:spAutoFit/>
          </a:bodyPr>
          <a:lstStyle/>
          <a:p>
            <a:pPr defTabSz="457200"/>
            <a:r>
              <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4.3.1 Shell</a:t>
            </a:r>
            <a:r>
              <a:rPr lang="zh-CN" altLang="en-US"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概述</a:t>
            </a:r>
            <a:endParaRPr lang="en-US" altLang="zh-CN" sz="1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endParaRPr>
          </a:p>
        </p:txBody>
      </p:sp>
      <p:sp>
        <p:nvSpPr>
          <p:cNvPr id="5" name="矩形 4">
            <a:extLst>
              <a:ext uri="{FF2B5EF4-FFF2-40B4-BE49-F238E27FC236}">
                <a16:creationId xmlns:a16="http://schemas.microsoft.com/office/drawing/2014/main" id="{819D14F8-8329-4631-BEB1-59254CEF81B6}"/>
              </a:ext>
            </a:extLst>
          </p:cNvPr>
          <p:cNvSpPr/>
          <p:nvPr/>
        </p:nvSpPr>
        <p:spPr>
          <a:xfrm>
            <a:off x="1259216" y="3183210"/>
            <a:ext cx="650575" cy="29766"/>
          </a:xfrm>
          <a:prstGeom prst="rect">
            <a:avLst/>
          </a:prstGeom>
          <a:solidFill>
            <a:srgbClr val="C00000"/>
          </a:solidFill>
          <a:ln w="12700" cap="flat" cmpd="sng" algn="ctr">
            <a:noFill/>
            <a:prstDash val="solid"/>
            <a:miter lim="800000"/>
          </a:ln>
          <a:effectLst/>
        </p:spPr>
        <p:txBody>
          <a:bodyPr lIns="50400" tIns="25199" rIns="50400" bIns="25199"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91F00967-007E-4367-898E-A4BBB75CC01B}"/>
              </a:ext>
            </a:extLst>
          </p:cNvPr>
          <p:cNvSpPr/>
          <p:nvPr/>
        </p:nvSpPr>
        <p:spPr>
          <a:xfrm>
            <a:off x="1711102" y="3183210"/>
            <a:ext cx="1317855" cy="29766"/>
          </a:xfrm>
          <a:prstGeom prst="rect">
            <a:avLst/>
          </a:prstGeom>
          <a:solidFill>
            <a:srgbClr val="083473"/>
          </a:solidFill>
          <a:ln w="12700" cap="flat" cmpd="sng" algn="ctr">
            <a:noFill/>
            <a:prstDash val="solid"/>
            <a:miter lim="800000"/>
          </a:ln>
          <a:effectLst/>
        </p:spPr>
        <p:txBody>
          <a:bodyPr lIns="50400" tIns="25199" rIns="50400" bIns="25199"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975" b="0"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11" name="TextBox 89">
            <a:extLst>
              <a:ext uri="{FF2B5EF4-FFF2-40B4-BE49-F238E27FC236}">
                <a16:creationId xmlns:a16="http://schemas.microsoft.com/office/drawing/2014/main" id="{71765817-89C2-4272-8703-FCC21FF7DB5B}"/>
              </a:ext>
            </a:extLst>
          </p:cNvPr>
          <p:cNvSpPr txBox="1"/>
          <p:nvPr/>
        </p:nvSpPr>
        <p:spPr>
          <a:xfrm>
            <a:off x="1258583" y="1994095"/>
            <a:ext cx="9949985" cy="613694"/>
          </a:xfrm>
          <a:prstGeom prst="rect">
            <a:avLst/>
          </a:prstGeom>
          <a:noFill/>
          <a:ln>
            <a:solidFill>
              <a:srgbClr val="C00000"/>
            </a:solidFill>
          </a:ln>
        </p:spPr>
        <p:txBody>
          <a:bodyPr wrap="square" rtlCol="0">
            <a:spAutoFit/>
          </a:bodyPr>
          <a:lstStyle/>
          <a:p>
            <a:pPr indent="288000" defTabSz="457200">
              <a:lnSpc>
                <a:spcPct val="150000"/>
              </a:lnSpc>
            </a:pPr>
            <a:r>
              <a:rPr lang="zh-CN" altLang="en-US" sz="1200" dirty="0">
                <a:solidFill>
                  <a:prstClr val="black"/>
                </a:solidFill>
                <a:latin typeface="微软雅黑" panose="020B0503020204020204" pitchFamily="34" charset="-122"/>
                <a:ea typeface="微软雅黑" panose="020B0503020204020204" pitchFamily="34" charset="-122"/>
              </a:rPr>
              <a:t>在</a:t>
            </a:r>
            <a:r>
              <a:rPr lang="en-US" altLang="zh-CN" sz="1200" dirty="0">
                <a:solidFill>
                  <a:prstClr val="black"/>
                </a:solidFill>
                <a:latin typeface="微软雅黑" panose="020B0503020204020204" pitchFamily="34" charset="-122"/>
                <a:ea typeface="微软雅黑" panose="020B0503020204020204" pitchFamily="34" charset="-122"/>
              </a:rPr>
              <a:t>Linux</a:t>
            </a:r>
            <a:r>
              <a:rPr lang="zh-CN" altLang="en-US" sz="1200" dirty="0">
                <a:solidFill>
                  <a:prstClr val="black"/>
                </a:solidFill>
                <a:latin typeface="微软雅黑" panose="020B0503020204020204" pitchFamily="34" charset="-122"/>
                <a:ea typeface="微软雅黑" panose="020B0503020204020204" pitchFamily="34" charset="-122"/>
              </a:rPr>
              <a:t>的系统管理与使用过程中，文件系统是管理员打交道最多，也是最基本的管理对象。文件系统中的文件是数据的集合，文件系统不仅包含着文件中的数据，而且还有文件系统的结构，所有</a:t>
            </a:r>
            <a:r>
              <a:rPr lang="en-US" altLang="zh-CN" sz="1200" dirty="0">
                <a:solidFill>
                  <a:prstClr val="black"/>
                </a:solidFill>
                <a:latin typeface="微软雅黑" panose="020B0503020204020204" pitchFamily="34" charset="-122"/>
                <a:ea typeface="微软雅黑" panose="020B0503020204020204" pitchFamily="34" charset="-122"/>
              </a:rPr>
              <a:t>Linux</a:t>
            </a:r>
            <a:r>
              <a:rPr lang="zh-CN" altLang="en-US" sz="1200" dirty="0">
                <a:solidFill>
                  <a:prstClr val="black"/>
                </a:solidFill>
                <a:latin typeface="微软雅黑" panose="020B0503020204020204" pitchFamily="34" charset="-122"/>
                <a:ea typeface="微软雅黑" panose="020B0503020204020204" pitchFamily="34" charset="-122"/>
              </a:rPr>
              <a:t>用户和程序看到的文件、目录、文件保护信息等都存储在文件系统中。</a:t>
            </a:r>
            <a:endParaRPr lang="zh-CN" altLang="en-US" sz="120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3" name="Freeform 12">
            <a:extLst>
              <a:ext uri="{FF2B5EF4-FFF2-40B4-BE49-F238E27FC236}">
                <a16:creationId xmlns:a16="http://schemas.microsoft.com/office/drawing/2014/main" id="{E5E9B01D-4141-470F-B8E1-67E4C565F778}"/>
              </a:ext>
            </a:extLst>
          </p:cNvPr>
          <p:cNvSpPr/>
          <p:nvPr/>
        </p:nvSpPr>
        <p:spPr bwMode="auto">
          <a:xfrm flipH="1" flipV="1">
            <a:off x="10920536" y="2348880"/>
            <a:ext cx="388524" cy="389691"/>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83473"/>
          </a:solidFill>
          <a:ln>
            <a:noFill/>
          </a:ln>
        </p:spPr>
        <p:txBody>
          <a:bodyPr/>
          <a:lstStyle/>
          <a:p>
            <a:pPr defTabSz="457200"/>
            <a:endParaRPr lang="zh-CN" altLang="en-US" sz="975">
              <a:solidFill>
                <a:prstClr val="black">
                  <a:lumMod val="50000"/>
                  <a:lumOff val="50000"/>
                </a:prstClr>
              </a:solidFill>
              <a:ea typeface="等线" panose="02010600030101010101" pitchFamily="2" charset="-122"/>
            </a:endParaRPr>
          </a:p>
        </p:txBody>
      </p:sp>
      <p:sp>
        <p:nvSpPr>
          <p:cNvPr id="14" name="Freeform 12">
            <a:extLst>
              <a:ext uri="{FF2B5EF4-FFF2-40B4-BE49-F238E27FC236}">
                <a16:creationId xmlns:a16="http://schemas.microsoft.com/office/drawing/2014/main" id="{9C9AB113-E1F2-4156-B743-0A3785ECED38}"/>
              </a:ext>
            </a:extLst>
          </p:cNvPr>
          <p:cNvSpPr/>
          <p:nvPr/>
        </p:nvSpPr>
        <p:spPr bwMode="auto">
          <a:xfrm>
            <a:off x="1157674" y="1891777"/>
            <a:ext cx="388524" cy="34418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C00000"/>
          </a:solidFill>
          <a:ln>
            <a:noFill/>
          </a:ln>
        </p:spPr>
        <p:txBody>
          <a:bodyPr/>
          <a:lstStyle/>
          <a:p>
            <a:pPr defTabSz="457200"/>
            <a:endParaRPr lang="zh-CN" altLang="en-US" sz="975">
              <a:solidFill>
                <a:prstClr val="black">
                  <a:lumMod val="65000"/>
                  <a:lumOff val="35000"/>
                </a:prstClr>
              </a:solidFill>
              <a:ea typeface="等线" panose="02010600030101010101" pitchFamily="2" charset="-122"/>
            </a:endParaRPr>
          </a:p>
        </p:txBody>
      </p:sp>
      <p:sp>
        <p:nvSpPr>
          <p:cNvPr id="15" name="Rectangle 3">
            <a:extLst>
              <a:ext uri="{FF2B5EF4-FFF2-40B4-BE49-F238E27FC236}">
                <a16:creationId xmlns:a16="http://schemas.microsoft.com/office/drawing/2014/main" id="{ED0B6DFB-DC33-4C9B-A58B-49719CD4864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4">
            <a:extLst>
              <a:ext uri="{FF2B5EF4-FFF2-40B4-BE49-F238E27FC236}">
                <a16:creationId xmlns:a16="http://schemas.microsoft.com/office/drawing/2014/main" id="{AF5FCCEE-CD75-4FB9-A8F0-6823BB7C0774}"/>
              </a:ext>
            </a:extLst>
          </p:cNvPr>
          <p:cNvSpPr>
            <a:spLocks noChangeArrowheads="1"/>
          </p:cNvSpPr>
          <p:nvPr/>
        </p:nvSpPr>
        <p:spPr bwMode="auto">
          <a:xfrm>
            <a:off x="0" y="2620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pic>
        <p:nvPicPr>
          <p:cNvPr id="7" name="图片 6"/>
          <p:cNvPicPr>
            <a:picLocks noChangeAspect="1"/>
          </p:cNvPicPr>
          <p:nvPr/>
        </p:nvPicPr>
        <p:blipFill>
          <a:blip r:embed="rId2"/>
          <a:stretch>
            <a:fillRect/>
          </a:stretch>
        </p:blipFill>
        <p:spPr>
          <a:xfrm>
            <a:off x="7865676" y="3351130"/>
            <a:ext cx="3028928" cy="238212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03774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35" presetClass="path" presetSubtype="0" accel="50000" decel="50000" fill="hold" grpId="1" nodeType="withEffect">
                                  <p:stCondLst>
                                    <p:cond delay="0"/>
                                  </p:stCondLst>
                                  <p:childTnLst>
                                    <p:animMotion origin="layout" path="M 2.70833E-6 4.07407E-6 L 0.36692 0.15277 " pathEditMode="relative" rAng="0" ptsTypes="AA">
                                      <p:cBhvr>
                                        <p:cTn id="8" dur="500" spd="-99900" fill="hold"/>
                                        <p:tgtEl>
                                          <p:spTgt spid="14"/>
                                        </p:tgtEl>
                                        <p:attrNameLst>
                                          <p:attrName>ppt_x</p:attrName>
                                          <p:attrName>ppt_y</p:attrName>
                                        </p:attrNameLst>
                                      </p:cBhvr>
                                      <p:rCtr x="18346" y="7639"/>
                                    </p:animMotion>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35" presetClass="path" presetSubtype="0" accel="50000" decel="50000" fill="hold" grpId="1" nodeType="withEffect">
                                  <p:stCondLst>
                                    <p:cond delay="0"/>
                                  </p:stCondLst>
                                  <p:childTnLst>
                                    <p:animMotion origin="layout" path="M 1.45833E-6 -3.33333E-6 L -0.39492 -0.11018 " pathEditMode="relative" rAng="0" ptsTypes="AA">
                                      <p:cBhvr>
                                        <p:cTn id="12" dur="500" spd="-99900" fill="hold"/>
                                        <p:tgtEl>
                                          <p:spTgt spid="13"/>
                                        </p:tgtEl>
                                        <p:attrNameLst>
                                          <p:attrName>ppt_x</p:attrName>
                                          <p:attrName>ppt_y</p:attrName>
                                        </p:attrNameLst>
                                      </p:cBhvr>
                                      <p:rCtr x="-19753" y="-5509"/>
                                    </p:animMotion>
                                  </p:childTnLst>
                                </p:cTn>
                              </p:par>
                            </p:childTnLst>
                          </p:cTn>
                        </p:par>
                        <p:par>
                          <p:cTn id="13" fill="hold">
                            <p:stCondLst>
                              <p:cond delay="500"/>
                            </p:stCondLst>
                            <p:childTnLst>
                              <p:par>
                                <p:cTn id="14" presetID="18" presetClass="entr" presetSubtype="3"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upRight)">
                                      <p:cBhvr>
                                        <p:cTn id="16" dur="500"/>
                                        <p:tgtEl>
                                          <p:spTgt spid="1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75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randombar(horizontal)">
                                      <p:cBhvr>
                                        <p:cTn id="33"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11" grpId="0" animBg="1"/>
      <p:bldP spid="13" grpId="0" animBg="1"/>
      <p:bldP spid="13" grpId="1" animBg="1"/>
      <p:bldP spid="14" grpId="0" animBg="1"/>
      <p:bldP spid="1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15" name="Group 95">
            <a:extLst>
              <a:ext uri="{FF2B5EF4-FFF2-40B4-BE49-F238E27FC236}">
                <a16:creationId xmlns:a16="http://schemas.microsoft.com/office/drawing/2014/main" id="{74E28685-D713-4C9F-8C09-D07007068DB1}"/>
              </a:ext>
            </a:extLst>
          </p:cNvPr>
          <p:cNvGrpSpPr/>
          <p:nvPr/>
        </p:nvGrpSpPr>
        <p:grpSpPr>
          <a:xfrm flipH="1">
            <a:off x="519287" y="1545262"/>
            <a:ext cx="10545265" cy="4788016"/>
            <a:chOff x="-6935092" y="2311162"/>
            <a:chExt cx="11322691" cy="4887167"/>
          </a:xfrm>
        </p:grpSpPr>
        <p:grpSp>
          <p:nvGrpSpPr>
            <p:cNvPr id="16" name="Group 88">
              <a:extLst>
                <a:ext uri="{FF2B5EF4-FFF2-40B4-BE49-F238E27FC236}">
                  <a16:creationId xmlns:a16="http://schemas.microsoft.com/office/drawing/2014/main" id="{0D6DE152-474B-433A-BDD5-D454B5E0A43F}"/>
                </a:ext>
              </a:extLst>
            </p:cNvPr>
            <p:cNvGrpSpPr/>
            <p:nvPr/>
          </p:nvGrpSpPr>
          <p:grpSpPr>
            <a:xfrm>
              <a:off x="-6935092" y="2311162"/>
              <a:ext cx="11322691" cy="4887167"/>
              <a:chOff x="-6935092" y="2311162"/>
              <a:chExt cx="11322691" cy="4887167"/>
            </a:xfrm>
          </p:grpSpPr>
          <p:sp>
            <p:nvSpPr>
              <p:cNvPr id="20" name="Rectangle 31">
                <a:extLst>
                  <a:ext uri="{FF2B5EF4-FFF2-40B4-BE49-F238E27FC236}">
                    <a16:creationId xmlns:a16="http://schemas.microsoft.com/office/drawing/2014/main" id="{72FCBA8D-2A21-48AC-836A-24A34BC0FA13}"/>
                  </a:ext>
                </a:extLst>
              </p:cNvPr>
              <p:cNvSpPr/>
              <p:nvPr/>
            </p:nvSpPr>
            <p:spPr>
              <a:xfrm>
                <a:off x="-6935092" y="2705983"/>
                <a:ext cx="10068550" cy="4492346"/>
              </a:xfrm>
              <a:prstGeom prst="rect">
                <a:avLst/>
              </a:prstGeom>
              <a:ln>
                <a:solidFill>
                  <a:schemeClr val="tx1"/>
                </a:solidFill>
                <a:prstDash val="dash"/>
              </a:ln>
            </p:spPr>
            <p:txBody>
              <a:bodyPr wrap="square">
                <a:spAutoFit/>
              </a:bodyPr>
              <a:lstStyle/>
              <a:p>
                <a:pPr lvl="0" indent="288000" defTabSz="457200">
                  <a:lnSpc>
                    <a:spcPct val="125000"/>
                  </a:lnSpc>
                </a:pPr>
                <a:r>
                  <a:rPr lang="en-US" altLang="zh-CN" sz="1600" kern="0" dirty="0">
                    <a:solidFill>
                      <a:prstClr val="black"/>
                    </a:solidFill>
                    <a:latin typeface="微软雅黑" panose="020B0503020204020204" pitchFamily="34" charset="-122"/>
                    <a:ea typeface="微软雅黑" panose="020B0503020204020204" pitchFamily="34" charset="-122"/>
                  </a:rPr>
                  <a:t>  Linux</a:t>
                </a:r>
                <a:r>
                  <a:rPr lang="zh-CN" altLang="en-US" sz="1600" kern="0" dirty="0">
                    <a:solidFill>
                      <a:prstClr val="black"/>
                    </a:solidFill>
                    <a:latin typeface="微软雅黑" panose="020B0503020204020204" pitchFamily="34" charset="-122"/>
                    <a:ea typeface="微软雅黑" panose="020B0503020204020204" pitchFamily="34" charset="-122"/>
                  </a:rPr>
                  <a:t>系统的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en-US" sz="1600" kern="0" dirty="0">
                    <a:solidFill>
                      <a:prstClr val="black"/>
                    </a:solidFill>
                    <a:latin typeface="微软雅黑" panose="020B0503020204020204" pitchFamily="34" charset="-122"/>
                    <a:ea typeface="微软雅黑" panose="020B0503020204020204" pitchFamily="34" charset="-122"/>
                  </a:rPr>
                  <a:t>作为操作系统的外壳，为用户提供使用操作系统的接口。每个</a:t>
                </a:r>
                <a:r>
                  <a:rPr lang="en-US" altLang="zh-CN" sz="1600" kern="0" dirty="0">
                    <a:solidFill>
                      <a:prstClr val="black"/>
                    </a:solidFill>
                    <a:latin typeface="微软雅黑" panose="020B0503020204020204" pitchFamily="34" charset="-122"/>
                    <a:ea typeface="微软雅黑" panose="020B0503020204020204" pitchFamily="34" charset="-122"/>
                  </a:rPr>
                  <a:t>Linux</a:t>
                </a:r>
                <a:r>
                  <a:rPr lang="zh-CN" altLang="en-US" sz="1600" kern="0" dirty="0">
                    <a:solidFill>
                      <a:prstClr val="black"/>
                    </a:solidFill>
                    <a:latin typeface="微软雅黑" panose="020B0503020204020204" pitchFamily="34" charset="-122"/>
                    <a:ea typeface="微软雅黑" panose="020B0503020204020204" pitchFamily="34" charset="-122"/>
                  </a:rPr>
                  <a:t>系统的用户都可以拥有自己的用户界面或</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en-US" sz="1600" kern="0" dirty="0">
                    <a:solidFill>
                      <a:prstClr val="black"/>
                    </a:solidFill>
                    <a:latin typeface="微软雅黑" panose="020B0503020204020204" pitchFamily="34" charset="-122"/>
                    <a:ea typeface="微软雅黑" panose="020B0503020204020204" pitchFamily="34" charset="-122"/>
                  </a:rPr>
                  <a:t>，用以满足自己专门的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en-US" sz="1600" kern="0" dirty="0">
                    <a:solidFill>
                      <a:prstClr val="black"/>
                    </a:solidFill>
                    <a:latin typeface="微软雅黑" panose="020B0503020204020204" pitchFamily="34" charset="-122"/>
                    <a:ea typeface="微软雅黑" panose="020B0503020204020204" pitchFamily="34" charset="-122"/>
                  </a:rPr>
                  <a:t>需要，目前主要的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en-US" sz="1600" kern="0" dirty="0">
                    <a:solidFill>
                      <a:prstClr val="black"/>
                    </a:solidFill>
                    <a:latin typeface="微软雅黑" panose="020B0503020204020204" pitchFamily="34" charset="-122"/>
                    <a:ea typeface="微软雅黑" panose="020B0503020204020204" pitchFamily="34" charset="-122"/>
                  </a:rPr>
                  <a:t>版本有。</a:t>
                </a:r>
                <a:endParaRPr lang="en-US" altLang="zh-CN" sz="1600" kern="0" dirty="0">
                  <a:solidFill>
                    <a:prstClr val="black"/>
                  </a:solidFill>
                  <a:latin typeface="微软雅黑" panose="020B0503020204020204" pitchFamily="34" charset="-122"/>
                  <a:ea typeface="微软雅黑" panose="020B0503020204020204" pitchFamily="34" charset="-122"/>
                </a:endParaRPr>
              </a:p>
              <a:p>
                <a:pPr indent="288000" defTabSz="457200">
                  <a:lnSpc>
                    <a:spcPct val="125000"/>
                  </a:lnSpc>
                  <a:spcAft>
                    <a:spcPts val="0"/>
                  </a:spcAft>
                  <a:buFont typeface="Wingdings" panose="05000000000000000000" pitchFamily="2" charset="2"/>
                  <a:buChar char=""/>
                  <a:tabLst>
                    <a:tab pos="533400" algn="l"/>
                  </a:tabLst>
                </a:pPr>
                <a:r>
                  <a:rPr lang="en-US" altLang="zh-CN" sz="1600" kern="0" dirty="0" err="1">
                    <a:solidFill>
                      <a:prstClr val="black"/>
                    </a:solidFill>
                    <a:latin typeface="微软雅黑" panose="020B0503020204020204" pitchFamily="34" charset="-122"/>
                    <a:ea typeface="微软雅黑" panose="020B0503020204020204" pitchFamily="34" charset="-122"/>
                  </a:rPr>
                  <a:t>sh</a:t>
                </a:r>
                <a:r>
                  <a:rPr lang="en-US" altLang="zh-CN" sz="1600" kern="0" dirty="0">
                    <a:solidFill>
                      <a:prstClr val="black"/>
                    </a:solidFill>
                    <a:latin typeface="微软雅黑" panose="020B0503020204020204" pitchFamily="34" charset="-122"/>
                    <a:ea typeface="微软雅黑" panose="020B0503020204020204" pitchFamily="34" charset="-122"/>
                  </a:rPr>
                  <a:t>(</a:t>
                </a:r>
                <a:r>
                  <a:rPr lang="zh-CN" altLang="zh-CN" sz="1600" kern="0" dirty="0">
                    <a:solidFill>
                      <a:prstClr val="black"/>
                    </a:solidFill>
                    <a:latin typeface="微软雅黑" panose="020B0503020204020204" pitchFamily="34" charset="-122"/>
                    <a:ea typeface="微软雅黑" panose="020B0503020204020204" pitchFamily="34" charset="-122"/>
                  </a:rPr>
                  <a:t>全称</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err="1">
                    <a:solidFill>
                      <a:prstClr val="black"/>
                    </a:solidFill>
                    <a:latin typeface="微软雅黑" panose="020B0503020204020204" pitchFamily="34" charset="-122"/>
                    <a:ea typeface="微软雅黑" panose="020B0503020204020204" pitchFamily="34" charset="-122"/>
                    <a:hlinkClick r:id="rId2"/>
                  </a:rPr>
                  <a:t>贝尔实验室</a:t>
                </a:r>
                <a:r>
                  <a:rPr lang="zh-CN" altLang="zh-CN" sz="1600" kern="0" dirty="0">
                    <a:solidFill>
                      <a:prstClr val="black"/>
                    </a:solidFill>
                    <a:latin typeface="微软雅黑" panose="020B0503020204020204" pitchFamily="34" charset="-122"/>
                    <a:ea typeface="微软雅黑" panose="020B0503020204020204" pitchFamily="34" charset="-122"/>
                  </a:rPr>
                  <a:t>开发的。</a:t>
                </a:r>
              </a:p>
              <a:p>
                <a:pPr indent="288000" defTabSz="457200">
                  <a:lnSpc>
                    <a:spcPct val="125000"/>
                  </a:lnSpc>
                  <a:spcAft>
                    <a:spcPts val="0"/>
                  </a:spcAft>
                </a:pP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rPr>
                  <a:t>UNIX</a:t>
                </a:r>
                <a:r>
                  <a:rPr lang="zh-CN" altLang="zh-CN" sz="1600" kern="0" dirty="0">
                    <a:solidFill>
                      <a:prstClr val="black"/>
                    </a:solidFill>
                    <a:latin typeface="微软雅黑" panose="020B0503020204020204" pitchFamily="34" charset="-122"/>
                    <a:ea typeface="微软雅黑" panose="020B0503020204020204" pitchFamily="34" charset="-122"/>
                  </a:rPr>
                  <a:t>最初始的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，并且在每种</a:t>
                </a:r>
                <a:r>
                  <a:rPr lang="en-US" altLang="zh-CN" sz="1600" kern="0" dirty="0">
                    <a:solidFill>
                      <a:prstClr val="black"/>
                    </a:solidFill>
                    <a:latin typeface="微软雅黑" panose="020B0503020204020204" pitchFamily="34" charset="-122"/>
                    <a:ea typeface="微软雅黑" panose="020B0503020204020204" pitchFamily="34" charset="-122"/>
                  </a:rPr>
                  <a:t>UNIX</a:t>
                </a:r>
                <a:r>
                  <a:rPr lang="zh-CN" altLang="zh-CN" sz="1600" kern="0" dirty="0">
                    <a:solidFill>
                      <a:prstClr val="black"/>
                    </a:solidFill>
                    <a:latin typeface="微软雅黑" panose="020B0503020204020204" pitchFamily="34" charset="-122"/>
                    <a:ea typeface="微软雅黑" panose="020B0503020204020204" pitchFamily="34" charset="-122"/>
                  </a:rPr>
                  <a:t>上都可以使用。</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在</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编程方面相当优秀，但在处理与用户的交互方面做得不如其他几种</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a:t>
                </a:r>
              </a:p>
              <a:p>
                <a:pPr indent="288000" defTabSz="457200">
                  <a:lnSpc>
                    <a:spcPct val="125000"/>
                  </a:lnSpc>
                  <a:spcAft>
                    <a:spcPts val="0"/>
                  </a:spcAft>
                  <a:buFont typeface="Wingdings" panose="05000000000000000000" pitchFamily="2" charset="2"/>
                  <a:buChar char=""/>
                  <a:tabLst>
                    <a:tab pos="533400" algn="l"/>
                  </a:tabLst>
                </a:pPr>
                <a:r>
                  <a:rPr lang="en-US" altLang="zh-CN" sz="1600" kern="0" dirty="0">
                    <a:solidFill>
                      <a:prstClr val="black"/>
                    </a:solidFill>
                    <a:latin typeface="微软雅黑" panose="020B0503020204020204" pitchFamily="34" charset="-122"/>
                    <a:ea typeface="微软雅黑" panose="020B0503020204020204" pitchFamily="34" charset="-122"/>
                  </a:rPr>
                  <a:t>BASH</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hlinkClick r:id="rId3"/>
                  </a:rPr>
                  <a:t>GNU</a:t>
                </a:r>
                <a:r>
                  <a:rPr lang="zh-CN" altLang="zh-CN" sz="1600" kern="0" dirty="0">
                    <a:solidFill>
                      <a:prstClr val="black"/>
                    </a:solidFill>
                    <a:latin typeface="微软雅黑" panose="020B0503020204020204" pitchFamily="34" charset="-122"/>
                    <a:ea typeface="微软雅黑" panose="020B0503020204020204" pitchFamily="34" charset="-122"/>
                  </a:rPr>
                  <a:t>的</a:t>
                </a:r>
                <a:r>
                  <a:rPr lang="en-US" altLang="zh-CN" sz="1600" kern="0" dirty="0">
                    <a:solidFill>
                      <a:prstClr val="black"/>
                    </a:solidFill>
                    <a:latin typeface="微软雅黑" panose="020B0503020204020204" pitchFamily="34" charset="-122"/>
                    <a:ea typeface="微软雅黑" panose="020B0503020204020204" pitchFamily="34" charset="-122"/>
                  </a:rPr>
                  <a:t>Bourne Again Shell</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rPr>
                  <a:t>GNU</a:t>
                </a:r>
                <a:r>
                  <a:rPr lang="zh-CN" altLang="zh-CN" sz="1600" kern="0" dirty="0">
                    <a:solidFill>
                      <a:prstClr val="black"/>
                    </a:solidFill>
                    <a:latin typeface="微软雅黑" panose="020B0503020204020204" pitchFamily="34" charset="-122"/>
                    <a:ea typeface="微软雅黑" panose="020B0503020204020204" pitchFamily="34" charset="-122"/>
                  </a:rPr>
                  <a:t>操作系统上默认的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a:t>
                </a:r>
              </a:p>
              <a:p>
                <a:pPr indent="288000" defTabSz="457200">
                  <a:lnSpc>
                    <a:spcPct val="125000"/>
                  </a:lnSpc>
                  <a:spcAft>
                    <a:spcPts val="0"/>
                  </a:spcAft>
                </a:pPr>
                <a:r>
                  <a:rPr lang="zh-CN" altLang="zh-CN" sz="1600" kern="0" dirty="0">
                    <a:solidFill>
                      <a:prstClr val="black"/>
                    </a:solidFill>
                    <a:latin typeface="微软雅黑" panose="020B0503020204020204" pitchFamily="34" charset="-122"/>
                    <a:ea typeface="微软雅黑" panose="020B0503020204020204" pitchFamily="34" charset="-122"/>
                  </a:rPr>
                  <a:t>与</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完全兼容，并且在</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的基础上增加了很多特性。</a:t>
                </a:r>
              </a:p>
              <a:p>
                <a:pPr indent="288000" defTabSz="457200">
                  <a:lnSpc>
                    <a:spcPct val="125000"/>
                  </a:lnSpc>
                  <a:spcAft>
                    <a:spcPts val="0"/>
                  </a:spcAft>
                  <a:buFont typeface="Wingdings" panose="05000000000000000000" pitchFamily="2" charset="2"/>
                  <a:buChar char=""/>
                  <a:tabLst>
                    <a:tab pos="533400" algn="l"/>
                  </a:tabLst>
                </a:pPr>
                <a:r>
                  <a:rPr lang="en-US" altLang="zh-CN" sz="1600" kern="0" dirty="0" err="1">
                    <a:solidFill>
                      <a:prstClr val="black"/>
                    </a:solidFill>
                    <a:latin typeface="微软雅黑" panose="020B0503020204020204" pitchFamily="34" charset="-122"/>
                    <a:ea typeface="微软雅黑" panose="020B0503020204020204" pitchFamily="34" charset="-122"/>
                  </a:rPr>
                  <a:t>Korn</a:t>
                </a:r>
                <a:r>
                  <a:rPr lang="en-US" altLang="zh-CN" sz="1600" kern="0" dirty="0">
                    <a:solidFill>
                      <a:prstClr val="black"/>
                    </a:solidFill>
                    <a:latin typeface="微软雅黑" panose="020B0503020204020204" pitchFamily="34" charset="-122"/>
                    <a:ea typeface="微软雅黑" panose="020B0503020204020204" pitchFamily="34" charset="-122"/>
                  </a:rPr>
                  <a:t> Shell</a:t>
                </a:r>
                <a:r>
                  <a:rPr lang="zh-CN" altLang="zh-CN" sz="1600" kern="0" dirty="0">
                    <a:solidFill>
                      <a:prstClr val="black"/>
                    </a:solidFill>
                    <a:latin typeface="微软雅黑" panose="020B0503020204020204" pitchFamily="34" charset="-122"/>
                    <a:ea typeface="微软雅黑" panose="020B0503020204020204" pitchFamily="34" charset="-122"/>
                  </a:rPr>
                  <a:t>：是对</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的发展，在大部分内容上与</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兼容。</a:t>
                </a:r>
              </a:p>
              <a:p>
                <a:pPr indent="288000" defTabSz="457200">
                  <a:lnSpc>
                    <a:spcPct val="125000"/>
                  </a:lnSpc>
                  <a:spcAft>
                    <a:spcPts val="0"/>
                  </a:spcAft>
                </a:pPr>
                <a:r>
                  <a:rPr lang="en-US" altLang="zh-CN" sz="1600" kern="0" dirty="0" err="1">
                    <a:solidFill>
                      <a:prstClr val="black"/>
                    </a:solidFill>
                    <a:latin typeface="微软雅黑" panose="020B0503020204020204" pitchFamily="34" charset="-122"/>
                    <a:ea typeface="微软雅黑" panose="020B0503020204020204" pitchFamily="34" charset="-122"/>
                  </a:rPr>
                  <a:t>Korn</a:t>
                </a:r>
                <a:r>
                  <a:rPr lang="en-US" altLang="zh-CN" sz="1600" kern="0" dirty="0">
                    <a:solidFill>
                      <a:prstClr val="black"/>
                    </a:solidFill>
                    <a:latin typeface="微软雅黑" panose="020B0503020204020204" pitchFamily="34" charset="-122"/>
                    <a:ea typeface="微软雅黑" panose="020B0503020204020204" pitchFamily="34" charset="-122"/>
                  </a:rPr>
                  <a:t> Shell</a:t>
                </a:r>
                <a:r>
                  <a:rPr lang="zh-CN" altLang="zh-CN" sz="1600" kern="0" dirty="0">
                    <a:solidFill>
                      <a:prstClr val="black"/>
                    </a:solidFill>
                    <a:latin typeface="微软雅黑" panose="020B0503020204020204" pitchFamily="34" charset="-122"/>
                    <a:ea typeface="微软雅黑" panose="020B0503020204020204" pitchFamily="34" charset="-122"/>
                  </a:rPr>
                  <a:t>集合了</a:t>
                </a:r>
                <a:r>
                  <a:rPr lang="en-US" altLang="zh-CN" sz="1600" kern="0" dirty="0">
                    <a:solidFill>
                      <a:prstClr val="black"/>
                    </a:solidFill>
                    <a:latin typeface="微软雅黑" panose="020B0503020204020204" pitchFamily="34" charset="-122"/>
                    <a:ea typeface="微软雅黑" panose="020B0503020204020204" pitchFamily="34" charset="-122"/>
                  </a:rPr>
                  <a:t>C Shell</a:t>
                </a:r>
                <a:r>
                  <a:rPr lang="zh-CN" altLang="zh-CN" sz="1600" kern="0" dirty="0">
                    <a:solidFill>
                      <a:prstClr val="black"/>
                    </a:solidFill>
                    <a:latin typeface="微软雅黑" panose="020B0503020204020204" pitchFamily="34" charset="-122"/>
                    <a:ea typeface="微软雅黑" panose="020B0503020204020204" pitchFamily="34" charset="-122"/>
                  </a:rPr>
                  <a:t>和</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的优点，并且和</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完全兼容。</a:t>
                </a:r>
              </a:p>
              <a:p>
                <a:pPr indent="288000" defTabSz="457200">
                  <a:lnSpc>
                    <a:spcPct val="125000"/>
                  </a:lnSpc>
                  <a:spcAft>
                    <a:spcPts val="0"/>
                  </a:spcAft>
                  <a:buFont typeface="Wingdings" panose="05000000000000000000" pitchFamily="2" charset="2"/>
                  <a:buChar char=""/>
                  <a:tabLst>
                    <a:tab pos="533400" algn="l"/>
                  </a:tabLst>
                </a:pPr>
                <a:r>
                  <a:rPr lang="en-US" altLang="zh-CN" sz="1600" kern="0" dirty="0">
                    <a:solidFill>
                      <a:prstClr val="black"/>
                    </a:solidFill>
                    <a:latin typeface="微软雅黑" panose="020B0503020204020204" pitchFamily="34" charset="-122"/>
                    <a:ea typeface="微软雅黑" panose="020B0503020204020204" pitchFamily="34" charset="-122"/>
                  </a:rPr>
                  <a:t>C Shell</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rPr>
                  <a:t>SUN</a:t>
                </a:r>
                <a:r>
                  <a:rPr lang="zh-CN" altLang="zh-CN" sz="1600" kern="0" dirty="0">
                    <a:solidFill>
                      <a:prstClr val="black"/>
                    </a:solidFill>
                    <a:latin typeface="微软雅黑" panose="020B0503020204020204" pitchFamily="34" charset="-122"/>
                    <a:ea typeface="微软雅黑" panose="020B0503020204020204" pitchFamily="34" charset="-122"/>
                  </a:rPr>
                  <a:t>公司</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的</a:t>
                </a:r>
                <a:r>
                  <a:rPr lang="en-US" altLang="zh-CN" sz="1600" kern="0" dirty="0">
                    <a:solidFill>
                      <a:prstClr val="black"/>
                    </a:solidFill>
                    <a:latin typeface="微软雅黑" panose="020B0503020204020204" pitchFamily="34" charset="-122"/>
                    <a:ea typeface="微软雅黑" panose="020B0503020204020204" pitchFamily="34" charset="-122"/>
                  </a:rPr>
                  <a:t>BSD</a:t>
                </a:r>
                <a:r>
                  <a:rPr lang="zh-CN" altLang="zh-CN" sz="1600" kern="0" dirty="0">
                    <a:solidFill>
                      <a:prstClr val="black"/>
                    </a:solidFill>
                    <a:latin typeface="微软雅黑" panose="020B0503020204020204" pitchFamily="34" charset="-122"/>
                    <a:ea typeface="微软雅黑" panose="020B0503020204020204" pitchFamily="34" charset="-122"/>
                  </a:rPr>
                  <a:t>版本。</a:t>
                </a:r>
              </a:p>
              <a:p>
                <a:pPr indent="288000" defTabSz="457200">
                  <a:lnSpc>
                    <a:spcPct val="125000"/>
                  </a:lnSpc>
                  <a:spcAft>
                    <a:spcPts val="0"/>
                  </a:spcAft>
                </a:pPr>
                <a:r>
                  <a:rPr lang="en-US" altLang="zh-CN" sz="1600" kern="0" dirty="0">
                    <a:solidFill>
                      <a:prstClr val="black"/>
                    </a:solidFill>
                    <a:latin typeface="微软雅黑" panose="020B0503020204020204" pitchFamily="34" charset="-122"/>
                    <a:ea typeface="微软雅黑" panose="020B0503020204020204" pitchFamily="34" charset="-122"/>
                  </a:rPr>
                  <a:t>C Shell</a:t>
                </a:r>
                <a:r>
                  <a:rPr lang="zh-CN" altLang="zh-CN" sz="1600" kern="0" dirty="0">
                    <a:solidFill>
                      <a:prstClr val="black"/>
                    </a:solidFill>
                    <a:latin typeface="微软雅黑" panose="020B0503020204020204" pitchFamily="34" charset="-122"/>
                    <a:ea typeface="微软雅黑" panose="020B0503020204020204" pitchFamily="34" charset="-122"/>
                  </a:rPr>
                  <a:t>是一种比</a:t>
                </a:r>
                <a:r>
                  <a:rPr lang="en-US" altLang="zh-CN" sz="1600" kern="0" dirty="0">
                    <a:solidFill>
                      <a:prstClr val="black"/>
                    </a:solidFill>
                    <a:latin typeface="微软雅黑" panose="020B0503020204020204" pitchFamily="34" charset="-122"/>
                    <a:ea typeface="微软雅黑" panose="020B0503020204020204" pitchFamily="34" charset="-122"/>
                  </a:rPr>
                  <a:t>Bourne Shell</a:t>
                </a:r>
                <a:r>
                  <a:rPr lang="zh-CN" altLang="zh-CN" sz="1600" kern="0" dirty="0">
                    <a:solidFill>
                      <a:prstClr val="black"/>
                    </a:solidFill>
                    <a:latin typeface="微软雅黑" panose="020B0503020204020204" pitchFamily="34" charset="-122"/>
                    <a:ea typeface="微软雅黑" panose="020B0503020204020204" pitchFamily="34" charset="-122"/>
                  </a:rPr>
                  <a:t>更适于编程的</a:t>
                </a:r>
                <a:r>
                  <a:rPr lang="en-US" altLang="zh-CN" sz="1600" kern="0" dirty="0">
                    <a:solidFill>
                      <a:prstClr val="black"/>
                    </a:solidFill>
                    <a:latin typeface="微软雅黑" panose="020B0503020204020204" pitchFamily="34" charset="-122"/>
                    <a:ea typeface="微软雅黑" panose="020B0503020204020204" pitchFamily="34" charset="-122"/>
                  </a:rPr>
                  <a:t>Shell</a:t>
                </a:r>
                <a:r>
                  <a:rPr lang="zh-CN" altLang="zh-CN" sz="1600" kern="0" dirty="0">
                    <a:solidFill>
                      <a:prstClr val="black"/>
                    </a:solidFill>
                    <a:latin typeface="微软雅黑" panose="020B0503020204020204" pitchFamily="34" charset="-122"/>
                    <a:ea typeface="微软雅黑" panose="020B0503020204020204" pitchFamily="34" charset="-122"/>
                  </a:rPr>
                  <a:t>，它的语法与</a:t>
                </a:r>
                <a:r>
                  <a:rPr lang="en-US" altLang="zh-CN" sz="1600" kern="0" dirty="0">
                    <a:solidFill>
                      <a:prstClr val="black"/>
                    </a:solidFill>
                    <a:latin typeface="微软雅黑" panose="020B0503020204020204" pitchFamily="34" charset="-122"/>
                    <a:ea typeface="微软雅黑" panose="020B0503020204020204" pitchFamily="34" charset="-122"/>
                  </a:rPr>
                  <a:t>C</a:t>
                </a:r>
                <a:r>
                  <a:rPr lang="zh-CN" altLang="zh-CN" sz="1600" kern="0" dirty="0">
                    <a:solidFill>
                      <a:prstClr val="black"/>
                    </a:solidFill>
                    <a:latin typeface="微软雅黑" panose="020B0503020204020204" pitchFamily="34" charset="-122"/>
                    <a:ea typeface="微软雅黑" panose="020B0503020204020204" pitchFamily="34" charset="-122"/>
                  </a:rPr>
                  <a:t>语言很相似。</a:t>
                </a:r>
                <a:r>
                  <a:rPr lang="en-US" altLang="zh-CN" sz="1600" kern="0" dirty="0">
                    <a:solidFill>
                      <a:prstClr val="black"/>
                    </a:solidFill>
                    <a:latin typeface="微软雅黑" panose="020B0503020204020204" pitchFamily="34" charset="-122"/>
                    <a:ea typeface="微软雅黑" panose="020B0503020204020204" pitchFamily="34" charset="-122"/>
                  </a:rPr>
                  <a:t>Linux</a:t>
                </a:r>
                <a:r>
                  <a:rPr lang="zh-CN" altLang="zh-CN" sz="1600" kern="0" dirty="0">
                    <a:solidFill>
                      <a:prstClr val="black"/>
                    </a:solidFill>
                    <a:latin typeface="微软雅黑" panose="020B0503020204020204" pitchFamily="34" charset="-122"/>
                    <a:ea typeface="微软雅黑" panose="020B0503020204020204" pitchFamily="34" charset="-122"/>
                  </a:rPr>
                  <a:t>为喜欢使用</a:t>
                </a:r>
                <a:r>
                  <a:rPr lang="en-US" altLang="zh-CN" sz="1600" kern="0" dirty="0">
                    <a:solidFill>
                      <a:prstClr val="black"/>
                    </a:solidFill>
                    <a:latin typeface="微软雅黑" panose="020B0503020204020204" pitchFamily="34" charset="-122"/>
                    <a:ea typeface="微软雅黑" panose="020B0503020204020204" pitchFamily="34" charset="-122"/>
                  </a:rPr>
                  <a:t>C Shell</a:t>
                </a:r>
                <a:r>
                  <a:rPr lang="zh-CN" altLang="zh-CN" sz="1600" kern="0" dirty="0">
                    <a:solidFill>
                      <a:prstClr val="black"/>
                    </a:solidFill>
                    <a:latin typeface="微软雅黑" panose="020B0503020204020204" pitchFamily="34" charset="-122"/>
                    <a:ea typeface="微软雅黑" panose="020B0503020204020204" pitchFamily="34" charset="-122"/>
                  </a:rPr>
                  <a:t>的人员提供了</a:t>
                </a:r>
                <a:r>
                  <a:rPr lang="en-US" altLang="zh-CN" sz="1600" kern="0" dirty="0" err="1">
                    <a:solidFill>
                      <a:prstClr val="black"/>
                    </a:solidFill>
                    <a:latin typeface="微软雅黑" panose="020B0503020204020204" pitchFamily="34" charset="-122"/>
                    <a:ea typeface="微软雅黑" panose="020B0503020204020204" pitchFamily="34" charset="-122"/>
                  </a:rPr>
                  <a:t>Tcsh</a:t>
                </a:r>
                <a:r>
                  <a:rPr lang="zh-CN" altLang="zh-CN" sz="1600" kern="0" dirty="0">
                    <a:solidFill>
                      <a:prstClr val="black"/>
                    </a:solidFill>
                    <a:latin typeface="微软雅黑" panose="020B0503020204020204" pitchFamily="34" charset="-122"/>
                    <a:ea typeface="微软雅黑" panose="020B0503020204020204" pitchFamily="34" charset="-122"/>
                  </a:rPr>
                  <a:t>。</a:t>
                </a:r>
                <a:r>
                  <a:rPr lang="en-US" altLang="zh-CN" sz="1600" kern="0" dirty="0" err="1">
                    <a:solidFill>
                      <a:prstClr val="black"/>
                    </a:solidFill>
                    <a:latin typeface="微软雅黑" panose="020B0503020204020204" pitchFamily="34" charset="-122"/>
                    <a:ea typeface="微软雅黑" panose="020B0503020204020204" pitchFamily="34" charset="-122"/>
                  </a:rPr>
                  <a:t>Tcsh</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rPr>
                  <a:t>C Shell</a:t>
                </a:r>
                <a:r>
                  <a:rPr lang="zh-CN" altLang="zh-CN" sz="1600" kern="0" dirty="0">
                    <a:solidFill>
                      <a:prstClr val="black"/>
                    </a:solidFill>
                    <a:latin typeface="微软雅黑" panose="020B0503020204020204" pitchFamily="34" charset="-122"/>
                    <a:ea typeface="微软雅黑" panose="020B0503020204020204" pitchFamily="34" charset="-122"/>
                  </a:rPr>
                  <a:t>的一个扩展版本。。</a:t>
                </a:r>
              </a:p>
              <a:p>
                <a:pPr indent="288000" defTabSz="457200">
                  <a:lnSpc>
                    <a:spcPct val="125000"/>
                  </a:lnSpc>
                  <a:spcAft>
                    <a:spcPts val="0"/>
                  </a:spcAft>
                  <a:buFont typeface="Wingdings" panose="05000000000000000000" pitchFamily="2" charset="2"/>
                  <a:buChar char=""/>
                  <a:tabLst>
                    <a:tab pos="533400" algn="l"/>
                  </a:tabLst>
                </a:pPr>
                <a:r>
                  <a:rPr lang="en-US" altLang="zh-CN" sz="1600" kern="0" dirty="0" err="1">
                    <a:solidFill>
                      <a:prstClr val="black"/>
                    </a:solidFill>
                    <a:latin typeface="微软雅黑" panose="020B0503020204020204" pitchFamily="34" charset="-122"/>
                    <a:ea typeface="微软雅黑" panose="020B0503020204020204" pitchFamily="34" charset="-122"/>
                  </a:rPr>
                  <a:t>pdksh</a:t>
                </a:r>
                <a:r>
                  <a:rPr lang="zh-CN" altLang="zh-CN" sz="1600" kern="0" dirty="0">
                    <a:solidFill>
                      <a:prstClr val="black"/>
                    </a:solidFill>
                    <a:latin typeface="微软雅黑" panose="020B0503020204020204" pitchFamily="34" charset="-122"/>
                    <a:ea typeface="微软雅黑" panose="020B0503020204020204" pitchFamily="34" charset="-122"/>
                  </a:rPr>
                  <a:t>，是</a:t>
                </a:r>
                <a:r>
                  <a:rPr lang="en-US" altLang="zh-CN" sz="1600" kern="0" dirty="0">
                    <a:solidFill>
                      <a:prstClr val="black"/>
                    </a:solidFill>
                    <a:latin typeface="微软雅黑" panose="020B0503020204020204" pitchFamily="34" charset="-122"/>
                    <a:ea typeface="微软雅黑" panose="020B0503020204020204" pitchFamily="34" charset="-122"/>
                  </a:rPr>
                  <a:t>Linux</a:t>
                </a:r>
                <a:r>
                  <a:rPr lang="zh-CN" altLang="zh-CN" sz="1600" kern="0" dirty="0">
                    <a:solidFill>
                      <a:prstClr val="black"/>
                    </a:solidFill>
                    <a:latin typeface="微软雅黑" panose="020B0503020204020204" pitchFamily="34" charset="-122"/>
                    <a:ea typeface="微软雅黑" panose="020B0503020204020204" pitchFamily="34" charset="-122"/>
                  </a:rPr>
                  <a:t>系统提供的</a:t>
                </a:r>
                <a:r>
                  <a:rPr lang="en-US" altLang="zh-CN" sz="1600" kern="0" dirty="0" err="1">
                    <a:solidFill>
                      <a:prstClr val="black"/>
                    </a:solidFill>
                    <a:latin typeface="微软雅黑" panose="020B0503020204020204" pitchFamily="34" charset="-122"/>
                    <a:ea typeface="微软雅黑" panose="020B0503020204020204" pitchFamily="34" charset="-122"/>
                  </a:rPr>
                  <a:t>ksh</a:t>
                </a:r>
                <a:r>
                  <a:rPr lang="zh-CN" altLang="zh-CN" sz="1600" kern="0" dirty="0">
                    <a:solidFill>
                      <a:prstClr val="black"/>
                    </a:solidFill>
                    <a:latin typeface="微软雅黑" panose="020B0503020204020204" pitchFamily="34" charset="-122"/>
                    <a:ea typeface="微软雅黑" panose="020B0503020204020204" pitchFamily="34" charset="-122"/>
                  </a:rPr>
                  <a:t>的扩展。</a:t>
                </a:r>
              </a:p>
              <a:p>
                <a:pPr indent="288000" defTabSz="457200">
                  <a:lnSpc>
                    <a:spcPct val="125000"/>
                  </a:lnSpc>
                  <a:spcAft>
                    <a:spcPts val="0"/>
                  </a:spcAft>
                </a:pPr>
                <a:r>
                  <a:rPr lang="en-US" altLang="zh-CN" sz="1600" kern="0" dirty="0" err="1">
                    <a:solidFill>
                      <a:prstClr val="black"/>
                    </a:solidFill>
                    <a:latin typeface="微软雅黑" panose="020B0503020204020204" pitchFamily="34" charset="-122"/>
                    <a:ea typeface="微软雅黑" panose="020B0503020204020204" pitchFamily="34" charset="-122"/>
                  </a:rPr>
                  <a:t>pdksh</a:t>
                </a:r>
                <a:r>
                  <a:rPr lang="zh-CN" altLang="zh-CN" sz="1600" kern="0" dirty="0">
                    <a:solidFill>
                      <a:prstClr val="black"/>
                    </a:solidFill>
                    <a:latin typeface="微软雅黑" panose="020B0503020204020204" pitchFamily="34" charset="-122"/>
                    <a:ea typeface="微软雅黑" panose="020B0503020204020204" pitchFamily="34" charset="-122"/>
                  </a:rPr>
                  <a:t>支持人物控制，可以在命令行上挂起，后台执行，唤醒或终止程序。</a:t>
                </a:r>
                <a:endPar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Rectangle 32">
                <a:extLst>
                  <a:ext uri="{FF2B5EF4-FFF2-40B4-BE49-F238E27FC236}">
                    <a16:creationId xmlns:a16="http://schemas.microsoft.com/office/drawing/2014/main" id="{3717499C-B638-4D22-80E7-0240216881B9}"/>
                  </a:ext>
                </a:extLst>
              </p:cNvPr>
              <p:cNvSpPr/>
              <p:nvPr/>
            </p:nvSpPr>
            <p:spPr>
              <a:xfrm>
                <a:off x="233959" y="2311162"/>
                <a:ext cx="4153640" cy="314150"/>
              </a:xfrm>
              <a:prstGeom prst="rect">
                <a:avLst/>
              </a:prstGeom>
            </p:spPr>
            <p:txBody>
              <a:bodyPr wrap="square">
                <a:spAutoFit/>
              </a:bodyPr>
              <a:lstStyle/>
              <a:p>
                <a:pPr lvl="0" algn="r" defTabSz="457200"/>
                <a:r>
                  <a:rPr lang="en-US" altLang="zh-CN"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4.3.2  Linux</a:t>
                </a:r>
                <a:r>
                  <a:rPr lang="zh-CN" altLang="en-US"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文件系统的组织方式</a:t>
                </a:r>
                <a:endParaRPr kumimoji="0" lang="en-US" altLang="zh-CN" sz="1400" b="1" i="0" u="none" strike="noStrike" kern="0" cap="none" spc="0" normalizeH="0" baseline="0" noProof="0" dirty="0">
                  <a:ln>
                    <a:noFill/>
                  </a:ln>
                  <a:solidFill>
                    <a:srgbClr val="083473"/>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Open Sans" pitchFamily="34" charset="0"/>
                </a:endParaRPr>
              </a:p>
            </p:txBody>
          </p:sp>
        </p:grpSp>
        <p:grpSp>
          <p:nvGrpSpPr>
            <p:cNvPr id="17" name="Group 84">
              <a:extLst>
                <a:ext uri="{FF2B5EF4-FFF2-40B4-BE49-F238E27FC236}">
                  <a16:creationId xmlns:a16="http://schemas.microsoft.com/office/drawing/2014/main" id="{938113EA-2FE5-4C1F-8099-9F73E28DE51D}"/>
                </a:ext>
              </a:extLst>
            </p:cNvPr>
            <p:cNvGrpSpPr/>
            <p:nvPr/>
          </p:nvGrpSpPr>
          <p:grpSpPr>
            <a:xfrm>
              <a:off x="3357554" y="2500312"/>
              <a:ext cx="636196" cy="636164"/>
              <a:chOff x="3357554" y="2500312"/>
              <a:chExt cx="636196" cy="636164"/>
            </a:xfrm>
          </p:grpSpPr>
          <p:sp>
            <p:nvSpPr>
              <p:cNvPr id="18" name="Rectangle 22">
                <a:extLst>
                  <a:ext uri="{FF2B5EF4-FFF2-40B4-BE49-F238E27FC236}">
                    <a16:creationId xmlns:a16="http://schemas.microsoft.com/office/drawing/2014/main" id="{04AE72FD-967C-437B-8A3D-62A6EF82D589}"/>
                  </a:ext>
                </a:extLst>
              </p:cNvPr>
              <p:cNvSpPr/>
              <p:nvPr/>
            </p:nvSpPr>
            <p:spPr>
              <a:xfrm>
                <a:off x="3357554" y="2500312"/>
                <a:ext cx="636196" cy="636164"/>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sp>
            <p:nvSpPr>
              <p:cNvPr id="19" name="Freeform 23">
                <a:extLst>
                  <a:ext uri="{FF2B5EF4-FFF2-40B4-BE49-F238E27FC236}">
                    <a16:creationId xmlns:a16="http://schemas.microsoft.com/office/drawing/2014/main" id="{557E44C1-B8C2-4355-8C1D-27427AB38464}"/>
                  </a:ext>
                </a:extLst>
              </p:cNvPr>
              <p:cNvSpPr>
                <a:spLocks noEditPoints="1"/>
              </p:cNvSpPr>
              <p:nvPr/>
            </p:nvSpPr>
            <p:spPr bwMode="auto">
              <a:xfrm>
                <a:off x="3477620" y="2660940"/>
                <a:ext cx="389082" cy="32281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ysClr val="window" lastClr="FFFFFF"/>
              </a:solid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grpSp>
      </p:grpSp>
      <p:sp>
        <p:nvSpPr>
          <p:cNvPr id="33" name="Rectangle 3">
            <a:extLst>
              <a:ext uri="{FF2B5EF4-FFF2-40B4-BE49-F238E27FC236}">
                <a16:creationId xmlns:a16="http://schemas.microsoft.com/office/drawing/2014/main" id="{BC929768-1648-4647-B472-168051F924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4" name="Rectangle 4">
            <a:extLst>
              <a:ext uri="{FF2B5EF4-FFF2-40B4-BE49-F238E27FC236}">
                <a16:creationId xmlns:a16="http://schemas.microsoft.com/office/drawing/2014/main" id="{5DEC7207-EA28-45FF-9F05-C6FEB58BD3A9}"/>
              </a:ext>
            </a:extLst>
          </p:cNvPr>
          <p:cNvSpPr>
            <a:spLocks noChangeArrowheads="1"/>
          </p:cNvSpPr>
          <p:nvPr/>
        </p:nvSpPr>
        <p:spPr bwMode="auto">
          <a:xfrm>
            <a:off x="0" y="21034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866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Righ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15" name="Group 95">
            <a:extLst>
              <a:ext uri="{FF2B5EF4-FFF2-40B4-BE49-F238E27FC236}">
                <a16:creationId xmlns:a16="http://schemas.microsoft.com/office/drawing/2014/main" id="{74E28685-D713-4C9F-8C09-D07007068DB1}"/>
              </a:ext>
            </a:extLst>
          </p:cNvPr>
          <p:cNvGrpSpPr/>
          <p:nvPr/>
        </p:nvGrpSpPr>
        <p:grpSpPr>
          <a:xfrm flipH="1">
            <a:off x="603913" y="1460783"/>
            <a:ext cx="10810080" cy="1019647"/>
            <a:chOff x="-7248933" y="2291623"/>
            <a:chExt cx="11607028" cy="1040761"/>
          </a:xfrm>
        </p:grpSpPr>
        <p:grpSp>
          <p:nvGrpSpPr>
            <p:cNvPr id="16" name="Group 88">
              <a:extLst>
                <a:ext uri="{FF2B5EF4-FFF2-40B4-BE49-F238E27FC236}">
                  <a16:creationId xmlns:a16="http://schemas.microsoft.com/office/drawing/2014/main" id="{0D6DE152-474B-433A-BDD5-D454B5E0A43F}"/>
                </a:ext>
              </a:extLst>
            </p:cNvPr>
            <p:cNvGrpSpPr/>
            <p:nvPr/>
          </p:nvGrpSpPr>
          <p:grpSpPr>
            <a:xfrm>
              <a:off x="-7248933" y="2291623"/>
              <a:ext cx="11607028" cy="1040761"/>
              <a:chOff x="-7248933" y="2291623"/>
              <a:chExt cx="11607028" cy="1040761"/>
            </a:xfrm>
          </p:grpSpPr>
          <p:sp>
            <p:nvSpPr>
              <p:cNvPr id="20" name="Rectangle 31">
                <a:extLst>
                  <a:ext uri="{FF2B5EF4-FFF2-40B4-BE49-F238E27FC236}">
                    <a16:creationId xmlns:a16="http://schemas.microsoft.com/office/drawing/2014/main" id="{72FCBA8D-2A21-48AC-836A-24A34BC0FA13}"/>
                  </a:ext>
                </a:extLst>
              </p:cNvPr>
              <p:cNvSpPr/>
              <p:nvPr/>
            </p:nvSpPr>
            <p:spPr>
              <a:xfrm>
                <a:off x="-7248933" y="2705982"/>
                <a:ext cx="10382391" cy="626402"/>
              </a:xfrm>
              <a:prstGeom prst="rect">
                <a:avLst/>
              </a:prstGeom>
              <a:ln>
                <a:solidFill>
                  <a:schemeClr val="tx1"/>
                </a:solidFill>
                <a:prstDash val="dash"/>
              </a:ln>
            </p:spPr>
            <p:txBody>
              <a:bodyPr wrap="square">
                <a:spAutoFit/>
              </a:bodyPr>
              <a:lstStyle/>
              <a:p>
                <a:pPr lvl="0"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Linux</a:t>
                </a:r>
                <a:r>
                  <a:rPr lang="zh-CN" altLang="en-US" sz="1200" kern="0" dirty="0">
                    <a:solidFill>
                      <a:prstClr val="black"/>
                    </a:solidFill>
                    <a:latin typeface="微软雅黑" panose="020B0503020204020204" pitchFamily="34" charset="-122"/>
                    <a:ea typeface="微软雅黑" panose="020B0503020204020204" pitchFamily="34" charset="-122"/>
                  </a:rPr>
                  <a:t>里有很多的变量，大致可分为三种：环境变量、内部变量和用户变量。用户可以通过这些变量获得系统、环境的信息。</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编程语言中的变量没有类型（即不需要说明变量是数值型还是字符型）。</a:t>
                </a:r>
                <a:endPar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1" name="Rectangle 32">
                <a:extLst>
                  <a:ext uri="{FF2B5EF4-FFF2-40B4-BE49-F238E27FC236}">
                    <a16:creationId xmlns:a16="http://schemas.microsoft.com/office/drawing/2014/main" id="{3717499C-B638-4D22-80E7-0240216881B9}"/>
                  </a:ext>
                </a:extLst>
              </p:cNvPr>
              <p:cNvSpPr/>
              <p:nvPr/>
            </p:nvSpPr>
            <p:spPr>
              <a:xfrm>
                <a:off x="204455" y="2291623"/>
                <a:ext cx="4153640" cy="314150"/>
              </a:xfrm>
              <a:prstGeom prst="rect">
                <a:avLst/>
              </a:prstGeom>
            </p:spPr>
            <p:txBody>
              <a:bodyPr wrap="square">
                <a:spAutoFit/>
              </a:bodyPr>
              <a:lstStyle/>
              <a:p>
                <a:pPr lvl="0" algn="r" defTabSz="457200"/>
                <a:r>
                  <a:rPr lang="en-US" altLang="zh-CN"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4.3.3  Shell</a:t>
                </a:r>
                <a:r>
                  <a:rPr lang="zh-CN" altLang="en-US"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中的变量</a:t>
                </a:r>
                <a:endParaRPr kumimoji="0" lang="en-US" altLang="zh-CN" sz="1400" b="1" i="0" u="none" strike="noStrike" kern="0" cap="none" spc="0" normalizeH="0" baseline="0" noProof="0" dirty="0">
                  <a:ln>
                    <a:noFill/>
                  </a:ln>
                  <a:solidFill>
                    <a:srgbClr val="083473"/>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Open Sans" pitchFamily="34" charset="0"/>
                </a:endParaRPr>
              </a:p>
            </p:txBody>
          </p:sp>
        </p:grpSp>
        <p:grpSp>
          <p:nvGrpSpPr>
            <p:cNvPr id="17" name="Group 84">
              <a:extLst>
                <a:ext uri="{FF2B5EF4-FFF2-40B4-BE49-F238E27FC236}">
                  <a16:creationId xmlns:a16="http://schemas.microsoft.com/office/drawing/2014/main" id="{938113EA-2FE5-4C1F-8099-9F73E28DE51D}"/>
                </a:ext>
              </a:extLst>
            </p:cNvPr>
            <p:cNvGrpSpPr/>
            <p:nvPr/>
          </p:nvGrpSpPr>
          <p:grpSpPr>
            <a:xfrm>
              <a:off x="3357554" y="2500312"/>
              <a:ext cx="636196" cy="636164"/>
              <a:chOff x="3357554" y="2500312"/>
              <a:chExt cx="636196" cy="636164"/>
            </a:xfrm>
          </p:grpSpPr>
          <p:sp>
            <p:nvSpPr>
              <p:cNvPr id="18" name="Rectangle 22">
                <a:extLst>
                  <a:ext uri="{FF2B5EF4-FFF2-40B4-BE49-F238E27FC236}">
                    <a16:creationId xmlns:a16="http://schemas.microsoft.com/office/drawing/2014/main" id="{04AE72FD-967C-437B-8A3D-62A6EF82D589}"/>
                  </a:ext>
                </a:extLst>
              </p:cNvPr>
              <p:cNvSpPr/>
              <p:nvPr/>
            </p:nvSpPr>
            <p:spPr>
              <a:xfrm>
                <a:off x="3357554" y="2500312"/>
                <a:ext cx="636196" cy="636164"/>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sp>
            <p:nvSpPr>
              <p:cNvPr id="19" name="Freeform 23">
                <a:extLst>
                  <a:ext uri="{FF2B5EF4-FFF2-40B4-BE49-F238E27FC236}">
                    <a16:creationId xmlns:a16="http://schemas.microsoft.com/office/drawing/2014/main" id="{557E44C1-B8C2-4355-8C1D-27427AB38464}"/>
                  </a:ext>
                </a:extLst>
              </p:cNvPr>
              <p:cNvSpPr>
                <a:spLocks noEditPoints="1"/>
              </p:cNvSpPr>
              <p:nvPr/>
            </p:nvSpPr>
            <p:spPr bwMode="auto">
              <a:xfrm>
                <a:off x="3477620" y="2660940"/>
                <a:ext cx="389082" cy="32281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ysClr val="window" lastClr="FFFFFF"/>
              </a:solid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grpSp>
      </p:grpSp>
      <p:sp>
        <p:nvSpPr>
          <p:cNvPr id="33" name="Rectangle 3">
            <a:extLst>
              <a:ext uri="{FF2B5EF4-FFF2-40B4-BE49-F238E27FC236}">
                <a16:creationId xmlns:a16="http://schemas.microsoft.com/office/drawing/2014/main" id="{BC929768-1648-4647-B472-168051F924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a:extLst>
              <a:ext uri="{FF2B5EF4-FFF2-40B4-BE49-F238E27FC236}">
                <a16:creationId xmlns:a16="http://schemas.microsoft.com/office/drawing/2014/main" id="{13D6965D-148A-46F5-8505-BD1E24352EA9}"/>
              </a:ext>
            </a:extLst>
          </p:cNvPr>
          <p:cNvSpPr>
            <a:spLocks noChangeArrowheads="1"/>
          </p:cNvSpPr>
          <p:nvPr/>
        </p:nvSpPr>
        <p:spPr bwMode="auto">
          <a:xfrm>
            <a:off x="793049" y="46531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a:ln>
                  <a:noFill/>
                </a:ln>
                <a:solidFill>
                  <a:srgbClr val="4F4F4F"/>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3" name="矩形 2"/>
          <p:cNvSpPr/>
          <p:nvPr/>
        </p:nvSpPr>
        <p:spPr>
          <a:xfrm>
            <a:off x="1763944" y="2604304"/>
            <a:ext cx="9669528" cy="1887696"/>
          </a:xfrm>
          <a:prstGeom prst="rect">
            <a:avLst/>
          </a:prstGeom>
        </p:spPr>
        <p:txBody>
          <a:bodyPr wrap="square">
            <a:spAutoFit/>
          </a:bodyPr>
          <a:lstStyle/>
          <a:p>
            <a:pPr indent="266700">
              <a:lnSpc>
                <a:spcPts val="2000"/>
              </a:lnSpc>
              <a:spcAft>
                <a:spcPts val="0"/>
              </a:spcAft>
            </a:pPr>
            <a:r>
              <a:rPr lang="en-US"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．环境变量</a:t>
            </a:r>
            <a:endParaRPr lang="zh-CN" altLang="zh-CN" sz="1200" b="1"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indent="266700" algn="just">
              <a:lnSpc>
                <a:spcPts val="2000"/>
              </a:lnSpc>
              <a:spcAft>
                <a:spcPts val="0"/>
              </a:spcAft>
            </a:pPr>
            <a:r>
              <a:rPr lang="zh-CN" altLang="zh-CN" sz="1200" kern="100" dirty="0">
                <a:latin typeface="微软雅黑" panose="020B0503020204020204" pitchFamily="34" charset="-122"/>
                <a:ea typeface="微软雅黑" panose="020B0503020204020204" pitchFamily="34" charset="-122"/>
              </a:rPr>
              <a:t>环境变量是系统环境的部分，例如，用户的登录子目录、使用的终端类型等</a:t>
            </a:r>
            <a:r>
              <a:rPr lang="zh-CN" altLang="en-US" sz="1200" kern="100" dirty="0">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常用的</a:t>
            </a:r>
            <a:r>
              <a:rPr lang="en-US" altLang="zh-CN" sz="1200" kern="100" dirty="0">
                <a:latin typeface="微软雅黑" panose="020B0503020204020204" pitchFamily="34" charset="-122"/>
                <a:ea typeface="微软雅黑" panose="020B0503020204020204" pitchFamily="34" charset="-122"/>
              </a:rPr>
              <a:t>Shell</a:t>
            </a:r>
            <a:r>
              <a:rPr lang="zh-CN" altLang="zh-CN" sz="1200" kern="100" dirty="0">
                <a:latin typeface="微软雅黑" panose="020B0503020204020204" pitchFamily="34" charset="-122"/>
                <a:ea typeface="微软雅黑" panose="020B0503020204020204" pitchFamily="34" charset="-122"/>
              </a:rPr>
              <a:t>环境变量如下。</a:t>
            </a:r>
            <a:endParaRPr lang="zh-CN" altLang="zh-CN" sz="1200" dirty="0">
              <a:latin typeface="微软雅黑" panose="020B0503020204020204" pitchFamily="34" charset="-122"/>
              <a:ea typeface="微软雅黑" panose="020B0503020204020204" pitchFamily="34" charset="-122"/>
            </a:endParaRPr>
          </a:p>
          <a:p>
            <a:pPr lvl="0" algn="just">
              <a:lnSpc>
                <a:spcPts val="2000"/>
              </a:lnSpc>
              <a:spcAft>
                <a:spcPts val="0"/>
              </a:spcAft>
              <a:tabLst>
                <a:tab pos="533400" algn="l"/>
              </a:tabLst>
            </a:pPr>
            <a:r>
              <a:rPr lang="en-US" altLang="zh-CN" sz="1200" kern="100" dirty="0">
                <a:latin typeface="微软雅黑" panose="020B0503020204020204" pitchFamily="34" charset="-122"/>
                <a:ea typeface="微软雅黑" panose="020B0503020204020204" pitchFamily="34" charset="-122"/>
              </a:rPr>
              <a:t>       HOME</a:t>
            </a:r>
            <a:r>
              <a:rPr lang="zh-CN" altLang="zh-CN" sz="1200" kern="100" dirty="0">
                <a:latin typeface="微软雅黑" panose="020B0503020204020204" pitchFamily="34" charset="-122"/>
                <a:ea typeface="微软雅黑" panose="020B0503020204020204" pitchFamily="34" charset="-122"/>
              </a:rPr>
              <a:t>：用于保存注册目录的完全路径名。</a:t>
            </a:r>
          </a:p>
          <a:p>
            <a:pPr lvl="0" algn="just">
              <a:lnSpc>
                <a:spcPts val="2000"/>
              </a:lnSpc>
              <a:spcAft>
                <a:spcPts val="0"/>
              </a:spcAft>
              <a:tabLst>
                <a:tab pos="533400" algn="l"/>
              </a:tabLst>
            </a:pPr>
            <a:r>
              <a:rPr lang="en-US" altLang="zh-CN" sz="1200" kern="100" dirty="0">
                <a:latin typeface="微软雅黑" panose="020B0503020204020204" pitchFamily="34" charset="-122"/>
                <a:ea typeface="微软雅黑" panose="020B0503020204020204" pitchFamily="34" charset="-122"/>
              </a:rPr>
              <a:t>       PATH</a:t>
            </a:r>
            <a:r>
              <a:rPr lang="zh-CN" altLang="zh-CN" sz="1200" kern="100" dirty="0">
                <a:latin typeface="微软雅黑" panose="020B0503020204020204" pitchFamily="34" charset="-122"/>
                <a:ea typeface="微软雅黑" panose="020B0503020204020204" pitchFamily="34" charset="-122"/>
              </a:rPr>
              <a:t>：用于保存用冒号分隔的目录路径名。</a:t>
            </a:r>
          </a:p>
          <a:p>
            <a:pPr lvl="0" algn="just">
              <a:lnSpc>
                <a:spcPts val="2000"/>
              </a:lnSpc>
              <a:spcAft>
                <a:spcPts val="0"/>
              </a:spcAft>
              <a:tabLst>
                <a:tab pos="533400" algn="l"/>
              </a:tabLst>
            </a:pPr>
            <a:r>
              <a:rPr lang="en-US" altLang="zh-CN" sz="1200" kern="100" dirty="0">
                <a:latin typeface="微软雅黑" panose="020B0503020204020204" pitchFamily="34" charset="-122"/>
                <a:ea typeface="微软雅黑" panose="020B0503020204020204" pitchFamily="34" charset="-122"/>
              </a:rPr>
              <a:t>       TERM</a:t>
            </a:r>
            <a:r>
              <a:rPr lang="zh-CN" altLang="zh-CN" sz="1200" kern="100" dirty="0">
                <a:latin typeface="微软雅黑" panose="020B0503020204020204" pitchFamily="34" charset="-122"/>
                <a:ea typeface="微软雅黑" panose="020B0503020204020204" pitchFamily="34" charset="-122"/>
              </a:rPr>
              <a:t>：终端的类型。</a:t>
            </a:r>
          </a:p>
          <a:p>
            <a:pPr lvl="0" algn="just">
              <a:lnSpc>
                <a:spcPts val="2000"/>
              </a:lnSpc>
              <a:spcAft>
                <a:spcPts val="0"/>
              </a:spcAft>
              <a:tabLst>
                <a:tab pos="533400" algn="l"/>
              </a:tabLst>
            </a:pPr>
            <a:r>
              <a:rPr lang="en-US" altLang="zh-CN" sz="1200" kern="100" dirty="0">
                <a:latin typeface="微软雅黑" panose="020B0503020204020204" pitchFamily="34" charset="-122"/>
                <a:ea typeface="微软雅黑" panose="020B0503020204020204" pitchFamily="34" charset="-122"/>
              </a:rPr>
              <a:t>       UID</a:t>
            </a:r>
            <a:r>
              <a:rPr lang="zh-CN" altLang="zh-CN" sz="1200" kern="100" dirty="0">
                <a:latin typeface="微软雅黑" panose="020B0503020204020204" pitchFamily="34" charset="-122"/>
                <a:ea typeface="微软雅黑" panose="020B0503020204020204" pitchFamily="34" charset="-122"/>
              </a:rPr>
              <a:t>：当前用户的识别字，取值是由数位构成的字串。</a:t>
            </a:r>
          </a:p>
          <a:p>
            <a:pPr lvl="0" algn="just">
              <a:lnSpc>
                <a:spcPts val="2000"/>
              </a:lnSpc>
              <a:spcAft>
                <a:spcPts val="0"/>
              </a:spcAft>
              <a:tabLst>
                <a:tab pos="533400" algn="l"/>
              </a:tabLst>
            </a:pPr>
            <a:r>
              <a:rPr lang="en-US" altLang="zh-CN" sz="1200" kern="100" dirty="0">
                <a:latin typeface="微软雅黑" panose="020B0503020204020204" pitchFamily="34" charset="-122"/>
                <a:ea typeface="微软雅黑" panose="020B0503020204020204" pitchFamily="34" charset="-122"/>
              </a:rPr>
              <a:t>       PWD</a:t>
            </a:r>
            <a:r>
              <a:rPr lang="zh-CN" altLang="zh-CN" sz="1200" kern="100" dirty="0">
                <a:latin typeface="微软雅黑" panose="020B0503020204020204" pitchFamily="34" charset="-122"/>
                <a:ea typeface="微软雅黑" panose="020B0503020204020204" pitchFamily="34" charset="-122"/>
              </a:rPr>
              <a:t>：当前工作目录的绝对路径名，该变量的取值随</a:t>
            </a:r>
            <a:r>
              <a:rPr lang="en-US" altLang="zh-CN" sz="1200" kern="100" dirty="0">
                <a:latin typeface="微软雅黑" panose="020B0503020204020204" pitchFamily="34" charset="-122"/>
                <a:ea typeface="微软雅黑" panose="020B0503020204020204" pitchFamily="34" charset="-122"/>
              </a:rPr>
              <a:t>cd</a:t>
            </a:r>
            <a:r>
              <a:rPr lang="zh-CN" altLang="zh-CN" sz="1200" kern="100" dirty="0">
                <a:latin typeface="微软雅黑" panose="020B0503020204020204" pitchFamily="34" charset="-122"/>
                <a:ea typeface="微软雅黑" panose="020B0503020204020204" pitchFamily="34" charset="-122"/>
              </a:rPr>
              <a:t>命令的使用而变化。</a:t>
            </a:r>
          </a:p>
        </p:txBody>
      </p:sp>
      <p:sp>
        <p:nvSpPr>
          <p:cNvPr id="5" name="矩形 4"/>
          <p:cNvSpPr/>
          <p:nvPr/>
        </p:nvSpPr>
        <p:spPr>
          <a:xfrm>
            <a:off x="1772973" y="4464493"/>
            <a:ext cx="9804664" cy="1631216"/>
          </a:xfrm>
          <a:prstGeom prst="rect">
            <a:avLst/>
          </a:prstGeom>
        </p:spPr>
        <p:txBody>
          <a:bodyPr wrap="square">
            <a:spAutoFit/>
          </a:bodyPr>
          <a:lstStyle/>
          <a:p>
            <a:pPr indent="266700">
              <a:lnSpc>
                <a:spcPts val="2000"/>
              </a:lnSpc>
            </a:pPr>
            <a:r>
              <a:rPr lang="en-US"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．内部变量</a:t>
            </a:r>
          </a:p>
          <a:p>
            <a:pPr indent="266700">
              <a:lnSpc>
                <a:spcPts val="2000"/>
              </a:lnSpc>
            </a:pPr>
            <a:r>
              <a:rPr lang="zh-CN" altLang="zh-CN" sz="1200" kern="100" dirty="0">
                <a:latin typeface="微软雅黑" panose="020B0503020204020204" pitchFamily="34" charset="-122"/>
                <a:ea typeface="微软雅黑" panose="020B0503020204020204" pitchFamily="34" charset="-122"/>
              </a:rPr>
              <a:t>内部变量是由系统提供的，用户不能修改它们。用户只能根据</a:t>
            </a:r>
            <a:r>
              <a:rPr lang="en-US" altLang="zh-CN" sz="1200" kern="100" dirty="0">
                <a:latin typeface="微软雅黑" panose="020B0503020204020204" pitchFamily="34" charset="-122"/>
                <a:ea typeface="微软雅黑" panose="020B0503020204020204" pitchFamily="34" charset="-122"/>
              </a:rPr>
              <a:t>Shell</a:t>
            </a:r>
            <a:r>
              <a:rPr lang="zh-CN" altLang="zh-CN" sz="1200" kern="100" dirty="0">
                <a:latin typeface="微软雅黑" panose="020B0503020204020204" pitchFamily="34" charset="-122"/>
                <a:ea typeface="微软雅黑" panose="020B0503020204020204" pitchFamily="34" charset="-122"/>
              </a:rPr>
              <a:t>的定义来使用这些变量，而不能重定义它们。所有预定义变量都是由</a:t>
            </a:r>
            <a:r>
              <a:rPr lang="en-US" altLang="zh-CN" sz="1200" kern="100" dirty="0">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符和另一个符号组成的，常用的</a:t>
            </a:r>
            <a:r>
              <a:rPr lang="en-US" altLang="zh-CN" sz="1200" kern="100" dirty="0">
                <a:latin typeface="微软雅黑" panose="020B0503020204020204" pitchFamily="34" charset="-122"/>
                <a:ea typeface="微软雅黑" panose="020B0503020204020204" pitchFamily="34" charset="-122"/>
              </a:rPr>
              <a:t>Shell</a:t>
            </a:r>
            <a:r>
              <a:rPr lang="zh-CN" altLang="zh-CN" sz="1200" kern="100" dirty="0">
                <a:latin typeface="微软雅黑" panose="020B0503020204020204" pitchFamily="34" charset="-122"/>
                <a:ea typeface="微软雅黑" panose="020B0503020204020204" pitchFamily="34" charset="-122"/>
              </a:rPr>
              <a:t>预定义变量如下。</a:t>
            </a:r>
          </a:p>
          <a:p>
            <a:pPr>
              <a:lnSpc>
                <a:spcPts val="2000"/>
              </a:lnSpc>
            </a:pPr>
            <a:r>
              <a:rPr lang="en-US" altLang="zh-CN" sz="1200" kern="100" dirty="0">
                <a:latin typeface="微软雅黑" panose="020B0503020204020204" pitchFamily="34" charset="-122"/>
                <a:ea typeface="微软雅黑" panose="020B0503020204020204" pitchFamily="34" charset="-122"/>
              </a:rPr>
              <a:t>       $#</a:t>
            </a:r>
            <a:r>
              <a:rPr lang="zh-CN" altLang="zh-CN" sz="1200" kern="100" dirty="0">
                <a:latin typeface="微软雅黑" panose="020B0503020204020204" pitchFamily="34" charset="-122"/>
                <a:ea typeface="微软雅黑" panose="020B0503020204020204" pitchFamily="34" charset="-122"/>
              </a:rPr>
              <a:t>：位置参数的数量。</a:t>
            </a:r>
            <a:r>
              <a:rPr lang="en-US" altLang="zh-CN" sz="1200" kern="100" dirty="0">
                <a:latin typeface="微软雅黑" panose="020B0503020204020204" pitchFamily="34" charset="-122"/>
                <a:ea typeface="微软雅黑" panose="020B0503020204020204" pitchFamily="34" charset="-122"/>
              </a:rPr>
              <a:t>                                                 $*</a:t>
            </a:r>
            <a:r>
              <a:rPr lang="zh-CN" altLang="zh-CN" sz="1200" kern="100" dirty="0">
                <a:latin typeface="微软雅黑" panose="020B0503020204020204" pitchFamily="34" charset="-122"/>
                <a:ea typeface="微软雅黑" panose="020B0503020204020204" pitchFamily="34" charset="-122"/>
              </a:rPr>
              <a:t>：所有位置参数的内容。</a:t>
            </a:r>
          </a:p>
          <a:p>
            <a:pPr>
              <a:lnSpc>
                <a:spcPts val="2000"/>
              </a:lnSpc>
            </a:pPr>
            <a:r>
              <a:rPr lang="en-US" altLang="zh-CN" sz="1200" kern="100" dirty="0">
                <a:latin typeface="微软雅黑" panose="020B0503020204020204" pitchFamily="34" charset="-122"/>
                <a:ea typeface="微软雅黑" panose="020B0503020204020204" pitchFamily="34" charset="-122"/>
              </a:rPr>
              <a:t>       $?</a:t>
            </a:r>
            <a:r>
              <a:rPr lang="zh-CN" altLang="zh-CN" sz="1200" kern="100" dirty="0">
                <a:latin typeface="微软雅黑" panose="020B0503020204020204" pitchFamily="34" charset="-122"/>
                <a:ea typeface="微软雅黑" panose="020B0503020204020204" pitchFamily="34" charset="-122"/>
              </a:rPr>
              <a:t>：命令执行后返回的状态。</a:t>
            </a:r>
            <a:r>
              <a:rPr lang="en-US" altLang="zh-CN" sz="1200" kern="100" dirty="0">
                <a:latin typeface="微软雅黑" panose="020B0503020204020204" pitchFamily="34" charset="-122"/>
                <a:ea typeface="微软雅黑" panose="020B0503020204020204" pitchFamily="34" charset="-122"/>
              </a:rPr>
              <a:t>                                       $$</a:t>
            </a:r>
            <a:r>
              <a:rPr lang="zh-CN" altLang="zh-CN" sz="1200" kern="100" dirty="0">
                <a:latin typeface="微软雅黑" panose="020B0503020204020204" pitchFamily="34" charset="-122"/>
                <a:ea typeface="微软雅黑" panose="020B0503020204020204" pitchFamily="34" charset="-122"/>
              </a:rPr>
              <a:t>：当前进程的进程号。</a:t>
            </a:r>
          </a:p>
          <a:p>
            <a:pPr>
              <a:lnSpc>
                <a:spcPts val="2000"/>
              </a:lnSpc>
            </a:pPr>
            <a:r>
              <a:rPr lang="en-US" altLang="zh-CN" sz="1200" kern="100" dirty="0">
                <a:latin typeface="微软雅黑" panose="020B0503020204020204" pitchFamily="34" charset="-122"/>
                <a:ea typeface="微软雅黑" panose="020B0503020204020204" pitchFamily="34" charset="-122"/>
              </a:rPr>
              <a:t>       $!</a:t>
            </a:r>
            <a:r>
              <a:rPr lang="zh-CN" altLang="zh-CN" sz="1200" kern="100" dirty="0">
                <a:latin typeface="微软雅黑" panose="020B0503020204020204" pitchFamily="34" charset="-122"/>
                <a:ea typeface="微软雅黑" panose="020B0503020204020204" pitchFamily="34" charset="-122"/>
              </a:rPr>
              <a:t>：后台运行的最后一个进程号。</a:t>
            </a:r>
            <a:r>
              <a:rPr lang="en-US" altLang="zh-CN" sz="1200" kern="100" dirty="0">
                <a:latin typeface="微软雅黑" panose="020B0503020204020204" pitchFamily="34" charset="-122"/>
                <a:ea typeface="微软雅黑" panose="020B0503020204020204" pitchFamily="34" charset="-122"/>
              </a:rPr>
              <a:t>                                 $0</a:t>
            </a:r>
            <a:r>
              <a:rPr lang="zh-CN" altLang="zh-CN" sz="1200" kern="100" dirty="0">
                <a:latin typeface="微软雅黑" panose="020B0503020204020204" pitchFamily="34" charset="-122"/>
                <a:ea typeface="微软雅黑" panose="020B0503020204020204" pitchFamily="34" charset="-122"/>
              </a:rPr>
              <a:t>：当前执行的进程名。</a:t>
            </a:r>
          </a:p>
        </p:txBody>
      </p:sp>
    </p:spTree>
    <p:extLst>
      <p:ext uri="{BB962C8B-B14F-4D97-AF65-F5344CB8AC3E}">
        <p14:creationId xmlns:p14="http://schemas.microsoft.com/office/powerpoint/2010/main" val="42011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Righ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15" name="Group 95">
            <a:extLst>
              <a:ext uri="{FF2B5EF4-FFF2-40B4-BE49-F238E27FC236}">
                <a16:creationId xmlns:a16="http://schemas.microsoft.com/office/drawing/2014/main" id="{74E28685-D713-4C9F-8C09-D07007068DB1}"/>
              </a:ext>
            </a:extLst>
          </p:cNvPr>
          <p:cNvGrpSpPr/>
          <p:nvPr/>
        </p:nvGrpSpPr>
        <p:grpSpPr>
          <a:xfrm flipH="1">
            <a:off x="603913" y="1460782"/>
            <a:ext cx="3331847" cy="827713"/>
            <a:chOff x="780616" y="2291623"/>
            <a:chExt cx="3577479" cy="844853"/>
          </a:xfrm>
        </p:grpSpPr>
        <p:sp>
          <p:nvSpPr>
            <p:cNvPr id="21" name="Rectangle 32">
              <a:extLst>
                <a:ext uri="{FF2B5EF4-FFF2-40B4-BE49-F238E27FC236}">
                  <a16:creationId xmlns:a16="http://schemas.microsoft.com/office/drawing/2014/main" id="{3717499C-B638-4D22-80E7-0240216881B9}"/>
                </a:ext>
              </a:extLst>
            </p:cNvPr>
            <p:cNvSpPr/>
            <p:nvPr/>
          </p:nvSpPr>
          <p:spPr>
            <a:xfrm>
              <a:off x="780616" y="2291623"/>
              <a:ext cx="3577479" cy="314150"/>
            </a:xfrm>
            <a:prstGeom prst="rect">
              <a:avLst/>
            </a:prstGeom>
          </p:spPr>
          <p:txBody>
            <a:bodyPr wrap="square">
              <a:spAutoFit/>
            </a:bodyPr>
            <a:lstStyle/>
            <a:p>
              <a:pPr lvl="0" algn="r" defTabSz="457200"/>
              <a:r>
                <a:rPr lang="en-US" altLang="zh-CN"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4.3.3  Shell</a:t>
              </a:r>
              <a:r>
                <a:rPr lang="zh-CN" altLang="en-US" sz="1400" b="1" kern="0" dirty="0">
                  <a:solidFill>
                    <a:srgbClr val="08347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pitchFamily="34" charset="0"/>
                </a:rPr>
                <a:t>中的变量</a:t>
              </a:r>
              <a:endParaRPr kumimoji="0" lang="en-US" altLang="zh-CN" sz="1400" b="1" i="0" u="none" strike="noStrike" kern="0" cap="none" spc="0" normalizeH="0" baseline="0" noProof="0" dirty="0">
                <a:ln>
                  <a:noFill/>
                </a:ln>
                <a:solidFill>
                  <a:srgbClr val="083473"/>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Open Sans" pitchFamily="34" charset="0"/>
              </a:endParaRPr>
            </a:p>
          </p:txBody>
        </p:sp>
        <p:grpSp>
          <p:nvGrpSpPr>
            <p:cNvPr id="17" name="Group 84">
              <a:extLst>
                <a:ext uri="{FF2B5EF4-FFF2-40B4-BE49-F238E27FC236}">
                  <a16:creationId xmlns:a16="http://schemas.microsoft.com/office/drawing/2014/main" id="{938113EA-2FE5-4C1F-8099-9F73E28DE51D}"/>
                </a:ext>
              </a:extLst>
            </p:cNvPr>
            <p:cNvGrpSpPr/>
            <p:nvPr/>
          </p:nvGrpSpPr>
          <p:grpSpPr>
            <a:xfrm>
              <a:off x="3357554" y="2500312"/>
              <a:ext cx="636196" cy="636164"/>
              <a:chOff x="3357554" y="2500312"/>
              <a:chExt cx="636196" cy="636164"/>
            </a:xfrm>
          </p:grpSpPr>
          <p:sp>
            <p:nvSpPr>
              <p:cNvPr id="18" name="Rectangle 22">
                <a:extLst>
                  <a:ext uri="{FF2B5EF4-FFF2-40B4-BE49-F238E27FC236}">
                    <a16:creationId xmlns:a16="http://schemas.microsoft.com/office/drawing/2014/main" id="{04AE72FD-967C-437B-8A3D-62A6EF82D589}"/>
                  </a:ext>
                </a:extLst>
              </p:cNvPr>
              <p:cNvSpPr/>
              <p:nvPr/>
            </p:nvSpPr>
            <p:spPr>
              <a:xfrm>
                <a:off x="3357554" y="2500312"/>
                <a:ext cx="636196" cy="636164"/>
              </a:xfrm>
              <a:prstGeom prst="rect">
                <a:avLst/>
              </a:prstGeom>
              <a:solidFill>
                <a:srgbClr val="08347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sp>
            <p:nvSpPr>
              <p:cNvPr id="19" name="Freeform 23">
                <a:extLst>
                  <a:ext uri="{FF2B5EF4-FFF2-40B4-BE49-F238E27FC236}">
                    <a16:creationId xmlns:a16="http://schemas.microsoft.com/office/drawing/2014/main" id="{557E44C1-B8C2-4355-8C1D-27427AB38464}"/>
                  </a:ext>
                </a:extLst>
              </p:cNvPr>
              <p:cNvSpPr>
                <a:spLocks noEditPoints="1"/>
              </p:cNvSpPr>
              <p:nvPr/>
            </p:nvSpPr>
            <p:spPr bwMode="auto">
              <a:xfrm>
                <a:off x="3477620" y="2660940"/>
                <a:ext cx="389082" cy="322810"/>
              </a:xfrm>
              <a:custGeom>
                <a:avLst/>
                <a:gdLst/>
                <a:ahLst/>
                <a:cxnLst>
                  <a:cxn ang="0">
                    <a:pos x="312" y="110"/>
                  </a:cxn>
                  <a:cxn ang="0">
                    <a:pos x="323" y="138"/>
                  </a:cxn>
                  <a:cxn ang="0">
                    <a:pos x="350" y="127"/>
                  </a:cxn>
                  <a:cxn ang="0">
                    <a:pos x="339" y="100"/>
                  </a:cxn>
                  <a:cxn ang="0">
                    <a:pos x="25" y="100"/>
                  </a:cxn>
                  <a:cxn ang="0">
                    <a:pos x="15" y="127"/>
                  </a:cxn>
                  <a:cxn ang="0">
                    <a:pos x="42" y="138"/>
                  </a:cxn>
                  <a:cxn ang="0">
                    <a:pos x="53" y="110"/>
                  </a:cxn>
                  <a:cxn ang="0">
                    <a:pos x="270" y="60"/>
                  </a:cxn>
                  <a:cxn ang="0">
                    <a:pos x="248" y="69"/>
                  </a:cxn>
                  <a:cxn ang="0">
                    <a:pos x="239" y="91"/>
                  </a:cxn>
                  <a:cxn ang="0">
                    <a:pos x="252" y="116"/>
                  </a:cxn>
                  <a:cxn ang="0">
                    <a:pos x="276" y="121"/>
                  </a:cxn>
                  <a:cxn ang="0">
                    <a:pos x="297" y="103"/>
                  </a:cxn>
                  <a:cxn ang="0">
                    <a:pos x="297" y="80"/>
                  </a:cxn>
                  <a:cxn ang="0">
                    <a:pos x="276" y="62"/>
                  </a:cxn>
                  <a:cxn ang="0">
                    <a:pos x="330" y="183"/>
                  </a:cxn>
                  <a:cxn ang="0">
                    <a:pos x="321" y="152"/>
                  </a:cxn>
                  <a:cxn ang="0">
                    <a:pos x="350" y="158"/>
                  </a:cxn>
                  <a:cxn ang="0">
                    <a:pos x="364" y="185"/>
                  </a:cxn>
                  <a:cxn ang="0">
                    <a:pos x="83" y="63"/>
                  </a:cxn>
                  <a:cxn ang="0">
                    <a:pos x="65" y="85"/>
                  </a:cxn>
                  <a:cxn ang="0">
                    <a:pos x="71" y="109"/>
                  </a:cxn>
                  <a:cxn ang="0">
                    <a:pos x="96" y="121"/>
                  </a:cxn>
                  <a:cxn ang="0">
                    <a:pos x="118" y="112"/>
                  </a:cxn>
                  <a:cxn ang="0">
                    <a:pos x="127" y="91"/>
                  </a:cxn>
                  <a:cxn ang="0">
                    <a:pos x="112" y="65"/>
                  </a:cxn>
                  <a:cxn ang="0">
                    <a:pos x="35" y="150"/>
                  </a:cxn>
                  <a:cxn ang="0">
                    <a:pos x="36" y="176"/>
                  </a:cxn>
                  <a:cxn ang="0">
                    <a:pos x="0" y="185"/>
                  </a:cxn>
                  <a:cxn ang="0">
                    <a:pos x="15" y="158"/>
                  </a:cxn>
                  <a:cxn ang="0">
                    <a:pos x="183" y="0"/>
                  </a:cxn>
                  <a:cxn ang="0">
                    <a:pos x="151" y="13"/>
                  </a:cxn>
                  <a:cxn ang="0">
                    <a:pos x="138" y="45"/>
                  </a:cxn>
                  <a:cxn ang="0">
                    <a:pos x="158" y="81"/>
                  </a:cxn>
                  <a:cxn ang="0">
                    <a:pos x="192" y="89"/>
                  </a:cxn>
                  <a:cxn ang="0">
                    <a:pos x="225" y="62"/>
                  </a:cxn>
                  <a:cxn ang="0">
                    <a:pos x="225" y="27"/>
                  </a:cxn>
                  <a:cxn ang="0">
                    <a:pos x="192" y="0"/>
                  </a:cxn>
                  <a:cxn ang="0">
                    <a:pos x="265" y="174"/>
                  </a:cxn>
                  <a:cxn ang="0">
                    <a:pos x="256" y="136"/>
                  </a:cxn>
                  <a:cxn ang="0">
                    <a:pos x="279" y="136"/>
                  </a:cxn>
                  <a:cxn ang="0">
                    <a:pos x="316" y="165"/>
                  </a:cxn>
                  <a:cxn ang="0">
                    <a:pos x="100" y="272"/>
                  </a:cxn>
                  <a:cxn ang="0">
                    <a:pos x="51" y="165"/>
                  </a:cxn>
                  <a:cxn ang="0">
                    <a:pos x="85" y="136"/>
                  </a:cxn>
                  <a:cxn ang="0">
                    <a:pos x="109" y="136"/>
                  </a:cxn>
                  <a:cxn ang="0">
                    <a:pos x="100" y="174"/>
                  </a:cxn>
                  <a:cxn ang="0">
                    <a:pos x="252" y="159"/>
                  </a:cxn>
                  <a:cxn ang="0">
                    <a:pos x="210" y="109"/>
                  </a:cxn>
                  <a:cxn ang="0">
                    <a:pos x="154" y="109"/>
                  </a:cxn>
                  <a:cxn ang="0">
                    <a:pos x="112" y="159"/>
                  </a:cxn>
                </a:cxnLst>
                <a:rect l="0" t="0" r="r" b="b"/>
                <a:pathLst>
                  <a:path w="364" h="301">
                    <a:moveTo>
                      <a:pt x="332" y="98"/>
                    </a:moveTo>
                    <a:lnTo>
                      <a:pt x="332" y="98"/>
                    </a:lnTo>
                    <a:lnTo>
                      <a:pt x="323" y="100"/>
                    </a:lnTo>
                    <a:lnTo>
                      <a:pt x="317" y="105"/>
                    </a:lnTo>
                    <a:lnTo>
                      <a:pt x="312" y="110"/>
                    </a:lnTo>
                    <a:lnTo>
                      <a:pt x="310" y="120"/>
                    </a:lnTo>
                    <a:lnTo>
                      <a:pt x="310" y="120"/>
                    </a:lnTo>
                    <a:lnTo>
                      <a:pt x="312" y="127"/>
                    </a:lnTo>
                    <a:lnTo>
                      <a:pt x="317" y="134"/>
                    </a:lnTo>
                    <a:lnTo>
                      <a:pt x="323" y="138"/>
                    </a:lnTo>
                    <a:lnTo>
                      <a:pt x="332" y="139"/>
                    </a:lnTo>
                    <a:lnTo>
                      <a:pt x="332" y="139"/>
                    </a:lnTo>
                    <a:lnTo>
                      <a:pt x="339" y="138"/>
                    </a:lnTo>
                    <a:lnTo>
                      <a:pt x="346" y="134"/>
                    </a:lnTo>
                    <a:lnTo>
                      <a:pt x="350" y="127"/>
                    </a:lnTo>
                    <a:lnTo>
                      <a:pt x="352" y="120"/>
                    </a:lnTo>
                    <a:lnTo>
                      <a:pt x="352" y="120"/>
                    </a:lnTo>
                    <a:lnTo>
                      <a:pt x="350" y="110"/>
                    </a:lnTo>
                    <a:lnTo>
                      <a:pt x="346" y="105"/>
                    </a:lnTo>
                    <a:lnTo>
                      <a:pt x="339" y="100"/>
                    </a:lnTo>
                    <a:lnTo>
                      <a:pt x="332" y="98"/>
                    </a:lnTo>
                    <a:lnTo>
                      <a:pt x="332" y="98"/>
                    </a:lnTo>
                    <a:close/>
                    <a:moveTo>
                      <a:pt x="35" y="98"/>
                    </a:moveTo>
                    <a:lnTo>
                      <a:pt x="35" y="98"/>
                    </a:lnTo>
                    <a:lnTo>
                      <a:pt x="25" y="100"/>
                    </a:lnTo>
                    <a:lnTo>
                      <a:pt x="20" y="105"/>
                    </a:lnTo>
                    <a:lnTo>
                      <a:pt x="15" y="110"/>
                    </a:lnTo>
                    <a:lnTo>
                      <a:pt x="13" y="120"/>
                    </a:lnTo>
                    <a:lnTo>
                      <a:pt x="13" y="120"/>
                    </a:lnTo>
                    <a:lnTo>
                      <a:pt x="15" y="127"/>
                    </a:lnTo>
                    <a:lnTo>
                      <a:pt x="20" y="134"/>
                    </a:lnTo>
                    <a:lnTo>
                      <a:pt x="25" y="138"/>
                    </a:lnTo>
                    <a:lnTo>
                      <a:pt x="35" y="139"/>
                    </a:lnTo>
                    <a:lnTo>
                      <a:pt x="35" y="139"/>
                    </a:lnTo>
                    <a:lnTo>
                      <a:pt x="42" y="138"/>
                    </a:lnTo>
                    <a:lnTo>
                      <a:pt x="49" y="134"/>
                    </a:lnTo>
                    <a:lnTo>
                      <a:pt x="53" y="127"/>
                    </a:lnTo>
                    <a:lnTo>
                      <a:pt x="54" y="120"/>
                    </a:lnTo>
                    <a:lnTo>
                      <a:pt x="54" y="120"/>
                    </a:lnTo>
                    <a:lnTo>
                      <a:pt x="53" y="110"/>
                    </a:lnTo>
                    <a:lnTo>
                      <a:pt x="49" y="105"/>
                    </a:lnTo>
                    <a:lnTo>
                      <a:pt x="42" y="100"/>
                    </a:lnTo>
                    <a:lnTo>
                      <a:pt x="35" y="98"/>
                    </a:lnTo>
                    <a:lnTo>
                      <a:pt x="35" y="98"/>
                    </a:lnTo>
                    <a:close/>
                    <a:moveTo>
                      <a:pt x="270" y="60"/>
                    </a:moveTo>
                    <a:lnTo>
                      <a:pt x="270" y="60"/>
                    </a:lnTo>
                    <a:lnTo>
                      <a:pt x="263" y="62"/>
                    </a:lnTo>
                    <a:lnTo>
                      <a:pt x="258" y="63"/>
                    </a:lnTo>
                    <a:lnTo>
                      <a:pt x="252" y="65"/>
                    </a:lnTo>
                    <a:lnTo>
                      <a:pt x="248" y="69"/>
                    </a:lnTo>
                    <a:lnTo>
                      <a:pt x="245" y="74"/>
                    </a:lnTo>
                    <a:lnTo>
                      <a:pt x="241" y="80"/>
                    </a:lnTo>
                    <a:lnTo>
                      <a:pt x="239" y="85"/>
                    </a:lnTo>
                    <a:lnTo>
                      <a:pt x="239" y="91"/>
                    </a:lnTo>
                    <a:lnTo>
                      <a:pt x="239" y="91"/>
                    </a:lnTo>
                    <a:lnTo>
                      <a:pt x="239" y="98"/>
                    </a:lnTo>
                    <a:lnTo>
                      <a:pt x="241" y="103"/>
                    </a:lnTo>
                    <a:lnTo>
                      <a:pt x="245" y="109"/>
                    </a:lnTo>
                    <a:lnTo>
                      <a:pt x="248" y="112"/>
                    </a:lnTo>
                    <a:lnTo>
                      <a:pt x="252" y="116"/>
                    </a:lnTo>
                    <a:lnTo>
                      <a:pt x="258" y="120"/>
                    </a:lnTo>
                    <a:lnTo>
                      <a:pt x="263" y="121"/>
                    </a:lnTo>
                    <a:lnTo>
                      <a:pt x="270" y="121"/>
                    </a:lnTo>
                    <a:lnTo>
                      <a:pt x="270" y="121"/>
                    </a:lnTo>
                    <a:lnTo>
                      <a:pt x="276" y="121"/>
                    </a:lnTo>
                    <a:lnTo>
                      <a:pt x="281" y="120"/>
                    </a:lnTo>
                    <a:lnTo>
                      <a:pt x="287" y="116"/>
                    </a:lnTo>
                    <a:lnTo>
                      <a:pt x="292" y="112"/>
                    </a:lnTo>
                    <a:lnTo>
                      <a:pt x="296" y="109"/>
                    </a:lnTo>
                    <a:lnTo>
                      <a:pt x="297" y="103"/>
                    </a:lnTo>
                    <a:lnTo>
                      <a:pt x="299" y="98"/>
                    </a:lnTo>
                    <a:lnTo>
                      <a:pt x="301" y="91"/>
                    </a:lnTo>
                    <a:lnTo>
                      <a:pt x="301" y="91"/>
                    </a:lnTo>
                    <a:lnTo>
                      <a:pt x="299" y="85"/>
                    </a:lnTo>
                    <a:lnTo>
                      <a:pt x="297" y="80"/>
                    </a:lnTo>
                    <a:lnTo>
                      <a:pt x="296" y="74"/>
                    </a:lnTo>
                    <a:lnTo>
                      <a:pt x="292" y="69"/>
                    </a:lnTo>
                    <a:lnTo>
                      <a:pt x="287" y="65"/>
                    </a:lnTo>
                    <a:lnTo>
                      <a:pt x="281" y="63"/>
                    </a:lnTo>
                    <a:lnTo>
                      <a:pt x="276" y="62"/>
                    </a:lnTo>
                    <a:lnTo>
                      <a:pt x="270" y="60"/>
                    </a:lnTo>
                    <a:lnTo>
                      <a:pt x="270" y="60"/>
                    </a:lnTo>
                    <a:close/>
                    <a:moveTo>
                      <a:pt x="364" y="248"/>
                    </a:moveTo>
                    <a:lnTo>
                      <a:pt x="330" y="248"/>
                    </a:lnTo>
                    <a:lnTo>
                      <a:pt x="330" y="183"/>
                    </a:lnTo>
                    <a:lnTo>
                      <a:pt x="330" y="183"/>
                    </a:lnTo>
                    <a:lnTo>
                      <a:pt x="330" y="176"/>
                    </a:lnTo>
                    <a:lnTo>
                      <a:pt x="328" y="167"/>
                    </a:lnTo>
                    <a:lnTo>
                      <a:pt x="321" y="152"/>
                    </a:lnTo>
                    <a:lnTo>
                      <a:pt x="321" y="152"/>
                    </a:lnTo>
                    <a:lnTo>
                      <a:pt x="332" y="150"/>
                    </a:lnTo>
                    <a:lnTo>
                      <a:pt x="332" y="150"/>
                    </a:lnTo>
                    <a:lnTo>
                      <a:pt x="337" y="152"/>
                    </a:lnTo>
                    <a:lnTo>
                      <a:pt x="345" y="154"/>
                    </a:lnTo>
                    <a:lnTo>
                      <a:pt x="350" y="158"/>
                    </a:lnTo>
                    <a:lnTo>
                      <a:pt x="355" y="161"/>
                    </a:lnTo>
                    <a:lnTo>
                      <a:pt x="359" y="167"/>
                    </a:lnTo>
                    <a:lnTo>
                      <a:pt x="363" y="172"/>
                    </a:lnTo>
                    <a:lnTo>
                      <a:pt x="364" y="178"/>
                    </a:lnTo>
                    <a:lnTo>
                      <a:pt x="364" y="185"/>
                    </a:lnTo>
                    <a:lnTo>
                      <a:pt x="364" y="248"/>
                    </a:lnTo>
                    <a:close/>
                    <a:moveTo>
                      <a:pt x="96" y="60"/>
                    </a:moveTo>
                    <a:lnTo>
                      <a:pt x="96" y="60"/>
                    </a:lnTo>
                    <a:lnTo>
                      <a:pt x="89" y="62"/>
                    </a:lnTo>
                    <a:lnTo>
                      <a:pt x="83" y="63"/>
                    </a:lnTo>
                    <a:lnTo>
                      <a:pt x="78" y="65"/>
                    </a:lnTo>
                    <a:lnTo>
                      <a:pt x="74" y="69"/>
                    </a:lnTo>
                    <a:lnTo>
                      <a:pt x="71" y="74"/>
                    </a:lnTo>
                    <a:lnTo>
                      <a:pt x="67" y="80"/>
                    </a:lnTo>
                    <a:lnTo>
                      <a:pt x="65" y="85"/>
                    </a:lnTo>
                    <a:lnTo>
                      <a:pt x="65" y="91"/>
                    </a:lnTo>
                    <a:lnTo>
                      <a:pt x="65" y="91"/>
                    </a:lnTo>
                    <a:lnTo>
                      <a:pt x="65" y="98"/>
                    </a:lnTo>
                    <a:lnTo>
                      <a:pt x="67" y="103"/>
                    </a:lnTo>
                    <a:lnTo>
                      <a:pt x="71" y="109"/>
                    </a:lnTo>
                    <a:lnTo>
                      <a:pt x="74" y="112"/>
                    </a:lnTo>
                    <a:lnTo>
                      <a:pt x="78" y="116"/>
                    </a:lnTo>
                    <a:lnTo>
                      <a:pt x="83" y="120"/>
                    </a:lnTo>
                    <a:lnTo>
                      <a:pt x="89" y="121"/>
                    </a:lnTo>
                    <a:lnTo>
                      <a:pt x="96" y="121"/>
                    </a:lnTo>
                    <a:lnTo>
                      <a:pt x="96" y="121"/>
                    </a:lnTo>
                    <a:lnTo>
                      <a:pt x="102" y="121"/>
                    </a:lnTo>
                    <a:lnTo>
                      <a:pt x="107" y="120"/>
                    </a:lnTo>
                    <a:lnTo>
                      <a:pt x="112" y="116"/>
                    </a:lnTo>
                    <a:lnTo>
                      <a:pt x="118" y="112"/>
                    </a:lnTo>
                    <a:lnTo>
                      <a:pt x="122" y="109"/>
                    </a:lnTo>
                    <a:lnTo>
                      <a:pt x="123" y="103"/>
                    </a:lnTo>
                    <a:lnTo>
                      <a:pt x="125" y="98"/>
                    </a:lnTo>
                    <a:lnTo>
                      <a:pt x="127" y="91"/>
                    </a:lnTo>
                    <a:lnTo>
                      <a:pt x="127" y="91"/>
                    </a:lnTo>
                    <a:lnTo>
                      <a:pt x="125" y="85"/>
                    </a:lnTo>
                    <a:lnTo>
                      <a:pt x="123" y="80"/>
                    </a:lnTo>
                    <a:lnTo>
                      <a:pt x="122" y="74"/>
                    </a:lnTo>
                    <a:lnTo>
                      <a:pt x="118" y="69"/>
                    </a:lnTo>
                    <a:lnTo>
                      <a:pt x="112" y="65"/>
                    </a:lnTo>
                    <a:lnTo>
                      <a:pt x="107" y="63"/>
                    </a:lnTo>
                    <a:lnTo>
                      <a:pt x="102" y="62"/>
                    </a:lnTo>
                    <a:lnTo>
                      <a:pt x="96" y="60"/>
                    </a:lnTo>
                    <a:lnTo>
                      <a:pt x="96" y="60"/>
                    </a:lnTo>
                    <a:close/>
                    <a:moveTo>
                      <a:pt x="35" y="150"/>
                    </a:moveTo>
                    <a:lnTo>
                      <a:pt x="35" y="150"/>
                    </a:lnTo>
                    <a:lnTo>
                      <a:pt x="44" y="152"/>
                    </a:lnTo>
                    <a:lnTo>
                      <a:pt x="44" y="152"/>
                    </a:lnTo>
                    <a:lnTo>
                      <a:pt x="38" y="167"/>
                    </a:lnTo>
                    <a:lnTo>
                      <a:pt x="36" y="176"/>
                    </a:lnTo>
                    <a:lnTo>
                      <a:pt x="35" y="183"/>
                    </a:lnTo>
                    <a:lnTo>
                      <a:pt x="35" y="248"/>
                    </a:lnTo>
                    <a:lnTo>
                      <a:pt x="0" y="248"/>
                    </a:lnTo>
                    <a:lnTo>
                      <a:pt x="0" y="185"/>
                    </a:lnTo>
                    <a:lnTo>
                      <a:pt x="0" y="185"/>
                    </a:lnTo>
                    <a:lnTo>
                      <a:pt x="0" y="178"/>
                    </a:lnTo>
                    <a:lnTo>
                      <a:pt x="2" y="172"/>
                    </a:lnTo>
                    <a:lnTo>
                      <a:pt x="6" y="167"/>
                    </a:lnTo>
                    <a:lnTo>
                      <a:pt x="9" y="161"/>
                    </a:lnTo>
                    <a:lnTo>
                      <a:pt x="15" y="158"/>
                    </a:lnTo>
                    <a:lnTo>
                      <a:pt x="20" y="154"/>
                    </a:lnTo>
                    <a:lnTo>
                      <a:pt x="27" y="152"/>
                    </a:lnTo>
                    <a:lnTo>
                      <a:pt x="35" y="150"/>
                    </a:lnTo>
                    <a:lnTo>
                      <a:pt x="35" y="150"/>
                    </a:lnTo>
                    <a:close/>
                    <a:moveTo>
                      <a:pt x="183" y="0"/>
                    </a:moveTo>
                    <a:lnTo>
                      <a:pt x="183" y="0"/>
                    </a:lnTo>
                    <a:lnTo>
                      <a:pt x="174" y="0"/>
                    </a:lnTo>
                    <a:lnTo>
                      <a:pt x="165" y="4"/>
                    </a:lnTo>
                    <a:lnTo>
                      <a:pt x="158" y="7"/>
                    </a:lnTo>
                    <a:lnTo>
                      <a:pt x="151" y="13"/>
                    </a:lnTo>
                    <a:lnTo>
                      <a:pt x="145" y="20"/>
                    </a:lnTo>
                    <a:lnTo>
                      <a:pt x="141" y="27"/>
                    </a:lnTo>
                    <a:lnTo>
                      <a:pt x="138" y="36"/>
                    </a:lnTo>
                    <a:lnTo>
                      <a:pt x="138" y="45"/>
                    </a:lnTo>
                    <a:lnTo>
                      <a:pt x="138" y="45"/>
                    </a:lnTo>
                    <a:lnTo>
                      <a:pt x="138" y="54"/>
                    </a:lnTo>
                    <a:lnTo>
                      <a:pt x="141" y="62"/>
                    </a:lnTo>
                    <a:lnTo>
                      <a:pt x="145" y="71"/>
                    </a:lnTo>
                    <a:lnTo>
                      <a:pt x="151" y="76"/>
                    </a:lnTo>
                    <a:lnTo>
                      <a:pt x="158" y="81"/>
                    </a:lnTo>
                    <a:lnTo>
                      <a:pt x="165" y="87"/>
                    </a:lnTo>
                    <a:lnTo>
                      <a:pt x="174" y="89"/>
                    </a:lnTo>
                    <a:lnTo>
                      <a:pt x="183" y="91"/>
                    </a:lnTo>
                    <a:lnTo>
                      <a:pt x="183" y="91"/>
                    </a:lnTo>
                    <a:lnTo>
                      <a:pt x="192" y="89"/>
                    </a:lnTo>
                    <a:lnTo>
                      <a:pt x="200" y="87"/>
                    </a:lnTo>
                    <a:lnTo>
                      <a:pt x="209" y="81"/>
                    </a:lnTo>
                    <a:lnTo>
                      <a:pt x="214" y="76"/>
                    </a:lnTo>
                    <a:lnTo>
                      <a:pt x="219" y="71"/>
                    </a:lnTo>
                    <a:lnTo>
                      <a:pt x="225" y="62"/>
                    </a:lnTo>
                    <a:lnTo>
                      <a:pt x="227" y="54"/>
                    </a:lnTo>
                    <a:lnTo>
                      <a:pt x="229" y="45"/>
                    </a:lnTo>
                    <a:lnTo>
                      <a:pt x="229" y="45"/>
                    </a:lnTo>
                    <a:lnTo>
                      <a:pt x="227" y="36"/>
                    </a:lnTo>
                    <a:lnTo>
                      <a:pt x="225" y="27"/>
                    </a:lnTo>
                    <a:lnTo>
                      <a:pt x="219" y="20"/>
                    </a:lnTo>
                    <a:lnTo>
                      <a:pt x="214" y="13"/>
                    </a:lnTo>
                    <a:lnTo>
                      <a:pt x="209" y="7"/>
                    </a:lnTo>
                    <a:lnTo>
                      <a:pt x="200" y="4"/>
                    </a:lnTo>
                    <a:lnTo>
                      <a:pt x="192" y="0"/>
                    </a:lnTo>
                    <a:lnTo>
                      <a:pt x="183" y="0"/>
                    </a:lnTo>
                    <a:lnTo>
                      <a:pt x="183" y="0"/>
                    </a:lnTo>
                    <a:close/>
                    <a:moveTo>
                      <a:pt x="319" y="272"/>
                    </a:moveTo>
                    <a:lnTo>
                      <a:pt x="265" y="272"/>
                    </a:lnTo>
                    <a:lnTo>
                      <a:pt x="265" y="174"/>
                    </a:lnTo>
                    <a:lnTo>
                      <a:pt x="265" y="174"/>
                    </a:lnTo>
                    <a:lnTo>
                      <a:pt x="265" y="163"/>
                    </a:lnTo>
                    <a:lnTo>
                      <a:pt x="263" y="154"/>
                    </a:lnTo>
                    <a:lnTo>
                      <a:pt x="259" y="145"/>
                    </a:lnTo>
                    <a:lnTo>
                      <a:pt x="256" y="136"/>
                    </a:lnTo>
                    <a:lnTo>
                      <a:pt x="256" y="136"/>
                    </a:lnTo>
                    <a:lnTo>
                      <a:pt x="263" y="134"/>
                    </a:lnTo>
                    <a:lnTo>
                      <a:pt x="270" y="134"/>
                    </a:lnTo>
                    <a:lnTo>
                      <a:pt x="270" y="134"/>
                    </a:lnTo>
                    <a:lnTo>
                      <a:pt x="279" y="136"/>
                    </a:lnTo>
                    <a:lnTo>
                      <a:pt x="288" y="138"/>
                    </a:lnTo>
                    <a:lnTo>
                      <a:pt x="297" y="143"/>
                    </a:lnTo>
                    <a:lnTo>
                      <a:pt x="305" y="149"/>
                    </a:lnTo>
                    <a:lnTo>
                      <a:pt x="310" y="156"/>
                    </a:lnTo>
                    <a:lnTo>
                      <a:pt x="316" y="165"/>
                    </a:lnTo>
                    <a:lnTo>
                      <a:pt x="317" y="174"/>
                    </a:lnTo>
                    <a:lnTo>
                      <a:pt x="319" y="183"/>
                    </a:lnTo>
                    <a:lnTo>
                      <a:pt x="319" y="272"/>
                    </a:lnTo>
                    <a:close/>
                    <a:moveTo>
                      <a:pt x="100" y="174"/>
                    </a:moveTo>
                    <a:lnTo>
                      <a:pt x="100" y="272"/>
                    </a:lnTo>
                    <a:lnTo>
                      <a:pt x="45" y="272"/>
                    </a:lnTo>
                    <a:lnTo>
                      <a:pt x="45" y="183"/>
                    </a:lnTo>
                    <a:lnTo>
                      <a:pt x="45" y="183"/>
                    </a:lnTo>
                    <a:lnTo>
                      <a:pt x="47" y="174"/>
                    </a:lnTo>
                    <a:lnTo>
                      <a:pt x="51" y="165"/>
                    </a:lnTo>
                    <a:lnTo>
                      <a:pt x="54" y="156"/>
                    </a:lnTo>
                    <a:lnTo>
                      <a:pt x="60" y="149"/>
                    </a:lnTo>
                    <a:lnTo>
                      <a:pt x="67" y="143"/>
                    </a:lnTo>
                    <a:lnTo>
                      <a:pt x="76" y="138"/>
                    </a:lnTo>
                    <a:lnTo>
                      <a:pt x="85" y="136"/>
                    </a:lnTo>
                    <a:lnTo>
                      <a:pt x="96" y="134"/>
                    </a:lnTo>
                    <a:lnTo>
                      <a:pt x="96" y="134"/>
                    </a:lnTo>
                    <a:lnTo>
                      <a:pt x="103" y="134"/>
                    </a:lnTo>
                    <a:lnTo>
                      <a:pt x="109" y="136"/>
                    </a:lnTo>
                    <a:lnTo>
                      <a:pt x="109" y="136"/>
                    </a:lnTo>
                    <a:lnTo>
                      <a:pt x="105" y="145"/>
                    </a:lnTo>
                    <a:lnTo>
                      <a:pt x="102" y="154"/>
                    </a:lnTo>
                    <a:lnTo>
                      <a:pt x="100" y="163"/>
                    </a:lnTo>
                    <a:lnTo>
                      <a:pt x="100" y="174"/>
                    </a:lnTo>
                    <a:lnTo>
                      <a:pt x="100" y="174"/>
                    </a:lnTo>
                    <a:close/>
                    <a:moveTo>
                      <a:pt x="111" y="301"/>
                    </a:moveTo>
                    <a:lnTo>
                      <a:pt x="254" y="301"/>
                    </a:lnTo>
                    <a:lnTo>
                      <a:pt x="254" y="174"/>
                    </a:lnTo>
                    <a:lnTo>
                      <a:pt x="254" y="174"/>
                    </a:lnTo>
                    <a:lnTo>
                      <a:pt x="252" y="159"/>
                    </a:lnTo>
                    <a:lnTo>
                      <a:pt x="248" y="145"/>
                    </a:lnTo>
                    <a:lnTo>
                      <a:pt x="241" y="134"/>
                    </a:lnTo>
                    <a:lnTo>
                      <a:pt x="232" y="123"/>
                    </a:lnTo>
                    <a:lnTo>
                      <a:pt x="223" y="114"/>
                    </a:lnTo>
                    <a:lnTo>
                      <a:pt x="210" y="109"/>
                    </a:lnTo>
                    <a:lnTo>
                      <a:pt x="198" y="103"/>
                    </a:lnTo>
                    <a:lnTo>
                      <a:pt x="183" y="101"/>
                    </a:lnTo>
                    <a:lnTo>
                      <a:pt x="183" y="101"/>
                    </a:lnTo>
                    <a:lnTo>
                      <a:pt x="169" y="103"/>
                    </a:lnTo>
                    <a:lnTo>
                      <a:pt x="154" y="109"/>
                    </a:lnTo>
                    <a:lnTo>
                      <a:pt x="143" y="114"/>
                    </a:lnTo>
                    <a:lnTo>
                      <a:pt x="132" y="123"/>
                    </a:lnTo>
                    <a:lnTo>
                      <a:pt x="123" y="134"/>
                    </a:lnTo>
                    <a:lnTo>
                      <a:pt x="116" y="145"/>
                    </a:lnTo>
                    <a:lnTo>
                      <a:pt x="112" y="159"/>
                    </a:lnTo>
                    <a:lnTo>
                      <a:pt x="111" y="174"/>
                    </a:lnTo>
                    <a:lnTo>
                      <a:pt x="111" y="301"/>
                    </a:lnTo>
                    <a:close/>
                  </a:path>
                </a:pathLst>
              </a:custGeom>
              <a:solidFill>
                <a:sysClr val="window" lastClr="FFFFFF"/>
              </a:solid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endParaRPr>
              </a:p>
            </p:txBody>
          </p:sp>
        </p:grpSp>
      </p:grpSp>
      <p:sp>
        <p:nvSpPr>
          <p:cNvPr id="33" name="Rectangle 3">
            <a:extLst>
              <a:ext uri="{FF2B5EF4-FFF2-40B4-BE49-F238E27FC236}">
                <a16:creationId xmlns:a16="http://schemas.microsoft.com/office/drawing/2014/main" id="{BC929768-1648-4647-B472-168051F924F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a:extLst>
              <a:ext uri="{FF2B5EF4-FFF2-40B4-BE49-F238E27FC236}">
                <a16:creationId xmlns:a16="http://schemas.microsoft.com/office/drawing/2014/main" id="{13D6965D-148A-46F5-8505-BD1E24352EA9}"/>
              </a:ext>
            </a:extLst>
          </p:cNvPr>
          <p:cNvSpPr>
            <a:spLocks noChangeArrowheads="1"/>
          </p:cNvSpPr>
          <p:nvPr/>
        </p:nvSpPr>
        <p:spPr bwMode="auto">
          <a:xfrm>
            <a:off x="758528" y="458828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27000" algn="ctr"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a:ln>
                  <a:noFill/>
                </a:ln>
                <a:solidFill>
                  <a:srgbClr val="4F4F4F"/>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3" name="矩形 2"/>
          <p:cNvSpPr/>
          <p:nvPr/>
        </p:nvSpPr>
        <p:spPr>
          <a:xfrm>
            <a:off x="1808334" y="1852773"/>
            <a:ext cx="9669528" cy="1631216"/>
          </a:xfrm>
          <a:prstGeom prst="rect">
            <a:avLst/>
          </a:prstGeom>
        </p:spPr>
        <p:txBody>
          <a:bodyPr wrap="square">
            <a:spAutoFit/>
          </a:bodyPr>
          <a:lstStyle/>
          <a:p>
            <a:pPr indent="266700">
              <a:lnSpc>
                <a:spcPts val="2000"/>
              </a:lnSpc>
              <a:spcAft>
                <a:spcPts val="0"/>
              </a:spcAft>
            </a:pPr>
            <a:r>
              <a:rPr lang="en-US"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a:t>
            </a:r>
            <a:r>
              <a:rPr lang="zh-CN" altLang="en-US"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．用户变量</a:t>
            </a:r>
          </a:p>
          <a:p>
            <a:pPr indent="266700">
              <a:lnSpc>
                <a:spcPts val="2000"/>
              </a:lnSpc>
              <a:spcAft>
                <a:spcPts val="0"/>
              </a:spcAft>
            </a:pPr>
            <a:r>
              <a:rPr lang="zh-CN" altLang="en-US" sz="1200" kern="100" dirty="0">
                <a:latin typeface="微软雅黑" panose="020B0503020204020204" pitchFamily="34" charset="-122"/>
                <a:ea typeface="微软雅黑" panose="020B0503020204020204" pitchFamily="34" charset="-122"/>
              </a:rPr>
              <a:t>用户变量是用户在编写</a:t>
            </a:r>
            <a:r>
              <a:rPr lang="en-US" altLang="zh-CN" sz="1200" kern="100" dirty="0">
                <a:latin typeface="微软雅黑" panose="020B0503020204020204" pitchFamily="34" charset="-122"/>
                <a:ea typeface="微软雅黑" panose="020B0503020204020204" pitchFamily="34" charset="-122"/>
              </a:rPr>
              <a:t>Shell</a:t>
            </a:r>
            <a:r>
              <a:rPr lang="zh-CN" altLang="en-US" sz="1200" kern="100" dirty="0">
                <a:latin typeface="微软雅黑" panose="020B0503020204020204" pitchFamily="34" charset="-122"/>
                <a:ea typeface="微软雅黑" panose="020B0503020204020204" pitchFamily="34" charset="-122"/>
              </a:rPr>
              <a:t>过程中，在</a:t>
            </a:r>
            <a:r>
              <a:rPr lang="en-US" altLang="zh-CN" sz="1200" kern="100" dirty="0">
                <a:latin typeface="微软雅黑" panose="020B0503020204020204" pitchFamily="34" charset="-122"/>
                <a:ea typeface="微软雅黑" panose="020B0503020204020204" pitchFamily="34" charset="-122"/>
              </a:rPr>
              <a:t>Shell</a:t>
            </a:r>
            <a:r>
              <a:rPr lang="zh-CN" altLang="en-US" sz="1200" kern="100" dirty="0">
                <a:latin typeface="微软雅黑" panose="020B0503020204020204" pitchFamily="34" charset="-122"/>
                <a:ea typeface="微软雅黑" panose="020B0503020204020204" pitchFamily="34" charset="-122"/>
              </a:rPr>
              <a:t>程序内任意使用和修改的变量。这是用户根据自己的需要进行定义的，用户可以按照下面的语法规则定义自己的变量：</a:t>
            </a:r>
          </a:p>
          <a:p>
            <a:pPr indent="266700">
              <a:lnSpc>
                <a:spcPts val="2000"/>
              </a:lnSpc>
              <a:spcAft>
                <a:spcPts val="0"/>
              </a:spcAft>
            </a:pPr>
            <a:r>
              <a:rPr lang="zh-CN" altLang="en-US" sz="1200" b="1" kern="100" dirty="0">
                <a:solidFill>
                  <a:srgbClr val="C00000"/>
                </a:solidFill>
                <a:latin typeface="微软雅黑" panose="020B0503020204020204" pitchFamily="34" charset="-122"/>
                <a:ea typeface="微软雅黑" panose="020B0503020204020204" pitchFamily="34" charset="-122"/>
              </a:rPr>
              <a:t>变量名 </a:t>
            </a:r>
            <a:r>
              <a:rPr lang="en-US" altLang="zh-CN" sz="1200" b="1" kern="100" dirty="0">
                <a:solidFill>
                  <a:srgbClr val="C00000"/>
                </a:solidFill>
                <a:latin typeface="微软雅黑" panose="020B0503020204020204" pitchFamily="34" charset="-122"/>
                <a:ea typeface="微软雅黑" panose="020B0503020204020204" pitchFamily="34" charset="-122"/>
              </a:rPr>
              <a:t>= </a:t>
            </a:r>
            <a:r>
              <a:rPr lang="zh-CN" altLang="en-US" sz="1200" b="1" kern="100" dirty="0">
                <a:solidFill>
                  <a:srgbClr val="C00000"/>
                </a:solidFill>
                <a:latin typeface="微软雅黑" panose="020B0503020204020204" pitchFamily="34" charset="-122"/>
                <a:ea typeface="微软雅黑" panose="020B0503020204020204" pitchFamily="34" charset="-122"/>
              </a:rPr>
              <a:t>变量值</a:t>
            </a:r>
          </a:p>
          <a:p>
            <a:pPr indent="266700">
              <a:lnSpc>
                <a:spcPts val="2000"/>
              </a:lnSpc>
              <a:spcAft>
                <a:spcPts val="0"/>
              </a:spcAft>
            </a:pPr>
            <a:r>
              <a:rPr lang="zh-CN" altLang="en-US" sz="1200" kern="100" dirty="0">
                <a:latin typeface="微软雅黑" panose="020B0503020204020204" pitchFamily="34" charset="-122"/>
                <a:ea typeface="微软雅黑" panose="020B0503020204020204" pitchFamily="34" charset="-122"/>
              </a:rPr>
              <a:t>在定义变量时，变量名前不应加符号</a:t>
            </a:r>
            <a:r>
              <a:rPr lang="en-US" altLang="zh-CN" sz="1200" kern="100" dirty="0">
                <a:latin typeface="微软雅黑" panose="020B0503020204020204" pitchFamily="34" charset="-122"/>
                <a:ea typeface="微软雅黑" panose="020B0503020204020204" pitchFamily="34" charset="-122"/>
              </a:rPr>
              <a:t>$</a:t>
            </a:r>
            <a:r>
              <a:rPr lang="zh-CN" altLang="en-US" sz="1200" kern="100" dirty="0">
                <a:latin typeface="微软雅黑" panose="020B0503020204020204" pitchFamily="34" charset="-122"/>
                <a:ea typeface="微软雅黑" panose="020B0503020204020204" pitchFamily="34" charset="-122"/>
              </a:rPr>
              <a:t>，在引用变量的内容时则应在变量名前加</a:t>
            </a:r>
            <a:r>
              <a:rPr lang="en-US" altLang="zh-CN" sz="1200" kern="100" dirty="0">
                <a:latin typeface="微软雅黑" panose="020B0503020204020204" pitchFamily="34" charset="-122"/>
                <a:ea typeface="微软雅黑" panose="020B0503020204020204" pitchFamily="34" charset="-122"/>
              </a:rPr>
              <a:t>$</a:t>
            </a:r>
            <a:r>
              <a:rPr lang="zh-CN" altLang="en-US" sz="1200" kern="100" dirty="0">
                <a:latin typeface="微软雅黑" panose="020B0503020204020204" pitchFamily="34" charset="-122"/>
                <a:ea typeface="微软雅黑" panose="020B0503020204020204" pitchFamily="34" charset="-122"/>
              </a:rPr>
              <a:t>；在给变量赋值时，等号两边一定不能留空格，若变量中本身就包含了空格，则整个字串都要用双引号括起来</a:t>
            </a:r>
            <a:r>
              <a:rPr lang="zh-CN" altLang="zh-CN" sz="1200" kern="100" dirty="0">
                <a:latin typeface="微软雅黑" panose="020B0503020204020204" pitchFamily="34" charset="-122"/>
                <a:ea typeface="微软雅黑" panose="020B0503020204020204" pitchFamily="34" charset="-122"/>
              </a:rPr>
              <a:t>。</a:t>
            </a:r>
          </a:p>
        </p:txBody>
      </p:sp>
      <p:sp>
        <p:nvSpPr>
          <p:cNvPr id="5" name="矩形 4"/>
          <p:cNvSpPr/>
          <p:nvPr/>
        </p:nvSpPr>
        <p:spPr>
          <a:xfrm>
            <a:off x="1830308" y="3483989"/>
            <a:ext cx="9804664" cy="1118255"/>
          </a:xfrm>
          <a:prstGeom prst="rect">
            <a:avLst/>
          </a:prstGeom>
        </p:spPr>
        <p:txBody>
          <a:bodyPr wrap="square">
            <a:spAutoFit/>
          </a:bodyPr>
          <a:lstStyle/>
          <a:p>
            <a:pPr indent="266700">
              <a:lnSpc>
                <a:spcPts val="2000"/>
              </a:lnSpc>
            </a:pPr>
            <a:r>
              <a:rPr lang="en-US"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zh-CN" altLang="en-US"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．位置参数</a:t>
            </a:r>
          </a:p>
          <a:p>
            <a:pPr indent="266700">
              <a:lnSpc>
                <a:spcPts val="2000"/>
              </a:lnSpc>
            </a:pPr>
            <a:r>
              <a:rPr lang="zh-CN" altLang="en-US" sz="1200" kern="100" dirty="0">
                <a:latin typeface="微软雅黑" panose="020B0503020204020204" pitchFamily="34" charset="-122"/>
                <a:ea typeface="微软雅黑" panose="020B0503020204020204" pitchFamily="34" charset="-122"/>
              </a:rPr>
              <a:t>位置参数是一种在调用</a:t>
            </a:r>
            <a:r>
              <a:rPr lang="en-US" altLang="zh-CN" sz="1200" kern="100" dirty="0">
                <a:latin typeface="微软雅黑" panose="020B0503020204020204" pitchFamily="34" charset="-122"/>
                <a:ea typeface="微软雅黑" panose="020B0503020204020204" pitchFamily="34" charset="-122"/>
              </a:rPr>
              <a:t>Shell</a:t>
            </a:r>
            <a:r>
              <a:rPr lang="zh-CN" altLang="en-US" sz="1200" kern="100" dirty="0">
                <a:latin typeface="微软雅黑" panose="020B0503020204020204" pitchFamily="34" charset="-122"/>
                <a:ea typeface="微软雅黑" panose="020B0503020204020204" pitchFamily="34" charset="-122"/>
              </a:rPr>
              <a:t>程序的命令行中按照各自的位置决定的变量，是在程序名之后输入的参数。位置参数之间用空格分隔，</a:t>
            </a:r>
            <a:r>
              <a:rPr lang="en-US" altLang="zh-CN" sz="1200" kern="100" dirty="0">
                <a:latin typeface="微软雅黑" panose="020B0503020204020204" pitchFamily="34" charset="-122"/>
                <a:ea typeface="微软雅黑" panose="020B0503020204020204" pitchFamily="34" charset="-122"/>
              </a:rPr>
              <a:t>Shell</a:t>
            </a:r>
            <a:r>
              <a:rPr lang="zh-CN" altLang="en-US" sz="1200" kern="100" dirty="0">
                <a:latin typeface="微软雅黑" panose="020B0503020204020204" pitchFamily="34" charset="-122"/>
                <a:ea typeface="微软雅黑" panose="020B0503020204020204" pitchFamily="34" charset="-122"/>
              </a:rPr>
              <a:t>取第一个位置参数替换程序文件中的</a:t>
            </a:r>
            <a:r>
              <a:rPr lang="en-US" altLang="zh-CN" sz="1200" kern="100" dirty="0">
                <a:latin typeface="微软雅黑" panose="020B0503020204020204" pitchFamily="34" charset="-122"/>
                <a:ea typeface="微软雅黑" panose="020B0503020204020204" pitchFamily="34" charset="-122"/>
              </a:rPr>
              <a:t>$1</a:t>
            </a:r>
            <a:r>
              <a:rPr lang="zh-CN" altLang="en-US" sz="1200" kern="100" dirty="0">
                <a:latin typeface="微软雅黑" panose="020B0503020204020204" pitchFamily="34" charset="-122"/>
                <a:ea typeface="微软雅黑" panose="020B0503020204020204" pitchFamily="34" charset="-122"/>
              </a:rPr>
              <a:t>，第二个替换</a:t>
            </a:r>
            <a:r>
              <a:rPr lang="en-US" altLang="zh-CN" sz="1200" kern="100" dirty="0">
                <a:latin typeface="微软雅黑" panose="020B0503020204020204" pitchFamily="34" charset="-122"/>
                <a:ea typeface="微软雅黑" panose="020B0503020204020204" pitchFamily="34" charset="-122"/>
              </a:rPr>
              <a:t>$2</a:t>
            </a:r>
            <a:r>
              <a:rPr lang="zh-CN" altLang="en-US" sz="1200" kern="100" dirty="0">
                <a:latin typeface="微软雅黑" panose="020B0503020204020204" pitchFamily="34" charset="-122"/>
                <a:ea typeface="微软雅黑" panose="020B0503020204020204" pitchFamily="34" charset="-122"/>
              </a:rPr>
              <a:t>，以此类推。</a:t>
            </a:r>
            <a:r>
              <a:rPr lang="en-US" altLang="zh-CN" sz="1200" kern="100" dirty="0">
                <a:latin typeface="微软雅黑" panose="020B0503020204020204" pitchFamily="34" charset="-122"/>
                <a:ea typeface="微软雅黑" panose="020B0503020204020204" pitchFamily="34" charset="-122"/>
              </a:rPr>
              <a:t>$0</a:t>
            </a:r>
            <a:r>
              <a:rPr lang="zh-CN" altLang="en-US" sz="1200" kern="100" dirty="0">
                <a:latin typeface="微软雅黑" panose="020B0503020204020204" pitchFamily="34" charset="-122"/>
                <a:ea typeface="微软雅黑" panose="020B0503020204020204" pitchFamily="34" charset="-122"/>
              </a:rPr>
              <a:t>是一个特殊的变量，它的内容是当前这个</a:t>
            </a:r>
            <a:r>
              <a:rPr lang="en-US" altLang="zh-CN" sz="1200" kern="100" dirty="0">
                <a:latin typeface="微软雅黑" panose="020B0503020204020204" pitchFamily="34" charset="-122"/>
                <a:ea typeface="微软雅黑" panose="020B0503020204020204" pitchFamily="34" charset="-122"/>
              </a:rPr>
              <a:t>Shell</a:t>
            </a:r>
            <a:r>
              <a:rPr lang="zh-CN" altLang="en-US" sz="1200" kern="100" dirty="0">
                <a:latin typeface="微软雅黑" panose="020B0503020204020204" pitchFamily="34" charset="-122"/>
                <a:ea typeface="微软雅黑" panose="020B0503020204020204" pitchFamily="34" charset="-122"/>
              </a:rPr>
              <a:t>程序的文件名，所以，</a:t>
            </a:r>
            <a:r>
              <a:rPr lang="en-US" altLang="zh-CN" sz="1200" kern="100" dirty="0">
                <a:latin typeface="微软雅黑" panose="020B0503020204020204" pitchFamily="34" charset="-122"/>
                <a:ea typeface="微软雅黑" panose="020B0503020204020204" pitchFamily="34" charset="-122"/>
              </a:rPr>
              <a:t>$0</a:t>
            </a:r>
            <a:r>
              <a:rPr lang="zh-CN" altLang="en-US" sz="1200" kern="100" dirty="0">
                <a:latin typeface="微软雅黑" panose="020B0503020204020204" pitchFamily="34" charset="-122"/>
                <a:ea typeface="微软雅黑" panose="020B0503020204020204" pitchFamily="34" charset="-122"/>
              </a:rPr>
              <a:t>不是一个位置参数，在显示当前所有的位置参数时不包括</a:t>
            </a:r>
            <a:r>
              <a:rPr lang="en-US" altLang="zh-CN" sz="1200" kern="100" dirty="0">
                <a:latin typeface="微软雅黑" panose="020B0503020204020204" pitchFamily="34" charset="-122"/>
                <a:ea typeface="微软雅黑" panose="020B0503020204020204" pitchFamily="34" charset="-122"/>
              </a:rPr>
              <a:t>$0</a:t>
            </a:r>
            <a:r>
              <a:rPr lang="zh-CN" altLang="zh-CN" sz="1200" kern="100" dirty="0">
                <a:latin typeface="微软雅黑" panose="020B0503020204020204" pitchFamily="34" charset="-122"/>
                <a:ea typeface="微软雅黑" panose="020B0503020204020204" pitchFamily="34" charset="-122"/>
              </a:rPr>
              <a:t>。</a:t>
            </a:r>
          </a:p>
        </p:txBody>
      </p:sp>
      <p:sp>
        <p:nvSpPr>
          <p:cNvPr id="6" name="矩形 5"/>
          <p:cNvSpPr/>
          <p:nvPr/>
        </p:nvSpPr>
        <p:spPr>
          <a:xfrm>
            <a:off x="1830308" y="4602244"/>
            <a:ext cx="9647554" cy="1631216"/>
          </a:xfrm>
          <a:prstGeom prst="rect">
            <a:avLst/>
          </a:prstGeom>
        </p:spPr>
        <p:txBody>
          <a:bodyPr wrap="square">
            <a:spAutoFit/>
          </a:bodyPr>
          <a:lstStyle/>
          <a:p>
            <a:pPr indent="266700">
              <a:lnSpc>
                <a:spcPts val="2000"/>
              </a:lnSpc>
            </a:pPr>
            <a:r>
              <a:rPr lang="en-US"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a:t>
            </a:r>
            <a:r>
              <a:rPr lang="zh-CN" altLang="zh-CN" sz="1200" b="1" kern="100" dirty="0">
                <a:solidFill>
                  <a:srgbClr val="7030A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．参数置换的变量</a:t>
            </a:r>
          </a:p>
          <a:p>
            <a:pPr indent="266700">
              <a:lnSpc>
                <a:spcPts val="2000"/>
              </a:lnSpc>
            </a:pPr>
            <a:r>
              <a:rPr lang="en-US" altLang="zh-CN" sz="1200" kern="100" dirty="0">
                <a:latin typeface="微软雅黑" panose="020B0503020204020204" pitchFamily="34" charset="-122"/>
                <a:ea typeface="微软雅黑" panose="020B0503020204020204" pitchFamily="34" charset="-122"/>
              </a:rPr>
              <a:t>Shell</a:t>
            </a:r>
            <a:r>
              <a:rPr lang="zh-CN" altLang="zh-CN" sz="1200" kern="100" dirty="0">
                <a:latin typeface="微软雅黑" panose="020B0503020204020204" pitchFamily="34" charset="-122"/>
                <a:ea typeface="微软雅黑" panose="020B0503020204020204" pitchFamily="34" charset="-122"/>
              </a:rPr>
              <a:t>提供了参数置换功能，以便用户可以根据不同的条件来给变量赋不同的值。参数置换的变量有</a:t>
            </a:r>
            <a:r>
              <a:rPr lang="en-US" altLang="zh-CN" sz="1200" kern="100" dirty="0">
                <a:latin typeface="微软雅黑" panose="020B0503020204020204" pitchFamily="34" charset="-122"/>
                <a:ea typeface="微软雅黑" panose="020B0503020204020204" pitchFamily="34" charset="-122"/>
              </a:rPr>
              <a:t>4</a:t>
            </a:r>
            <a:r>
              <a:rPr lang="zh-CN" altLang="zh-CN" sz="1200" kern="100" dirty="0">
                <a:latin typeface="微软雅黑" panose="020B0503020204020204" pitchFamily="34" charset="-122"/>
                <a:ea typeface="微软雅黑" panose="020B0503020204020204" pitchFamily="34" charset="-122"/>
              </a:rPr>
              <a:t>种，它们的语法和功能分别如下。</a:t>
            </a:r>
          </a:p>
          <a:p>
            <a:pPr indent="266700">
              <a:lnSpc>
                <a:spcPts val="2000"/>
              </a:lnSpc>
            </a:pPr>
            <a:r>
              <a:rPr lang="zh-CN" altLang="zh-CN" sz="1200" b="1" kern="100" dirty="0">
                <a:solidFill>
                  <a:srgbClr val="C00000"/>
                </a:solidFill>
                <a:latin typeface="微软雅黑" panose="020B0503020204020204" pitchFamily="34" charset="-122"/>
                <a:ea typeface="微软雅黑" panose="020B0503020204020204" pitchFamily="34" charset="-122"/>
              </a:rPr>
              <a:t>变量</a:t>
            </a:r>
            <a:r>
              <a:rPr lang="en-US"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b="1" kern="100" dirty="0">
                <a:solidFill>
                  <a:srgbClr val="C00000"/>
                </a:solidFill>
                <a:latin typeface="微软雅黑" panose="020B0503020204020204" pitchFamily="34" charset="-122"/>
                <a:ea typeface="微软雅黑" panose="020B0503020204020204" pitchFamily="34" charset="-122"/>
              </a:rPr>
              <a:t>参数</a:t>
            </a:r>
            <a:r>
              <a:rPr lang="en-US" altLang="zh-CN" sz="1200" b="1" kern="100" dirty="0">
                <a:solidFill>
                  <a:srgbClr val="C00000"/>
                </a:solidFill>
                <a:latin typeface="微软雅黑" panose="020B0503020204020204" pitchFamily="34" charset="-122"/>
                <a:ea typeface="微软雅黑" panose="020B0503020204020204" pitchFamily="34" charset="-122"/>
              </a:rPr>
              <a:t>-word}</a:t>
            </a:r>
            <a:r>
              <a:rPr lang="zh-CN"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如果设置了参数，则用参数的值置换变量的值，否则用</a:t>
            </a:r>
            <a:r>
              <a:rPr lang="en-US" altLang="zh-CN" sz="1200" kern="100" dirty="0">
                <a:latin typeface="微软雅黑" panose="020B0503020204020204" pitchFamily="34" charset="-122"/>
                <a:ea typeface="微软雅黑" panose="020B0503020204020204" pitchFamily="34" charset="-122"/>
              </a:rPr>
              <a:t>word</a:t>
            </a:r>
            <a:r>
              <a:rPr lang="zh-CN" altLang="zh-CN" sz="1200" kern="100" dirty="0">
                <a:latin typeface="微软雅黑" panose="020B0503020204020204" pitchFamily="34" charset="-122"/>
                <a:ea typeface="微软雅黑" panose="020B0503020204020204" pitchFamily="34" charset="-122"/>
              </a:rPr>
              <a:t>置换。</a:t>
            </a:r>
            <a:endParaRPr lang="en-US" altLang="zh-CN" sz="1200" kern="100" dirty="0">
              <a:latin typeface="微软雅黑" panose="020B0503020204020204" pitchFamily="34" charset="-122"/>
              <a:ea typeface="微软雅黑" panose="020B0503020204020204" pitchFamily="34" charset="-122"/>
            </a:endParaRPr>
          </a:p>
          <a:p>
            <a:pPr indent="266700">
              <a:lnSpc>
                <a:spcPts val="2000"/>
              </a:lnSpc>
            </a:pPr>
            <a:r>
              <a:rPr lang="zh-CN" altLang="zh-CN" sz="1200" b="1" kern="100" dirty="0">
                <a:solidFill>
                  <a:srgbClr val="C00000"/>
                </a:solidFill>
                <a:latin typeface="微软雅黑" panose="020B0503020204020204" pitchFamily="34" charset="-122"/>
                <a:ea typeface="微软雅黑" panose="020B0503020204020204" pitchFamily="34" charset="-122"/>
              </a:rPr>
              <a:t>变量</a:t>
            </a:r>
            <a:r>
              <a:rPr lang="en-US"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b="1" kern="100" dirty="0">
                <a:solidFill>
                  <a:srgbClr val="C00000"/>
                </a:solidFill>
                <a:latin typeface="微软雅黑" panose="020B0503020204020204" pitchFamily="34" charset="-122"/>
                <a:ea typeface="微软雅黑" panose="020B0503020204020204" pitchFamily="34" charset="-122"/>
              </a:rPr>
              <a:t>参数</a:t>
            </a:r>
            <a:r>
              <a:rPr lang="en-US" altLang="zh-CN" sz="1200" b="1" kern="100" dirty="0">
                <a:solidFill>
                  <a:srgbClr val="C00000"/>
                </a:solidFill>
                <a:latin typeface="微软雅黑" panose="020B0503020204020204" pitchFamily="34" charset="-122"/>
                <a:ea typeface="微软雅黑" panose="020B0503020204020204" pitchFamily="34" charset="-122"/>
              </a:rPr>
              <a:t>=word}</a:t>
            </a:r>
            <a:r>
              <a:rPr lang="zh-CN"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如果设置了参数，则用参数的值置换变量的值，否则把变量设置成</a:t>
            </a:r>
            <a:r>
              <a:rPr lang="en-US" altLang="zh-CN" sz="1200" kern="100" dirty="0">
                <a:latin typeface="微软雅黑" panose="020B0503020204020204" pitchFamily="34" charset="-122"/>
                <a:ea typeface="微软雅黑" panose="020B0503020204020204" pitchFamily="34" charset="-122"/>
              </a:rPr>
              <a:t>word</a:t>
            </a:r>
            <a:r>
              <a:rPr lang="zh-CN" altLang="zh-CN" sz="1200" kern="100" dirty="0">
                <a:latin typeface="微软雅黑" panose="020B0503020204020204" pitchFamily="34" charset="-122"/>
                <a:ea typeface="微软雅黑" panose="020B0503020204020204" pitchFamily="34" charset="-122"/>
              </a:rPr>
              <a:t>，然后再用</a:t>
            </a:r>
            <a:r>
              <a:rPr lang="en-US" altLang="zh-CN" sz="1200" kern="100" dirty="0">
                <a:latin typeface="微软雅黑" panose="020B0503020204020204" pitchFamily="34" charset="-122"/>
                <a:ea typeface="微软雅黑" panose="020B0503020204020204" pitchFamily="34" charset="-122"/>
              </a:rPr>
              <a:t>word</a:t>
            </a:r>
            <a:r>
              <a:rPr lang="zh-CN" altLang="zh-CN" sz="1200" kern="100" dirty="0">
                <a:latin typeface="微软雅黑" panose="020B0503020204020204" pitchFamily="34" charset="-122"/>
                <a:ea typeface="微软雅黑" panose="020B0503020204020204" pitchFamily="34" charset="-122"/>
              </a:rPr>
              <a:t>替换参数的值。</a:t>
            </a:r>
          </a:p>
          <a:p>
            <a:pPr indent="266700">
              <a:lnSpc>
                <a:spcPts val="2000"/>
              </a:lnSpc>
            </a:pPr>
            <a:r>
              <a:rPr lang="zh-CN" altLang="zh-CN" sz="1200" b="1" kern="100" dirty="0">
                <a:solidFill>
                  <a:srgbClr val="C00000"/>
                </a:solidFill>
                <a:latin typeface="微软雅黑" panose="020B0503020204020204" pitchFamily="34" charset="-122"/>
                <a:ea typeface="微软雅黑" panose="020B0503020204020204" pitchFamily="34" charset="-122"/>
              </a:rPr>
              <a:t>变量</a:t>
            </a:r>
            <a:r>
              <a:rPr lang="en-US"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b="1" kern="100" dirty="0">
                <a:solidFill>
                  <a:srgbClr val="C00000"/>
                </a:solidFill>
                <a:latin typeface="微软雅黑" panose="020B0503020204020204" pitchFamily="34" charset="-122"/>
                <a:ea typeface="微软雅黑" panose="020B0503020204020204" pitchFamily="34" charset="-122"/>
              </a:rPr>
              <a:t>参数？</a:t>
            </a:r>
            <a:r>
              <a:rPr lang="en-US" altLang="zh-CN" sz="1200" b="1" kern="100" dirty="0">
                <a:solidFill>
                  <a:srgbClr val="C00000"/>
                </a:solidFill>
                <a:latin typeface="微软雅黑" panose="020B0503020204020204" pitchFamily="34" charset="-122"/>
                <a:ea typeface="微软雅黑" panose="020B0503020204020204" pitchFamily="34" charset="-122"/>
              </a:rPr>
              <a:t>word}</a:t>
            </a:r>
            <a:r>
              <a:rPr lang="zh-CN"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如果设置了参数，则用参数的值置换变量的值，否则就显示</a:t>
            </a:r>
            <a:r>
              <a:rPr lang="en-US" altLang="zh-CN" sz="1200" kern="100" dirty="0">
                <a:latin typeface="微软雅黑" panose="020B0503020204020204" pitchFamily="34" charset="-122"/>
                <a:ea typeface="微软雅黑" panose="020B0503020204020204" pitchFamily="34" charset="-122"/>
              </a:rPr>
              <a:t>word</a:t>
            </a:r>
            <a:r>
              <a:rPr lang="zh-CN" altLang="zh-CN" sz="1200" kern="100" dirty="0">
                <a:latin typeface="微软雅黑" panose="020B0503020204020204" pitchFamily="34" charset="-122"/>
                <a:ea typeface="微软雅黑" panose="020B0503020204020204" pitchFamily="34" charset="-122"/>
              </a:rPr>
              <a:t>并从</a:t>
            </a:r>
            <a:r>
              <a:rPr lang="en-US" altLang="zh-CN" sz="1200" kern="100" dirty="0">
                <a:latin typeface="微软雅黑" panose="020B0503020204020204" pitchFamily="34" charset="-122"/>
                <a:ea typeface="微软雅黑" panose="020B0503020204020204" pitchFamily="34" charset="-122"/>
              </a:rPr>
              <a:t>Shell</a:t>
            </a:r>
            <a:r>
              <a:rPr lang="zh-CN" altLang="zh-CN" sz="1200" kern="100" dirty="0">
                <a:latin typeface="微软雅黑" panose="020B0503020204020204" pitchFamily="34" charset="-122"/>
                <a:ea typeface="微软雅黑" panose="020B0503020204020204" pitchFamily="34" charset="-122"/>
              </a:rPr>
              <a:t>中退出。</a:t>
            </a:r>
          </a:p>
          <a:p>
            <a:pPr indent="266700">
              <a:lnSpc>
                <a:spcPts val="2000"/>
              </a:lnSpc>
            </a:pPr>
            <a:r>
              <a:rPr lang="zh-CN" altLang="zh-CN" sz="1200" b="1" kern="100" dirty="0">
                <a:solidFill>
                  <a:srgbClr val="C00000"/>
                </a:solidFill>
                <a:latin typeface="微软雅黑" panose="020B0503020204020204" pitchFamily="34" charset="-122"/>
                <a:ea typeface="微软雅黑" panose="020B0503020204020204" pitchFamily="34" charset="-122"/>
              </a:rPr>
              <a:t>变量</a:t>
            </a:r>
            <a:r>
              <a:rPr lang="en-US"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b="1" kern="100" dirty="0">
                <a:solidFill>
                  <a:srgbClr val="C00000"/>
                </a:solidFill>
                <a:latin typeface="微软雅黑" panose="020B0503020204020204" pitchFamily="34" charset="-122"/>
                <a:ea typeface="微软雅黑" panose="020B0503020204020204" pitchFamily="34" charset="-122"/>
              </a:rPr>
              <a:t>参数</a:t>
            </a:r>
            <a:r>
              <a:rPr lang="en-US" altLang="zh-CN" sz="1200" b="1" kern="100" dirty="0">
                <a:solidFill>
                  <a:srgbClr val="C00000"/>
                </a:solidFill>
                <a:latin typeface="微软雅黑" panose="020B0503020204020204" pitchFamily="34" charset="-122"/>
                <a:ea typeface="微软雅黑" panose="020B0503020204020204" pitchFamily="34" charset="-122"/>
              </a:rPr>
              <a:t>+word}</a:t>
            </a:r>
            <a:r>
              <a:rPr lang="zh-CN" altLang="zh-CN" sz="1200" b="1" kern="100" dirty="0">
                <a:solidFill>
                  <a:srgbClr val="C00000"/>
                </a:solidFill>
                <a:latin typeface="微软雅黑" panose="020B0503020204020204" pitchFamily="34" charset="-122"/>
                <a:ea typeface="微软雅黑" panose="020B0503020204020204" pitchFamily="34" charset="-122"/>
              </a:rPr>
              <a:t>：</a:t>
            </a:r>
            <a:r>
              <a:rPr lang="zh-CN" altLang="zh-CN" sz="1200" kern="100" dirty="0">
                <a:latin typeface="微软雅黑" panose="020B0503020204020204" pitchFamily="34" charset="-122"/>
                <a:ea typeface="微软雅黑" panose="020B0503020204020204" pitchFamily="34" charset="-122"/>
              </a:rPr>
              <a:t>如果设置了参数，则用</a:t>
            </a:r>
            <a:r>
              <a:rPr lang="en-US" altLang="zh-CN" sz="1200" kern="100" dirty="0">
                <a:latin typeface="微软雅黑" panose="020B0503020204020204" pitchFamily="34" charset="-122"/>
                <a:ea typeface="微软雅黑" panose="020B0503020204020204" pitchFamily="34" charset="-122"/>
              </a:rPr>
              <a:t>word</a:t>
            </a:r>
            <a:r>
              <a:rPr lang="zh-CN" altLang="zh-CN" sz="1200" kern="100" dirty="0">
                <a:latin typeface="微软雅黑" panose="020B0503020204020204" pitchFamily="34" charset="-122"/>
                <a:ea typeface="微软雅黑" panose="020B0503020204020204" pitchFamily="34" charset="-122"/>
              </a:rPr>
              <a:t>置换变量，否则不进行置换。</a:t>
            </a:r>
          </a:p>
        </p:txBody>
      </p:sp>
    </p:spTree>
    <p:extLst>
      <p:ext uri="{BB962C8B-B14F-4D97-AF65-F5344CB8AC3E}">
        <p14:creationId xmlns:p14="http://schemas.microsoft.com/office/powerpoint/2010/main" val="325044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Righ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22" name="Group 97">
            <a:extLst>
              <a:ext uri="{FF2B5EF4-FFF2-40B4-BE49-F238E27FC236}">
                <a16:creationId xmlns:a16="http://schemas.microsoft.com/office/drawing/2014/main" id="{636E5738-9DAE-4296-A9BE-4DDC7CE210B7}"/>
              </a:ext>
            </a:extLst>
          </p:cNvPr>
          <p:cNvGrpSpPr/>
          <p:nvPr/>
        </p:nvGrpSpPr>
        <p:grpSpPr>
          <a:xfrm flipH="1">
            <a:off x="851804" y="1600426"/>
            <a:ext cx="10505041" cy="1293470"/>
            <a:chOff x="-5845641" y="3486243"/>
            <a:chExt cx="9839391" cy="1320254"/>
          </a:xfrm>
        </p:grpSpPr>
        <p:grpSp>
          <p:nvGrpSpPr>
            <p:cNvPr id="23" name="Group 87">
              <a:extLst>
                <a:ext uri="{FF2B5EF4-FFF2-40B4-BE49-F238E27FC236}">
                  <a16:creationId xmlns:a16="http://schemas.microsoft.com/office/drawing/2014/main" id="{E2B328C0-E5EB-4C90-A070-D13C9A81C8F1}"/>
                </a:ext>
              </a:extLst>
            </p:cNvPr>
            <p:cNvGrpSpPr/>
            <p:nvPr/>
          </p:nvGrpSpPr>
          <p:grpSpPr>
            <a:xfrm>
              <a:off x="-5845641" y="3486243"/>
              <a:ext cx="9026384" cy="1320254"/>
              <a:chOff x="-5845641" y="3486243"/>
              <a:chExt cx="9026384" cy="1320254"/>
            </a:xfrm>
          </p:grpSpPr>
          <p:sp>
            <p:nvSpPr>
              <p:cNvPr id="30" name="Rectangle 33">
                <a:extLst>
                  <a:ext uri="{FF2B5EF4-FFF2-40B4-BE49-F238E27FC236}">
                    <a16:creationId xmlns:a16="http://schemas.microsoft.com/office/drawing/2014/main" id="{6EE1B080-C9B1-4044-9B28-DD7F1FEDCAB4}"/>
                  </a:ext>
                </a:extLst>
              </p:cNvPr>
              <p:cNvSpPr/>
              <p:nvPr/>
            </p:nvSpPr>
            <p:spPr>
              <a:xfrm>
                <a:off x="-5845641" y="3864047"/>
                <a:ext cx="9026384" cy="942450"/>
              </a:xfrm>
              <a:prstGeom prst="rect">
                <a:avLst/>
              </a:prstGeom>
              <a:ln>
                <a:solidFill>
                  <a:schemeClr val="tx1"/>
                </a:solidFill>
                <a:prstDash val="dash"/>
              </a:ln>
            </p:spPr>
            <p:txBody>
              <a:bodyPr wrap="square">
                <a:spAutoFit/>
              </a:bodyPr>
              <a:lstStyle/>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在编程中，既然有变量，就有关于变量的表达式</a:t>
                </a:r>
                <a:r>
                  <a:rPr lang="en-US" altLang="zh-CN" sz="1200" kern="0" dirty="0">
                    <a:solidFill>
                      <a:prstClr val="black"/>
                    </a:solidFill>
                    <a:latin typeface="微软雅黑" panose="020B0503020204020204" pitchFamily="34" charset="-122"/>
                    <a:ea typeface="微软雅黑" panose="020B0503020204020204" pitchFamily="34" charset="-122"/>
                  </a:rPr>
                  <a:t>—— </a:t>
                </a:r>
                <a:r>
                  <a:rPr lang="zh-CN" altLang="en-US" sz="1200" kern="0" dirty="0">
                    <a:solidFill>
                      <a:prstClr val="black"/>
                    </a:solidFill>
                    <a:latin typeface="微软雅黑" panose="020B0503020204020204" pitchFamily="34" charset="-122"/>
                    <a:ea typeface="微软雅黑" panose="020B0503020204020204" pitchFamily="34" charset="-122"/>
                  </a:rPr>
                  <a:t>比较（</a:t>
                </a:r>
                <a:r>
                  <a:rPr lang="en-US" altLang="zh-CN" sz="1200" kern="0" dirty="0">
                    <a:solidFill>
                      <a:prstClr val="black"/>
                    </a:solidFill>
                    <a:latin typeface="微软雅黑" panose="020B0503020204020204" pitchFamily="34" charset="-122"/>
                    <a:ea typeface="微软雅黑" panose="020B0503020204020204" pitchFamily="34" charset="-122"/>
                  </a:rPr>
                  <a:t>test</a:t>
                </a:r>
                <a:r>
                  <a:rPr lang="zh-CN" altLang="en-US"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程序中，通常使用表达式的比较来完成逻辑任务。表达式所代表的操作符有字符操作符、数字操作符、逻辑操作符以及文件操作符。其中，文件操作符是一种</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所特有的操作符。因为</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里的变量都是字符串，为了达到对文件进行操作的目的，才提供了文件操作符。</a:t>
                </a:r>
                <a:endParaRPr lang="en-US" altLang="zh-CN" sz="1200" kern="0" dirty="0">
                  <a:solidFill>
                    <a:prstClr val="black"/>
                  </a:solidFill>
                  <a:latin typeface="微软雅黑" panose="020B0503020204020204" pitchFamily="34" charset="-122"/>
                  <a:ea typeface="微软雅黑" panose="020B0503020204020204" pitchFamily="34" charset="-122"/>
                </a:endParaRPr>
              </a:p>
            </p:txBody>
          </p:sp>
          <p:sp>
            <p:nvSpPr>
              <p:cNvPr id="31" name="Rectangle 34">
                <a:extLst>
                  <a:ext uri="{FF2B5EF4-FFF2-40B4-BE49-F238E27FC236}">
                    <a16:creationId xmlns:a16="http://schemas.microsoft.com/office/drawing/2014/main" id="{541288B1-75D7-43E4-BBBA-0E9B26B69573}"/>
                  </a:ext>
                </a:extLst>
              </p:cNvPr>
              <p:cNvSpPr/>
              <p:nvPr/>
            </p:nvSpPr>
            <p:spPr>
              <a:xfrm>
                <a:off x="1665500" y="3486243"/>
                <a:ext cx="1515242" cy="314150"/>
              </a:xfrm>
              <a:prstGeom prst="rect">
                <a:avLst/>
              </a:prstGeom>
            </p:spPr>
            <p:txBody>
              <a:bodyPr wrap="none">
                <a:spAutoFit/>
              </a:bodyPr>
              <a:lstStyle/>
              <a:p>
                <a:pPr lvl="0" algn="r" defTabSz="457200"/>
                <a:r>
                  <a:rPr lang="en-US" altLang="zh-CN"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4.3.4 </a:t>
                </a:r>
                <a:r>
                  <a:rPr lang="zh-CN" altLang="en-US"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变量表达式</a:t>
                </a:r>
                <a:endParaRPr kumimoji="0" lang="en-US" altLang="zh-CN" sz="1400" b="1" i="0" u="none" strike="noStrike" kern="0" cap="none" spc="0" normalizeH="0" baseline="0" noProof="0" dirty="0">
                  <a:ln>
                    <a:noFill/>
                  </a:ln>
                  <a:solidFill>
                    <a:srgbClr val="00B05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Open Sans" pitchFamily="34" charset="0"/>
                </a:endParaRPr>
              </a:p>
            </p:txBody>
          </p:sp>
        </p:grpSp>
        <p:grpSp>
          <p:nvGrpSpPr>
            <p:cNvPr id="24" name="Group 86">
              <a:extLst>
                <a:ext uri="{FF2B5EF4-FFF2-40B4-BE49-F238E27FC236}">
                  <a16:creationId xmlns:a16="http://schemas.microsoft.com/office/drawing/2014/main" id="{781DA789-58FC-40BA-AE90-2F958A59713B}"/>
                </a:ext>
              </a:extLst>
            </p:cNvPr>
            <p:cNvGrpSpPr/>
            <p:nvPr/>
          </p:nvGrpSpPr>
          <p:grpSpPr>
            <a:xfrm>
              <a:off x="3357554" y="3643319"/>
              <a:ext cx="636196" cy="636164"/>
              <a:chOff x="3357554" y="3643319"/>
              <a:chExt cx="636196" cy="636164"/>
            </a:xfrm>
          </p:grpSpPr>
          <p:sp>
            <p:nvSpPr>
              <p:cNvPr id="25" name="Rectangle 26">
                <a:extLst>
                  <a:ext uri="{FF2B5EF4-FFF2-40B4-BE49-F238E27FC236}">
                    <a16:creationId xmlns:a16="http://schemas.microsoft.com/office/drawing/2014/main" id="{82CCB487-2D61-4D38-B7A1-9DAC7A5951CF}"/>
                  </a:ext>
                </a:extLst>
              </p:cNvPr>
              <p:cNvSpPr/>
              <p:nvPr/>
            </p:nvSpPr>
            <p:spPr>
              <a:xfrm>
                <a:off x="3357554" y="3643319"/>
                <a:ext cx="636196" cy="636164"/>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grpSp>
            <p:nvGrpSpPr>
              <p:cNvPr id="26" name="Group 67">
                <a:extLst>
                  <a:ext uri="{FF2B5EF4-FFF2-40B4-BE49-F238E27FC236}">
                    <a16:creationId xmlns:a16="http://schemas.microsoft.com/office/drawing/2014/main" id="{08BC7DC6-7D51-4ACD-A607-BBA507A4C53C}"/>
                  </a:ext>
                </a:extLst>
              </p:cNvPr>
              <p:cNvGrpSpPr/>
              <p:nvPr/>
            </p:nvGrpSpPr>
            <p:grpSpPr>
              <a:xfrm>
                <a:off x="3428992" y="3857634"/>
                <a:ext cx="503238" cy="177800"/>
                <a:chOff x="1441430" y="4357700"/>
                <a:chExt cx="503238" cy="177800"/>
              </a:xfrm>
              <a:solidFill>
                <a:sysClr val="window" lastClr="FFFFFF"/>
              </a:solidFill>
            </p:grpSpPr>
            <p:sp>
              <p:nvSpPr>
                <p:cNvPr id="27" name="Freeform 19">
                  <a:extLst>
                    <a:ext uri="{FF2B5EF4-FFF2-40B4-BE49-F238E27FC236}">
                      <a16:creationId xmlns:a16="http://schemas.microsoft.com/office/drawing/2014/main" id="{596902EC-336B-4F77-A260-D2D0BC67FE22}"/>
                    </a:ext>
                  </a:extLst>
                </p:cNvPr>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8" name="Freeform 20">
                  <a:extLst>
                    <a:ext uri="{FF2B5EF4-FFF2-40B4-BE49-F238E27FC236}">
                      <a16:creationId xmlns:a16="http://schemas.microsoft.com/office/drawing/2014/main" id="{F280770E-D323-4942-BD9B-25B070909349}"/>
                    </a:ext>
                  </a:extLst>
                </p:cNvPr>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9" name="Freeform 21">
                  <a:extLst>
                    <a:ext uri="{FF2B5EF4-FFF2-40B4-BE49-F238E27FC236}">
                      <a16:creationId xmlns:a16="http://schemas.microsoft.com/office/drawing/2014/main" id="{E234649D-5155-413A-B79A-CB0060D56EA2}"/>
                    </a:ext>
                  </a:extLst>
                </p:cNvPr>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grpSp>
        </p:grpSp>
      </p:grpSp>
      <p:sp>
        <p:nvSpPr>
          <p:cNvPr id="3" name="矩形 2"/>
          <p:cNvSpPr/>
          <p:nvPr/>
        </p:nvSpPr>
        <p:spPr>
          <a:xfrm>
            <a:off x="1719811" y="3195591"/>
            <a:ext cx="9637033" cy="646331"/>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1</a:t>
            </a:r>
            <a:r>
              <a:rPr lang="zh-CN" altLang="zh-CN" sz="1200" kern="0" dirty="0">
                <a:solidFill>
                  <a:prstClr val="black"/>
                </a:solidFill>
                <a:latin typeface="微软雅黑" panose="020B0503020204020204" pitchFamily="34" charset="-122"/>
                <a:ea typeface="微软雅黑" panose="020B0503020204020204" pitchFamily="34" charset="-122"/>
              </a:rPr>
              <a:t>．字符串比较</a:t>
            </a:r>
          </a:p>
          <a:p>
            <a:pPr indent="288000" defTabSz="457200">
              <a:lnSpc>
                <a:spcPct val="150000"/>
              </a:lnSpc>
            </a:pPr>
            <a:r>
              <a:rPr lang="zh-CN" altLang="zh-CN" sz="1200" kern="0" dirty="0">
                <a:solidFill>
                  <a:prstClr val="black"/>
                </a:solidFill>
                <a:latin typeface="微软雅黑" panose="020B0503020204020204" pitchFamily="34" charset="-122"/>
                <a:ea typeface="微软雅黑" panose="020B0503020204020204" pitchFamily="34" charset="-122"/>
              </a:rPr>
              <a:t>作用：测试字符串是否相等，长度是否为零，字符串是否为</a:t>
            </a:r>
            <a:r>
              <a:rPr lang="en-US" altLang="zh-CN" sz="1200" kern="0" dirty="0">
                <a:solidFill>
                  <a:prstClr val="black"/>
                </a:solidFill>
                <a:latin typeface="微软雅黑" panose="020B0503020204020204" pitchFamily="34" charset="-122"/>
                <a:ea typeface="微软雅黑" panose="020B0503020204020204" pitchFamily="34" charset="-122"/>
              </a:rPr>
              <a:t>NULL</a:t>
            </a:r>
            <a:r>
              <a:rPr lang="zh-CN" altLang="zh-CN" sz="1200" kern="0" dirty="0">
                <a:solidFill>
                  <a:prstClr val="black"/>
                </a:solidFill>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2"/>
          <a:stretch>
            <a:fillRect/>
          </a:stretch>
        </p:blipFill>
        <p:spPr>
          <a:xfrm>
            <a:off x="3071664" y="3890355"/>
            <a:ext cx="7032354" cy="2088232"/>
          </a:xfrm>
          <a:prstGeom prst="rect">
            <a:avLst/>
          </a:prstGeom>
        </p:spPr>
      </p:pic>
    </p:spTree>
    <p:extLst>
      <p:ext uri="{BB962C8B-B14F-4D97-AF65-F5344CB8AC3E}">
        <p14:creationId xmlns:p14="http://schemas.microsoft.com/office/powerpoint/2010/main" val="363658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22" name="Group 97">
            <a:extLst>
              <a:ext uri="{FF2B5EF4-FFF2-40B4-BE49-F238E27FC236}">
                <a16:creationId xmlns:a16="http://schemas.microsoft.com/office/drawing/2014/main" id="{636E5738-9DAE-4296-A9BE-4DDC7CE210B7}"/>
              </a:ext>
            </a:extLst>
          </p:cNvPr>
          <p:cNvGrpSpPr/>
          <p:nvPr/>
        </p:nvGrpSpPr>
        <p:grpSpPr>
          <a:xfrm flipH="1">
            <a:off x="851804" y="1393837"/>
            <a:ext cx="10563658" cy="1030036"/>
            <a:chOff x="-5900544" y="3275376"/>
            <a:chExt cx="9894294" cy="1051365"/>
          </a:xfrm>
        </p:grpSpPr>
        <p:grpSp>
          <p:nvGrpSpPr>
            <p:cNvPr id="23" name="Group 87">
              <a:extLst>
                <a:ext uri="{FF2B5EF4-FFF2-40B4-BE49-F238E27FC236}">
                  <a16:creationId xmlns:a16="http://schemas.microsoft.com/office/drawing/2014/main" id="{E2B328C0-E5EB-4C90-A070-D13C9A81C8F1}"/>
                </a:ext>
              </a:extLst>
            </p:cNvPr>
            <p:cNvGrpSpPr/>
            <p:nvPr/>
          </p:nvGrpSpPr>
          <p:grpSpPr>
            <a:xfrm>
              <a:off x="-5900544" y="3275376"/>
              <a:ext cx="9081288" cy="1051365"/>
              <a:chOff x="-5900544" y="3275376"/>
              <a:chExt cx="9081288" cy="1051365"/>
            </a:xfrm>
          </p:grpSpPr>
          <p:sp>
            <p:nvSpPr>
              <p:cNvPr id="30" name="Rectangle 33">
                <a:extLst>
                  <a:ext uri="{FF2B5EF4-FFF2-40B4-BE49-F238E27FC236}">
                    <a16:creationId xmlns:a16="http://schemas.microsoft.com/office/drawing/2014/main" id="{6EE1B080-C9B1-4044-9B28-DD7F1FEDCAB4}"/>
                  </a:ext>
                </a:extLst>
              </p:cNvPr>
              <p:cNvSpPr/>
              <p:nvPr/>
            </p:nvSpPr>
            <p:spPr>
              <a:xfrm>
                <a:off x="-5900544" y="3667026"/>
                <a:ext cx="9026384" cy="659715"/>
              </a:xfrm>
              <a:prstGeom prst="rect">
                <a:avLst/>
              </a:prstGeom>
              <a:ln>
                <a:solidFill>
                  <a:schemeClr val="tx1"/>
                </a:solid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2</a:t>
                </a:r>
                <a:r>
                  <a:rPr lang="zh-CN" altLang="en-US" sz="1200" kern="0" dirty="0">
                    <a:solidFill>
                      <a:prstClr val="black"/>
                    </a:solidFill>
                    <a:latin typeface="微软雅黑" panose="020B0503020204020204" pitchFamily="34" charset="-122"/>
                    <a:ea typeface="微软雅黑" panose="020B0503020204020204" pitchFamily="34" charset="-122"/>
                  </a:rPr>
                  <a:t>．数字比较</a:t>
                </a:r>
              </a:p>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Bash Shell</a:t>
                </a:r>
                <a:r>
                  <a:rPr lang="zh-CN" altLang="en-US" sz="1200" kern="0" dirty="0">
                    <a:solidFill>
                      <a:prstClr val="black"/>
                    </a:solidFill>
                    <a:latin typeface="微软雅黑" panose="020B0503020204020204" pitchFamily="34" charset="-122"/>
                    <a:ea typeface="微软雅黑" panose="020B0503020204020204" pitchFamily="34" charset="-122"/>
                  </a:rPr>
                  <a:t>编程中的关系运算有别于其他编程语言。用</a:t>
                </a:r>
                <a:r>
                  <a:rPr lang="en-US" altLang="zh-CN" sz="1200" kern="0" dirty="0">
                    <a:solidFill>
                      <a:prstClr val="black"/>
                    </a:solidFill>
                    <a:latin typeface="微软雅黑" panose="020B0503020204020204" pitchFamily="34" charset="-122"/>
                    <a:ea typeface="微软雅黑" panose="020B0503020204020204" pitchFamily="34" charset="-122"/>
                  </a:rPr>
                  <a:t>test</a:t>
                </a:r>
                <a:r>
                  <a:rPr lang="zh-CN" altLang="en-US" sz="1200" kern="0" dirty="0">
                    <a:solidFill>
                      <a:prstClr val="black"/>
                    </a:solidFill>
                    <a:latin typeface="微软雅黑" panose="020B0503020204020204" pitchFamily="34" charset="-122"/>
                    <a:ea typeface="微软雅黑" panose="020B0503020204020204" pitchFamily="34" charset="-122"/>
                  </a:rPr>
                  <a:t>语句比较的运算符如表</a:t>
                </a:r>
                <a:r>
                  <a:rPr lang="en-US" altLang="zh-CN" sz="1200" kern="0" dirty="0">
                    <a:solidFill>
                      <a:prstClr val="black"/>
                    </a:solidFill>
                    <a:latin typeface="微软雅黑" panose="020B0503020204020204" pitchFamily="34" charset="-122"/>
                    <a:ea typeface="微软雅黑" panose="020B0503020204020204" pitchFamily="34" charset="-122"/>
                  </a:rPr>
                  <a:t>4-2</a:t>
                </a:r>
                <a:r>
                  <a:rPr lang="zh-CN" altLang="en-US" sz="1200" kern="0" dirty="0">
                    <a:solidFill>
                      <a:prstClr val="black"/>
                    </a:solidFill>
                    <a:latin typeface="微软雅黑" panose="020B0503020204020204" pitchFamily="34" charset="-122"/>
                    <a:ea typeface="微软雅黑" panose="020B0503020204020204" pitchFamily="34" charset="-122"/>
                  </a:rPr>
                  <a:t>所示。</a:t>
                </a:r>
                <a:endParaRPr lang="en-US" altLang="zh-CN" sz="1200" kern="0" dirty="0">
                  <a:solidFill>
                    <a:prstClr val="black"/>
                  </a:solidFill>
                  <a:latin typeface="微软雅黑" panose="020B0503020204020204" pitchFamily="34" charset="-122"/>
                  <a:ea typeface="微软雅黑" panose="020B0503020204020204" pitchFamily="34" charset="-122"/>
                </a:endParaRPr>
              </a:p>
            </p:txBody>
          </p:sp>
          <p:sp>
            <p:nvSpPr>
              <p:cNvPr id="31" name="Rectangle 34">
                <a:extLst>
                  <a:ext uri="{FF2B5EF4-FFF2-40B4-BE49-F238E27FC236}">
                    <a16:creationId xmlns:a16="http://schemas.microsoft.com/office/drawing/2014/main" id="{541288B1-75D7-43E4-BBBA-0E9B26B69573}"/>
                  </a:ext>
                </a:extLst>
              </p:cNvPr>
              <p:cNvSpPr/>
              <p:nvPr/>
            </p:nvSpPr>
            <p:spPr>
              <a:xfrm>
                <a:off x="1665502" y="3275376"/>
                <a:ext cx="1515242" cy="314150"/>
              </a:xfrm>
              <a:prstGeom prst="rect">
                <a:avLst/>
              </a:prstGeom>
            </p:spPr>
            <p:txBody>
              <a:bodyPr wrap="none">
                <a:spAutoFit/>
              </a:bodyPr>
              <a:lstStyle/>
              <a:p>
                <a:pPr lvl="0" algn="r" defTabSz="457200"/>
                <a:r>
                  <a:rPr lang="en-US" altLang="zh-CN"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4.3.4 </a:t>
                </a:r>
                <a:r>
                  <a:rPr lang="zh-CN" altLang="en-US"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变量表达式</a:t>
                </a:r>
                <a:endParaRPr kumimoji="0" lang="en-US" altLang="zh-CN" sz="1400" b="1" i="0" u="none" strike="noStrike" kern="0" cap="none" spc="0" normalizeH="0" baseline="0" noProof="0" dirty="0">
                  <a:ln>
                    <a:noFill/>
                  </a:ln>
                  <a:solidFill>
                    <a:srgbClr val="00B05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Open Sans" pitchFamily="34" charset="0"/>
                </a:endParaRPr>
              </a:p>
            </p:txBody>
          </p:sp>
        </p:grpSp>
        <p:grpSp>
          <p:nvGrpSpPr>
            <p:cNvPr id="24" name="Group 86">
              <a:extLst>
                <a:ext uri="{FF2B5EF4-FFF2-40B4-BE49-F238E27FC236}">
                  <a16:creationId xmlns:a16="http://schemas.microsoft.com/office/drawing/2014/main" id="{781DA789-58FC-40BA-AE90-2F958A59713B}"/>
                </a:ext>
              </a:extLst>
            </p:cNvPr>
            <p:cNvGrpSpPr/>
            <p:nvPr/>
          </p:nvGrpSpPr>
          <p:grpSpPr>
            <a:xfrm>
              <a:off x="3357554" y="3643319"/>
              <a:ext cx="636196" cy="636164"/>
              <a:chOff x="3357554" y="3643319"/>
              <a:chExt cx="636196" cy="636164"/>
            </a:xfrm>
          </p:grpSpPr>
          <p:sp>
            <p:nvSpPr>
              <p:cNvPr id="25" name="Rectangle 26">
                <a:extLst>
                  <a:ext uri="{FF2B5EF4-FFF2-40B4-BE49-F238E27FC236}">
                    <a16:creationId xmlns:a16="http://schemas.microsoft.com/office/drawing/2014/main" id="{82CCB487-2D61-4D38-B7A1-9DAC7A5951CF}"/>
                  </a:ext>
                </a:extLst>
              </p:cNvPr>
              <p:cNvSpPr/>
              <p:nvPr/>
            </p:nvSpPr>
            <p:spPr>
              <a:xfrm>
                <a:off x="3357554" y="3643319"/>
                <a:ext cx="636196" cy="636164"/>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grpSp>
            <p:nvGrpSpPr>
              <p:cNvPr id="26" name="Group 67">
                <a:extLst>
                  <a:ext uri="{FF2B5EF4-FFF2-40B4-BE49-F238E27FC236}">
                    <a16:creationId xmlns:a16="http://schemas.microsoft.com/office/drawing/2014/main" id="{08BC7DC6-7D51-4ACD-A607-BBA507A4C53C}"/>
                  </a:ext>
                </a:extLst>
              </p:cNvPr>
              <p:cNvGrpSpPr/>
              <p:nvPr/>
            </p:nvGrpSpPr>
            <p:grpSpPr>
              <a:xfrm>
                <a:off x="3428992" y="3857634"/>
                <a:ext cx="503238" cy="177800"/>
                <a:chOff x="1441430" y="4357700"/>
                <a:chExt cx="503238" cy="177800"/>
              </a:xfrm>
              <a:solidFill>
                <a:sysClr val="window" lastClr="FFFFFF"/>
              </a:solidFill>
            </p:grpSpPr>
            <p:sp>
              <p:nvSpPr>
                <p:cNvPr id="27" name="Freeform 19">
                  <a:extLst>
                    <a:ext uri="{FF2B5EF4-FFF2-40B4-BE49-F238E27FC236}">
                      <a16:creationId xmlns:a16="http://schemas.microsoft.com/office/drawing/2014/main" id="{596902EC-336B-4F77-A260-D2D0BC67FE22}"/>
                    </a:ext>
                  </a:extLst>
                </p:cNvPr>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8" name="Freeform 20">
                  <a:extLst>
                    <a:ext uri="{FF2B5EF4-FFF2-40B4-BE49-F238E27FC236}">
                      <a16:creationId xmlns:a16="http://schemas.microsoft.com/office/drawing/2014/main" id="{F280770E-D323-4942-BD9B-25B070909349}"/>
                    </a:ext>
                  </a:extLst>
                </p:cNvPr>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9" name="Freeform 21">
                  <a:extLst>
                    <a:ext uri="{FF2B5EF4-FFF2-40B4-BE49-F238E27FC236}">
                      <a16:creationId xmlns:a16="http://schemas.microsoft.com/office/drawing/2014/main" id="{E234649D-5155-413A-B79A-CB0060D56EA2}"/>
                    </a:ext>
                  </a:extLst>
                </p:cNvPr>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grpSp>
        </p:grpSp>
      </p:grpSp>
      <p:sp>
        <p:nvSpPr>
          <p:cNvPr id="8" name="矩形 7"/>
          <p:cNvSpPr/>
          <p:nvPr/>
        </p:nvSpPr>
        <p:spPr>
          <a:xfrm>
            <a:off x="1778429" y="4422245"/>
            <a:ext cx="9637033" cy="646331"/>
          </a:xfrm>
          <a:prstGeom prst="rect">
            <a:avLst/>
          </a:prstGeom>
          <a:ln>
            <a:solidFill>
              <a:schemeClr val="tx1"/>
            </a:solid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3</a:t>
            </a:r>
            <a:r>
              <a:rPr lang="zh-CN" altLang="zh-CN" sz="1200" kern="0" dirty="0">
                <a:solidFill>
                  <a:prstClr val="black"/>
                </a:solidFill>
                <a:latin typeface="微软雅黑" panose="020B0503020204020204" pitchFamily="34" charset="-122"/>
                <a:ea typeface="微软雅黑" panose="020B0503020204020204" pitchFamily="34" charset="-122"/>
              </a:rPr>
              <a:t>．逻辑操作</a:t>
            </a:r>
          </a:p>
          <a:p>
            <a:pPr indent="288000" defTabSz="457200">
              <a:lnSpc>
                <a:spcPct val="150000"/>
              </a:lnSpc>
            </a:pPr>
            <a:r>
              <a:rPr lang="zh-CN" altLang="zh-CN"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zh-CN" sz="1200" kern="0" dirty="0">
                <a:solidFill>
                  <a:prstClr val="black"/>
                </a:solidFill>
                <a:latin typeface="微软雅黑" panose="020B0503020204020204" pitchFamily="34" charset="-122"/>
                <a:ea typeface="微软雅黑" panose="020B0503020204020204" pitchFamily="34" charset="-122"/>
              </a:rPr>
              <a:t>程序设计中的逻辑运算符如表</a:t>
            </a:r>
            <a:r>
              <a:rPr lang="en-US" altLang="zh-CN" sz="1200" kern="0" dirty="0">
                <a:solidFill>
                  <a:prstClr val="black"/>
                </a:solidFill>
                <a:latin typeface="微软雅黑" panose="020B0503020204020204" pitchFamily="34" charset="-122"/>
                <a:ea typeface="微软雅黑" panose="020B0503020204020204" pitchFamily="34" charset="-122"/>
              </a:rPr>
              <a:t>4-3</a:t>
            </a:r>
            <a:r>
              <a:rPr lang="zh-CN" altLang="zh-CN" sz="1200" kern="0" dirty="0">
                <a:solidFill>
                  <a:prstClr val="black"/>
                </a:solidFill>
                <a:latin typeface="微软雅黑" panose="020B0503020204020204" pitchFamily="34" charset="-122"/>
                <a:ea typeface="微软雅黑" panose="020B0503020204020204" pitchFamily="34" charset="-122"/>
              </a:rPr>
              <a:t>所示。</a:t>
            </a:r>
          </a:p>
        </p:txBody>
      </p:sp>
      <p:pic>
        <p:nvPicPr>
          <p:cNvPr id="9" name="图片 8"/>
          <p:cNvPicPr>
            <a:picLocks noChangeAspect="1"/>
          </p:cNvPicPr>
          <p:nvPr/>
        </p:nvPicPr>
        <p:blipFill>
          <a:blip r:embed="rId2"/>
          <a:stretch>
            <a:fillRect/>
          </a:stretch>
        </p:blipFill>
        <p:spPr>
          <a:xfrm>
            <a:off x="3503711" y="2573533"/>
            <a:ext cx="5251489" cy="1848712"/>
          </a:xfrm>
          <a:prstGeom prst="rect">
            <a:avLst/>
          </a:prstGeom>
        </p:spPr>
      </p:pic>
      <p:pic>
        <p:nvPicPr>
          <p:cNvPr id="10" name="图片 9"/>
          <p:cNvPicPr>
            <a:picLocks noChangeAspect="1"/>
          </p:cNvPicPr>
          <p:nvPr/>
        </p:nvPicPr>
        <p:blipFill>
          <a:blip r:embed="rId3"/>
          <a:stretch>
            <a:fillRect/>
          </a:stretch>
        </p:blipFill>
        <p:spPr>
          <a:xfrm>
            <a:off x="3532674" y="5234766"/>
            <a:ext cx="5222526" cy="1036191"/>
          </a:xfrm>
          <a:prstGeom prst="rect">
            <a:avLst/>
          </a:prstGeom>
        </p:spPr>
      </p:pic>
    </p:spTree>
    <p:extLst>
      <p:ext uri="{BB962C8B-B14F-4D97-AF65-F5344CB8AC3E}">
        <p14:creationId xmlns:p14="http://schemas.microsoft.com/office/powerpoint/2010/main" val="353450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22" name="Group 97">
            <a:extLst>
              <a:ext uri="{FF2B5EF4-FFF2-40B4-BE49-F238E27FC236}">
                <a16:creationId xmlns:a16="http://schemas.microsoft.com/office/drawing/2014/main" id="{636E5738-9DAE-4296-A9BE-4DDC7CE210B7}"/>
              </a:ext>
            </a:extLst>
          </p:cNvPr>
          <p:cNvGrpSpPr/>
          <p:nvPr/>
        </p:nvGrpSpPr>
        <p:grpSpPr>
          <a:xfrm flipH="1">
            <a:off x="793188" y="1666970"/>
            <a:ext cx="10563658" cy="1307035"/>
            <a:chOff x="-5900544" y="3275376"/>
            <a:chExt cx="9894294" cy="1334100"/>
          </a:xfrm>
        </p:grpSpPr>
        <p:grpSp>
          <p:nvGrpSpPr>
            <p:cNvPr id="23" name="Group 87">
              <a:extLst>
                <a:ext uri="{FF2B5EF4-FFF2-40B4-BE49-F238E27FC236}">
                  <a16:creationId xmlns:a16="http://schemas.microsoft.com/office/drawing/2014/main" id="{E2B328C0-E5EB-4C90-A070-D13C9A81C8F1}"/>
                </a:ext>
              </a:extLst>
            </p:cNvPr>
            <p:cNvGrpSpPr/>
            <p:nvPr/>
          </p:nvGrpSpPr>
          <p:grpSpPr>
            <a:xfrm>
              <a:off x="-5900544" y="3275376"/>
              <a:ext cx="9081288" cy="1334100"/>
              <a:chOff x="-5900544" y="3275376"/>
              <a:chExt cx="9081288" cy="1334100"/>
            </a:xfrm>
          </p:grpSpPr>
          <p:sp>
            <p:nvSpPr>
              <p:cNvPr id="30" name="Rectangle 33">
                <a:extLst>
                  <a:ext uri="{FF2B5EF4-FFF2-40B4-BE49-F238E27FC236}">
                    <a16:creationId xmlns:a16="http://schemas.microsoft.com/office/drawing/2014/main" id="{6EE1B080-C9B1-4044-9B28-DD7F1FEDCAB4}"/>
                  </a:ext>
                </a:extLst>
              </p:cNvPr>
              <p:cNvSpPr/>
              <p:nvPr/>
            </p:nvSpPr>
            <p:spPr>
              <a:xfrm>
                <a:off x="-5900544" y="3667026"/>
                <a:ext cx="9026384" cy="942450"/>
              </a:xfrm>
              <a:prstGeom prst="rect">
                <a:avLst/>
              </a:prstGeom>
              <a:ln>
                <a:solidFill>
                  <a:schemeClr val="tx1"/>
                </a:solid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4</a:t>
                </a:r>
                <a:r>
                  <a:rPr lang="zh-CN" altLang="en-US" sz="1200" kern="0" dirty="0">
                    <a:solidFill>
                      <a:prstClr val="black"/>
                    </a:solidFill>
                    <a:latin typeface="微软雅黑" panose="020B0503020204020204" pitchFamily="34" charset="-122"/>
                    <a:ea typeface="微软雅黑" panose="020B0503020204020204" pitchFamily="34" charset="-122"/>
                  </a:rPr>
                  <a:t>．文件操作</a:t>
                </a:r>
              </a:p>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文件测试操作表达式通常是为了测试文件的信息，一般由脚本来决定文件是否应该备份、复制或删除。由于</a:t>
                </a:r>
                <a:r>
                  <a:rPr lang="en-US" altLang="zh-CN" sz="1200" kern="0" dirty="0">
                    <a:solidFill>
                      <a:prstClr val="black"/>
                    </a:solidFill>
                    <a:latin typeface="微软雅黑" panose="020B0503020204020204" pitchFamily="34" charset="-122"/>
                    <a:ea typeface="微软雅黑" panose="020B0503020204020204" pitchFamily="34" charset="-122"/>
                  </a:rPr>
                  <a:t>test</a:t>
                </a:r>
                <a:r>
                  <a:rPr lang="zh-CN" altLang="en-US" sz="1200" kern="0" dirty="0">
                    <a:solidFill>
                      <a:prstClr val="black"/>
                    </a:solidFill>
                    <a:latin typeface="微软雅黑" panose="020B0503020204020204" pitchFamily="34" charset="-122"/>
                    <a:ea typeface="微软雅黑" panose="020B0503020204020204" pitchFamily="34" charset="-122"/>
                  </a:rPr>
                  <a:t>关于文件的操作符有很多，在表</a:t>
                </a:r>
                <a:r>
                  <a:rPr lang="en-US" altLang="zh-CN" sz="1200" kern="0" dirty="0">
                    <a:solidFill>
                      <a:prstClr val="black"/>
                    </a:solidFill>
                    <a:latin typeface="微软雅黑" panose="020B0503020204020204" pitchFamily="34" charset="-122"/>
                    <a:ea typeface="微软雅黑" panose="020B0503020204020204" pitchFamily="34" charset="-122"/>
                  </a:rPr>
                  <a:t>4-4</a:t>
                </a:r>
                <a:r>
                  <a:rPr lang="zh-CN" altLang="en-US" sz="1200" kern="0" dirty="0">
                    <a:solidFill>
                      <a:prstClr val="black"/>
                    </a:solidFill>
                    <a:latin typeface="微软雅黑" panose="020B0503020204020204" pitchFamily="34" charset="-122"/>
                    <a:ea typeface="微软雅黑" panose="020B0503020204020204" pitchFamily="34" charset="-122"/>
                  </a:rPr>
                  <a:t>中只列举一些常用的操作符。</a:t>
                </a:r>
                <a:endParaRPr lang="en-US" altLang="zh-CN" sz="1200" kern="0" dirty="0">
                  <a:solidFill>
                    <a:prstClr val="black"/>
                  </a:solidFill>
                  <a:latin typeface="微软雅黑" panose="020B0503020204020204" pitchFamily="34" charset="-122"/>
                  <a:ea typeface="微软雅黑" panose="020B0503020204020204" pitchFamily="34" charset="-122"/>
                </a:endParaRPr>
              </a:p>
            </p:txBody>
          </p:sp>
          <p:sp>
            <p:nvSpPr>
              <p:cNvPr id="31" name="Rectangle 34">
                <a:extLst>
                  <a:ext uri="{FF2B5EF4-FFF2-40B4-BE49-F238E27FC236}">
                    <a16:creationId xmlns:a16="http://schemas.microsoft.com/office/drawing/2014/main" id="{541288B1-75D7-43E4-BBBA-0E9B26B69573}"/>
                  </a:ext>
                </a:extLst>
              </p:cNvPr>
              <p:cNvSpPr/>
              <p:nvPr/>
            </p:nvSpPr>
            <p:spPr>
              <a:xfrm>
                <a:off x="1665502" y="3275376"/>
                <a:ext cx="1515242" cy="314150"/>
              </a:xfrm>
              <a:prstGeom prst="rect">
                <a:avLst/>
              </a:prstGeom>
            </p:spPr>
            <p:txBody>
              <a:bodyPr wrap="none">
                <a:spAutoFit/>
              </a:bodyPr>
              <a:lstStyle/>
              <a:p>
                <a:pPr lvl="0" algn="r" defTabSz="457200"/>
                <a:r>
                  <a:rPr lang="en-US" altLang="zh-CN"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4.3.4 </a:t>
                </a:r>
                <a:r>
                  <a:rPr lang="zh-CN" altLang="en-US" sz="1400" b="1" kern="0" dirty="0">
                    <a:solidFill>
                      <a:srgbClr val="00B05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变量表达式</a:t>
                </a:r>
                <a:endParaRPr kumimoji="0" lang="en-US" altLang="zh-CN" sz="1400" b="1" i="0" u="none" strike="noStrike" kern="0" cap="none" spc="0" normalizeH="0" baseline="0" noProof="0" dirty="0">
                  <a:ln>
                    <a:noFill/>
                  </a:ln>
                  <a:solidFill>
                    <a:srgbClr val="00B05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Open Sans" pitchFamily="34" charset="0"/>
                </a:endParaRPr>
              </a:p>
            </p:txBody>
          </p:sp>
        </p:grpSp>
        <p:grpSp>
          <p:nvGrpSpPr>
            <p:cNvPr id="24" name="Group 86">
              <a:extLst>
                <a:ext uri="{FF2B5EF4-FFF2-40B4-BE49-F238E27FC236}">
                  <a16:creationId xmlns:a16="http://schemas.microsoft.com/office/drawing/2014/main" id="{781DA789-58FC-40BA-AE90-2F958A59713B}"/>
                </a:ext>
              </a:extLst>
            </p:cNvPr>
            <p:cNvGrpSpPr/>
            <p:nvPr/>
          </p:nvGrpSpPr>
          <p:grpSpPr>
            <a:xfrm>
              <a:off x="3357554" y="3643319"/>
              <a:ext cx="636196" cy="636164"/>
              <a:chOff x="3357554" y="3643319"/>
              <a:chExt cx="636196" cy="636164"/>
            </a:xfrm>
          </p:grpSpPr>
          <p:sp>
            <p:nvSpPr>
              <p:cNvPr id="25" name="Rectangle 26">
                <a:extLst>
                  <a:ext uri="{FF2B5EF4-FFF2-40B4-BE49-F238E27FC236}">
                    <a16:creationId xmlns:a16="http://schemas.microsoft.com/office/drawing/2014/main" id="{82CCB487-2D61-4D38-B7A1-9DAC7A5951CF}"/>
                  </a:ext>
                </a:extLst>
              </p:cNvPr>
              <p:cNvSpPr/>
              <p:nvPr/>
            </p:nvSpPr>
            <p:spPr>
              <a:xfrm>
                <a:off x="3357554" y="3643319"/>
                <a:ext cx="636196" cy="636164"/>
              </a:xfrm>
              <a:prstGeom prst="rect">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grpSp>
            <p:nvGrpSpPr>
              <p:cNvPr id="26" name="Group 67">
                <a:extLst>
                  <a:ext uri="{FF2B5EF4-FFF2-40B4-BE49-F238E27FC236}">
                    <a16:creationId xmlns:a16="http://schemas.microsoft.com/office/drawing/2014/main" id="{08BC7DC6-7D51-4ACD-A607-BBA507A4C53C}"/>
                  </a:ext>
                </a:extLst>
              </p:cNvPr>
              <p:cNvGrpSpPr/>
              <p:nvPr/>
            </p:nvGrpSpPr>
            <p:grpSpPr>
              <a:xfrm>
                <a:off x="3428992" y="3857634"/>
                <a:ext cx="503238" cy="177800"/>
                <a:chOff x="1441430" y="4357700"/>
                <a:chExt cx="503238" cy="177800"/>
              </a:xfrm>
              <a:solidFill>
                <a:sysClr val="window" lastClr="FFFFFF"/>
              </a:solidFill>
            </p:grpSpPr>
            <p:sp>
              <p:nvSpPr>
                <p:cNvPr id="27" name="Freeform 19">
                  <a:extLst>
                    <a:ext uri="{FF2B5EF4-FFF2-40B4-BE49-F238E27FC236}">
                      <a16:creationId xmlns:a16="http://schemas.microsoft.com/office/drawing/2014/main" id="{596902EC-336B-4F77-A260-D2D0BC67FE22}"/>
                    </a:ext>
                  </a:extLst>
                </p:cNvPr>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8" name="Freeform 20">
                  <a:extLst>
                    <a:ext uri="{FF2B5EF4-FFF2-40B4-BE49-F238E27FC236}">
                      <a16:creationId xmlns:a16="http://schemas.microsoft.com/office/drawing/2014/main" id="{F280770E-D323-4942-BD9B-25B070909349}"/>
                    </a:ext>
                  </a:extLst>
                </p:cNvPr>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9" name="Freeform 21">
                  <a:extLst>
                    <a:ext uri="{FF2B5EF4-FFF2-40B4-BE49-F238E27FC236}">
                      <a16:creationId xmlns:a16="http://schemas.microsoft.com/office/drawing/2014/main" id="{E234649D-5155-413A-B79A-CB0060D56EA2}"/>
                    </a:ext>
                  </a:extLst>
                </p:cNvPr>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grpSp>
        </p:grpSp>
      </p:grpSp>
      <p:pic>
        <p:nvPicPr>
          <p:cNvPr id="3" name="图片 2"/>
          <p:cNvPicPr>
            <a:picLocks noChangeAspect="1"/>
          </p:cNvPicPr>
          <p:nvPr/>
        </p:nvPicPr>
        <p:blipFill>
          <a:blip r:embed="rId2"/>
          <a:stretch>
            <a:fillRect/>
          </a:stretch>
        </p:blipFill>
        <p:spPr>
          <a:xfrm>
            <a:off x="3575720" y="3573016"/>
            <a:ext cx="5222526" cy="2166720"/>
          </a:xfrm>
          <a:prstGeom prst="rect">
            <a:avLst/>
          </a:prstGeom>
        </p:spPr>
      </p:pic>
    </p:spTree>
    <p:extLst>
      <p:ext uri="{BB962C8B-B14F-4D97-AF65-F5344CB8AC3E}">
        <p14:creationId xmlns:p14="http://schemas.microsoft.com/office/powerpoint/2010/main" val="404682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22" name="Group 97">
            <a:extLst>
              <a:ext uri="{FF2B5EF4-FFF2-40B4-BE49-F238E27FC236}">
                <a16:creationId xmlns:a16="http://schemas.microsoft.com/office/drawing/2014/main" id="{636E5738-9DAE-4296-A9BE-4DDC7CE210B7}"/>
              </a:ext>
            </a:extLst>
          </p:cNvPr>
          <p:cNvGrpSpPr/>
          <p:nvPr/>
        </p:nvGrpSpPr>
        <p:grpSpPr>
          <a:xfrm flipH="1">
            <a:off x="886096" y="1660662"/>
            <a:ext cx="10470750" cy="1126739"/>
            <a:chOff x="-5813522" y="3515057"/>
            <a:chExt cx="9807272" cy="1150071"/>
          </a:xfrm>
        </p:grpSpPr>
        <p:grpSp>
          <p:nvGrpSpPr>
            <p:cNvPr id="23" name="Group 87">
              <a:extLst>
                <a:ext uri="{FF2B5EF4-FFF2-40B4-BE49-F238E27FC236}">
                  <a16:creationId xmlns:a16="http://schemas.microsoft.com/office/drawing/2014/main" id="{E2B328C0-E5EB-4C90-A070-D13C9A81C8F1}"/>
                </a:ext>
              </a:extLst>
            </p:cNvPr>
            <p:cNvGrpSpPr/>
            <p:nvPr/>
          </p:nvGrpSpPr>
          <p:grpSpPr>
            <a:xfrm>
              <a:off x="-5813522" y="3515057"/>
              <a:ext cx="9058047" cy="1150071"/>
              <a:chOff x="-5813522" y="3515057"/>
              <a:chExt cx="9058047" cy="1150071"/>
            </a:xfrm>
          </p:grpSpPr>
          <p:sp>
            <p:nvSpPr>
              <p:cNvPr id="30" name="Rectangle 33">
                <a:extLst>
                  <a:ext uri="{FF2B5EF4-FFF2-40B4-BE49-F238E27FC236}">
                    <a16:creationId xmlns:a16="http://schemas.microsoft.com/office/drawing/2014/main" id="{6EE1B080-C9B1-4044-9B28-DD7F1FEDCAB4}"/>
                  </a:ext>
                </a:extLst>
              </p:cNvPr>
              <p:cNvSpPr/>
              <p:nvPr/>
            </p:nvSpPr>
            <p:spPr>
              <a:xfrm>
                <a:off x="-5813522" y="3864046"/>
                <a:ext cx="8994263" cy="801082"/>
              </a:xfrm>
              <a:prstGeom prst="rect">
                <a:avLst/>
              </a:prstGeom>
              <a:ln>
                <a:solidFill>
                  <a:schemeClr val="tx1"/>
                </a:solidFill>
                <a:prstDash val="dash"/>
              </a:ln>
            </p:spPr>
            <p:txBody>
              <a:bodyPr wrap="square">
                <a:spAutoFit/>
              </a:bodyPr>
              <a:lstStyle/>
              <a:p>
                <a:pPr indent="288000" defTabSz="457200">
                  <a:lnSpc>
                    <a:spcPct val="125000"/>
                  </a:lnSpc>
                </a:pPr>
                <a:r>
                  <a:rPr lang="zh-CN" altLang="en-US"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脚本中，可以用几种不同的方式读入数据：可以使用标准输入，默认为键盘，或者指定一个文件作为输入。对于输出也是一样：如果不指定某个文件作为输出，标准输出总是和终端屏幕相关联。如果所使用命令出现了什么错误，它也会默认输出到屏幕上，如果不想把这些信息输出到屏幕上，也可以把这些信息指定到一个文件中。</a:t>
                </a:r>
                <a:endParaRPr lang="en-US" altLang="zh-CN" sz="1200" kern="0" dirty="0">
                  <a:solidFill>
                    <a:prstClr val="black"/>
                  </a:solidFill>
                  <a:latin typeface="微软雅黑" panose="020B0503020204020204" pitchFamily="34" charset="-122"/>
                  <a:ea typeface="微软雅黑" panose="020B0503020204020204" pitchFamily="34" charset="-122"/>
                </a:endParaRPr>
              </a:p>
            </p:txBody>
          </p:sp>
          <p:sp>
            <p:nvSpPr>
              <p:cNvPr id="31" name="Rectangle 34">
                <a:extLst>
                  <a:ext uri="{FF2B5EF4-FFF2-40B4-BE49-F238E27FC236}">
                    <a16:creationId xmlns:a16="http://schemas.microsoft.com/office/drawing/2014/main" id="{541288B1-75D7-43E4-BBBA-0E9B26B69573}"/>
                  </a:ext>
                </a:extLst>
              </p:cNvPr>
              <p:cNvSpPr/>
              <p:nvPr/>
            </p:nvSpPr>
            <p:spPr>
              <a:xfrm>
                <a:off x="1254832" y="3515057"/>
                <a:ext cx="1989693" cy="314150"/>
              </a:xfrm>
              <a:prstGeom prst="rect">
                <a:avLst/>
              </a:prstGeom>
            </p:spPr>
            <p:txBody>
              <a:bodyPr wrap="none">
                <a:spAutoFit/>
              </a:bodyPr>
              <a:lstStyle/>
              <a:p>
                <a:pPr lvl="0" algn="r" defTabSz="457200"/>
                <a:r>
                  <a:rPr lang="en-US" altLang="zh-CN"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4.3.5 </a:t>
                </a:r>
                <a:r>
                  <a:rPr lang="zh-CN" altLang="en-US"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 </a:t>
                </a:r>
                <a:r>
                  <a:rPr lang="en-US" altLang="zh-CN"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Shell</a:t>
                </a:r>
                <a:r>
                  <a:rPr lang="zh-CN" altLang="en-US"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的输入输出</a:t>
                </a:r>
                <a:endParaRPr kumimoji="0" lang="en-US" altLang="zh-CN" sz="1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Open Sans" pitchFamily="34" charset="0"/>
                </a:endParaRPr>
              </a:p>
            </p:txBody>
          </p:sp>
        </p:grpSp>
        <p:grpSp>
          <p:nvGrpSpPr>
            <p:cNvPr id="24" name="Group 86">
              <a:extLst>
                <a:ext uri="{FF2B5EF4-FFF2-40B4-BE49-F238E27FC236}">
                  <a16:creationId xmlns:a16="http://schemas.microsoft.com/office/drawing/2014/main" id="{781DA789-58FC-40BA-AE90-2F958A59713B}"/>
                </a:ext>
              </a:extLst>
            </p:cNvPr>
            <p:cNvGrpSpPr/>
            <p:nvPr/>
          </p:nvGrpSpPr>
          <p:grpSpPr>
            <a:xfrm>
              <a:off x="3357554" y="3643320"/>
              <a:ext cx="636196" cy="636164"/>
              <a:chOff x="3357554" y="3643320"/>
              <a:chExt cx="636196" cy="636164"/>
            </a:xfrm>
          </p:grpSpPr>
          <p:sp>
            <p:nvSpPr>
              <p:cNvPr id="25" name="Rectangle 26">
                <a:extLst>
                  <a:ext uri="{FF2B5EF4-FFF2-40B4-BE49-F238E27FC236}">
                    <a16:creationId xmlns:a16="http://schemas.microsoft.com/office/drawing/2014/main" id="{82CCB487-2D61-4D38-B7A1-9DAC7A5951CF}"/>
                  </a:ext>
                </a:extLst>
              </p:cNvPr>
              <p:cNvSpPr/>
              <p:nvPr/>
            </p:nvSpPr>
            <p:spPr>
              <a:xfrm>
                <a:off x="3357554" y="3643320"/>
                <a:ext cx="636196" cy="636164"/>
              </a:xfrm>
              <a:prstGeom prst="rect">
                <a:avLst/>
              </a:prstGeom>
              <a:solidFill>
                <a:srgbClr val="00206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grpSp>
            <p:nvGrpSpPr>
              <p:cNvPr id="26" name="Group 67">
                <a:extLst>
                  <a:ext uri="{FF2B5EF4-FFF2-40B4-BE49-F238E27FC236}">
                    <a16:creationId xmlns:a16="http://schemas.microsoft.com/office/drawing/2014/main" id="{08BC7DC6-7D51-4ACD-A607-BBA507A4C53C}"/>
                  </a:ext>
                </a:extLst>
              </p:cNvPr>
              <p:cNvGrpSpPr/>
              <p:nvPr/>
            </p:nvGrpSpPr>
            <p:grpSpPr>
              <a:xfrm>
                <a:off x="3428992" y="3857634"/>
                <a:ext cx="503238" cy="177800"/>
                <a:chOff x="1441430" y="4357700"/>
                <a:chExt cx="503238" cy="177800"/>
              </a:xfrm>
              <a:solidFill>
                <a:sysClr val="window" lastClr="FFFFFF"/>
              </a:solidFill>
            </p:grpSpPr>
            <p:sp>
              <p:nvSpPr>
                <p:cNvPr id="27" name="Freeform 19">
                  <a:extLst>
                    <a:ext uri="{FF2B5EF4-FFF2-40B4-BE49-F238E27FC236}">
                      <a16:creationId xmlns:a16="http://schemas.microsoft.com/office/drawing/2014/main" id="{596902EC-336B-4F77-A260-D2D0BC67FE22}"/>
                    </a:ext>
                  </a:extLst>
                </p:cNvPr>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8" name="Freeform 20">
                  <a:extLst>
                    <a:ext uri="{FF2B5EF4-FFF2-40B4-BE49-F238E27FC236}">
                      <a16:creationId xmlns:a16="http://schemas.microsoft.com/office/drawing/2014/main" id="{F280770E-D323-4942-BD9B-25B070909349}"/>
                    </a:ext>
                  </a:extLst>
                </p:cNvPr>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9" name="Freeform 21">
                  <a:extLst>
                    <a:ext uri="{FF2B5EF4-FFF2-40B4-BE49-F238E27FC236}">
                      <a16:creationId xmlns:a16="http://schemas.microsoft.com/office/drawing/2014/main" id="{E234649D-5155-413A-B79A-CB0060D56EA2}"/>
                    </a:ext>
                  </a:extLst>
                </p:cNvPr>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grpSp>
        </p:grpSp>
      </p:grpSp>
      <p:pic>
        <p:nvPicPr>
          <p:cNvPr id="3" name="图片 2"/>
          <p:cNvPicPr>
            <a:picLocks noChangeAspect="1"/>
          </p:cNvPicPr>
          <p:nvPr/>
        </p:nvPicPr>
        <p:blipFill>
          <a:blip r:embed="rId2"/>
          <a:stretch>
            <a:fillRect/>
          </a:stretch>
        </p:blipFill>
        <p:spPr>
          <a:xfrm>
            <a:off x="2351584" y="3518410"/>
            <a:ext cx="5222526" cy="1002717"/>
          </a:xfrm>
          <a:prstGeom prst="rect">
            <a:avLst/>
          </a:prstGeom>
        </p:spPr>
      </p:pic>
      <p:sp>
        <p:nvSpPr>
          <p:cNvPr id="5" name="矩形 4"/>
          <p:cNvSpPr/>
          <p:nvPr/>
        </p:nvSpPr>
        <p:spPr>
          <a:xfrm>
            <a:off x="1809628" y="2852694"/>
            <a:ext cx="9602740" cy="646331"/>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1</a:t>
            </a:r>
            <a:r>
              <a:rPr lang="zh-CN" altLang="en-US"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echo</a:t>
            </a:r>
          </a:p>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使用</a:t>
            </a:r>
            <a:r>
              <a:rPr lang="en-US" altLang="zh-CN" sz="1200" kern="0" dirty="0">
                <a:solidFill>
                  <a:prstClr val="black"/>
                </a:solidFill>
                <a:latin typeface="微软雅黑" panose="020B0503020204020204" pitchFamily="34" charset="-122"/>
                <a:ea typeface="微软雅黑" panose="020B0503020204020204" pitchFamily="34" charset="-122"/>
              </a:rPr>
              <a:t>echo</a:t>
            </a:r>
            <a:r>
              <a:rPr lang="zh-CN" altLang="en-US" sz="1200" kern="0" dirty="0">
                <a:solidFill>
                  <a:prstClr val="black"/>
                </a:solidFill>
                <a:latin typeface="微软雅黑" panose="020B0503020204020204" pitchFamily="34" charset="-122"/>
                <a:ea typeface="微软雅黑" panose="020B0503020204020204" pitchFamily="34" charset="-122"/>
              </a:rPr>
              <a:t>命令可以显示文本行或变量，或者把字符串输入到文件。它的一般形式如下：</a:t>
            </a:r>
          </a:p>
        </p:txBody>
      </p:sp>
      <p:sp>
        <p:nvSpPr>
          <p:cNvPr id="6" name="矩形 5"/>
          <p:cNvSpPr/>
          <p:nvPr/>
        </p:nvSpPr>
        <p:spPr>
          <a:xfrm>
            <a:off x="1836821" y="4498496"/>
            <a:ext cx="9437310" cy="1200329"/>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2</a:t>
            </a:r>
            <a:r>
              <a:rPr lang="zh-CN" altLang="zh-CN"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read</a:t>
            </a:r>
            <a:endParaRPr lang="zh-CN" altLang="zh-CN" sz="1200" kern="0" dirty="0">
              <a:solidFill>
                <a:prstClr val="black"/>
              </a:solidFill>
              <a:latin typeface="微软雅黑" panose="020B0503020204020204" pitchFamily="34" charset="-122"/>
              <a:ea typeface="微软雅黑" panose="020B0503020204020204" pitchFamily="34" charset="-122"/>
            </a:endParaRPr>
          </a:p>
          <a:p>
            <a:pPr indent="288000" defTabSz="457200">
              <a:lnSpc>
                <a:spcPct val="150000"/>
              </a:lnSpc>
            </a:pPr>
            <a:r>
              <a:rPr lang="zh-CN" altLang="zh-CN" sz="1200" kern="0" dirty="0">
                <a:solidFill>
                  <a:prstClr val="black"/>
                </a:solidFill>
                <a:latin typeface="微软雅黑" panose="020B0503020204020204" pitchFamily="34" charset="-122"/>
                <a:ea typeface="微软雅黑" panose="020B0503020204020204" pitchFamily="34" charset="-122"/>
              </a:rPr>
              <a:t>可以使用</a:t>
            </a:r>
            <a:r>
              <a:rPr lang="en-US" altLang="zh-CN" sz="1200" kern="0" dirty="0">
                <a:solidFill>
                  <a:prstClr val="black"/>
                </a:solidFill>
                <a:latin typeface="微软雅黑" panose="020B0503020204020204" pitchFamily="34" charset="-122"/>
                <a:ea typeface="微软雅黑" panose="020B0503020204020204" pitchFamily="34" charset="-122"/>
              </a:rPr>
              <a:t>read</a:t>
            </a:r>
            <a:r>
              <a:rPr lang="zh-CN" altLang="zh-CN" sz="1200" kern="0" dirty="0">
                <a:solidFill>
                  <a:prstClr val="black"/>
                </a:solidFill>
                <a:latin typeface="微软雅黑" panose="020B0503020204020204" pitchFamily="34" charset="-122"/>
                <a:ea typeface="微软雅黑" panose="020B0503020204020204" pitchFamily="34" charset="-122"/>
              </a:rPr>
              <a:t>语句从键盘或文件的某一行文本中读入信息，并将其赋给一个变量。如果只指定了一个变量，那么</a:t>
            </a:r>
            <a:r>
              <a:rPr lang="en-US" altLang="zh-CN" sz="1200" kern="0" dirty="0">
                <a:solidFill>
                  <a:prstClr val="black"/>
                </a:solidFill>
                <a:latin typeface="微软雅黑" panose="020B0503020204020204" pitchFamily="34" charset="-122"/>
                <a:ea typeface="微软雅黑" panose="020B0503020204020204" pitchFamily="34" charset="-122"/>
              </a:rPr>
              <a:t>read</a:t>
            </a:r>
            <a:r>
              <a:rPr lang="zh-CN" altLang="zh-CN" sz="1200" kern="0" dirty="0">
                <a:solidFill>
                  <a:prstClr val="black"/>
                </a:solidFill>
                <a:latin typeface="微软雅黑" panose="020B0503020204020204" pitchFamily="34" charset="-122"/>
                <a:ea typeface="微软雅黑" panose="020B0503020204020204" pitchFamily="34" charset="-122"/>
              </a:rPr>
              <a:t>将会把所有的输入赋给该变量，直至遇到第一个文件结束符或回车，它的一般形式如下：</a:t>
            </a:r>
          </a:p>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read varible1 varible2 ...</a:t>
            </a:r>
            <a:endParaRPr lang="zh-CN" altLang="zh-CN" sz="1200" kern="0" dirty="0">
              <a:solidFill>
                <a:prstClr val="black"/>
              </a:solidFill>
              <a:latin typeface="微软雅黑" panose="020B0503020204020204" pitchFamily="34" charset="-122"/>
              <a:ea typeface="微软雅黑" panose="020B0503020204020204" pitchFamily="34" charset="-122"/>
            </a:endParaRPr>
          </a:p>
        </p:txBody>
      </p:sp>
      <p:sp>
        <p:nvSpPr>
          <p:cNvPr id="9" name="矩形 8"/>
          <p:cNvSpPr/>
          <p:nvPr/>
        </p:nvSpPr>
        <p:spPr>
          <a:xfrm>
            <a:off x="1836821" y="5698825"/>
            <a:ext cx="8352928" cy="646331"/>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3</a:t>
            </a:r>
            <a:r>
              <a:rPr lang="zh-CN" altLang="zh-CN"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cat</a:t>
            </a:r>
            <a:endParaRPr lang="zh-CN" altLang="zh-CN" sz="1200" kern="0" dirty="0">
              <a:solidFill>
                <a:prstClr val="black"/>
              </a:solidFill>
              <a:latin typeface="微软雅黑" panose="020B0503020204020204" pitchFamily="34" charset="-122"/>
              <a:ea typeface="微软雅黑" panose="020B0503020204020204" pitchFamily="34" charset="-122"/>
            </a:endParaRPr>
          </a:p>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cat</a:t>
            </a:r>
            <a:r>
              <a:rPr lang="zh-CN" altLang="zh-CN" sz="1200" kern="0" dirty="0">
                <a:solidFill>
                  <a:prstClr val="black"/>
                </a:solidFill>
                <a:latin typeface="微软雅黑" panose="020B0503020204020204" pitchFamily="34" charset="-122"/>
                <a:ea typeface="微软雅黑" panose="020B0503020204020204" pitchFamily="34" charset="-122"/>
              </a:rPr>
              <a:t>是一个简单而通用的命令，可以用它来显示文件内容，创建文件，还可以用它来显示控制字符。</a:t>
            </a:r>
            <a:endParaRPr lang="zh-CN" altLang="en-US" sz="1200" kern="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739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4.3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知识储备</a:t>
            </a:r>
          </a:p>
        </p:txBody>
      </p:sp>
      <p:grpSp>
        <p:nvGrpSpPr>
          <p:cNvPr id="22" name="Group 97">
            <a:extLst>
              <a:ext uri="{FF2B5EF4-FFF2-40B4-BE49-F238E27FC236}">
                <a16:creationId xmlns:a16="http://schemas.microsoft.com/office/drawing/2014/main" id="{636E5738-9DAE-4296-A9BE-4DDC7CE210B7}"/>
              </a:ext>
            </a:extLst>
          </p:cNvPr>
          <p:cNvGrpSpPr/>
          <p:nvPr/>
        </p:nvGrpSpPr>
        <p:grpSpPr>
          <a:xfrm flipH="1">
            <a:off x="886096" y="1660663"/>
            <a:ext cx="2924210" cy="748919"/>
            <a:chOff x="1254832" y="3515057"/>
            <a:chExt cx="2738918" cy="764427"/>
          </a:xfrm>
        </p:grpSpPr>
        <p:sp>
          <p:nvSpPr>
            <p:cNvPr id="31" name="Rectangle 34">
              <a:extLst>
                <a:ext uri="{FF2B5EF4-FFF2-40B4-BE49-F238E27FC236}">
                  <a16:creationId xmlns:a16="http://schemas.microsoft.com/office/drawing/2014/main" id="{541288B1-75D7-43E4-BBBA-0E9B26B69573}"/>
                </a:ext>
              </a:extLst>
            </p:cNvPr>
            <p:cNvSpPr/>
            <p:nvPr/>
          </p:nvSpPr>
          <p:spPr>
            <a:xfrm>
              <a:off x="1254832" y="3515057"/>
              <a:ext cx="1989693" cy="314150"/>
            </a:xfrm>
            <a:prstGeom prst="rect">
              <a:avLst/>
            </a:prstGeom>
          </p:spPr>
          <p:txBody>
            <a:bodyPr wrap="none">
              <a:spAutoFit/>
            </a:bodyPr>
            <a:lstStyle/>
            <a:p>
              <a:pPr lvl="0" algn="r" defTabSz="457200"/>
              <a:r>
                <a:rPr lang="en-US" altLang="zh-CN"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4.3.5 </a:t>
              </a:r>
              <a:r>
                <a:rPr lang="zh-CN" altLang="en-US"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 </a:t>
              </a:r>
              <a:r>
                <a:rPr lang="en-US" altLang="zh-CN"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Shell</a:t>
              </a:r>
              <a:r>
                <a:rPr lang="zh-CN" altLang="en-US" sz="1400" b="1" kern="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Open Sans" pitchFamily="34" charset="0"/>
                </a:rPr>
                <a:t>的输入输出</a:t>
              </a:r>
              <a:endParaRPr kumimoji="0" lang="en-US" altLang="zh-CN" sz="14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等线" panose="02010600030101010101" pitchFamily="2" charset="-122"/>
                <a:ea typeface="等线" panose="02010600030101010101" pitchFamily="2" charset="-122"/>
                <a:cs typeface="Open Sans" pitchFamily="34" charset="0"/>
              </a:endParaRPr>
            </a:p>
          </p:txBody>
        </p:sp>
        <p:grpSp>
          <p:nvGrpSpPr>
            <p:cNvPr id="24" name="Group 86">
              <a:extLst>
                <a:ext uri="{FF2B5EF4-FFF2-40B4-BE49-F238E27FC236}">
                  <a16:creationId xmlns:a16="http://schemas.microsoft.com/office/drawing/2014/main" id="{781DA789-58FC-40BA-AE90-2F958A59713B}"/>
                </a:ext>
              </a:extLst>
            </p:cNvPr>
            <p:cNvGrpSpPr/>
            <p:nvPr/>
          </p:nvGrpSpPr>
          <p:grpSpPr>
            <a:xfrm>
              <a:off x="3357554" y="3643320"/>
              <a:ext cx="636196" cy="636164"/>
              <a:chOff x="3357554" y="3643320"/>
              <a:chExt cx="636196" cy="636164"/>
            </a:xfrm>
          </p:grpSpPr>
          <p:sp>
            <p:nvSpPr>
              <p:cNvPr id="25" name="Rectangle 26">
                <a:extLst>
                  <a:ext uri="{FF2B5EF4-FFF2-40B4-BE49-F238E27FC236}">
                    <a16:creationId xmlns:a16="http://schemas.microsoft.com/office/drawing/2014/main" id="{82CCB487-2D61-4D38-B7A1-9DAC7A5951CF}"/>
                  </a:ext>
                </a:extLst>
              </p:cNvPr>
              <p:cNvSpPr/>
              <p:nvPr/>
            </p:nvSpPr>
            <p:spPr>
              <a:xfrm>
                <a:off x="3357554" y="3643320"/>
                <a:ext cx="636196" cy="636164"/>
              </a:xfrm>
              <a:prstGeom prst="rect">
                <a:avLst/>
              </a:prstGeom>
              <a:solidFill>
                <a:srgbClr val="00206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grpSp>
            <p:nvGrpSpPr>
              <p:cNvPr id="26" name="Group 67">
                <a:extLst>
                  <a:ext uri="{FF2B5EF4-FFF2-40B4-BE49-F238E27FC236}">
                    <a16:creationId xmlns:a16="http://schemas.microsoft.com/office/drawing/2014/main" id="{08BC7DC6-7D51-4ACD-A607-BBA507A4C53C}"/>
                  </a:ext>
                </a:extLst>
              </p:cNvPr>
              <p:cNvGrpSpPr/>
              <p:nvPr/>
            </p:nvGrpSpPr>
            <p:grpSpPr>
              <a:xfrm>
                <a:off x="3428992" y="3857634"/>
                <a:ext cx="503238" cy="177800"/>
                <a:chOff x="1441430" y="4357700"/>
                <a:chExt cx="503238" cy="177800"/>
              </a:xfrm>
              <a:solidFill>
                <a:sysClr val="window" lastClr="FFFFFF"/>
              </a:solidFill>
            </p:grpSpPr>
            <p:sp>
              <p:nvSpPr>
                <p:cNvPr id="27" name="Freeform 19">
                  <a:extLst>
                    <a:ext uri="{FF2B5EF4-FFF2-40B4-BE49-F238E27FC236}">
                      <a16:creationId xmlns:a16="http://schemas.microsoft.com/office/drawing/2014/main" id="{596902EC-336B-4F77-A260-D2D0BC67FE22}"/>
                    </a:ext>
                  </a:extLst>
                </p:cNvPr>
                <p:cNvSpPr>
                  <a:spLocks/>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8" name="Freeform 20">
                  <a:extLst>
                    <a:ext uri="{FF2B5EF4-FFF2-40B4-BE49-F238E27FC236}">
                      <a16:creationId xmlns:a16="http://schemas.microsoft.com/office/drawing/2014/main" id="{F280770E-D323-4942-BD9B-25B070909349}"/>
                    </a:ext>
                  </a:extLst>
                </p:cNvPr>
                <p:cNvSpPr>
                  <a:spLocks/>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sp>
              <p:nvSpPr>
                <p:cNvPr id="29" name="Freeform 21">
                  <a:extLst>
                    <a:ext uri="{FF2B5EF4-FFF2-40B4-BE49-F238E27FC236}">
                      <a16:creationId xmlns:a16="http://schemas.microsoft.com/office/drawing/2014/main" id="{E234649D-5155-413A-B79A-CB0060D56EA2}"/>
                    </a:ext>
                  </a:extLst>
                </p:cNvPr>
                <p:cNvSpPr>
                  <a:spLocks/>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headEnd/>
                  <a:tailEnd/>
                </a:ln>
              </p:spPr>
              <p:txBody>
                <a:bodyPr vert="horz" wrap="square" lIns="67189" tIns="33594" rIns="67189" bIns="33594"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975" b="0" i="0" u="none" strike="noStrike" kern="0" cap="none" spc="0" normalizeH="0" baseline="0" noProof="0">
                    <a:ln>
                      <a:noFill/>
                    </a:ln>
                    <a:solidFill>
                      <a:prstClr val="black">
                        <a:lumMod val="50000"/>
                        <a:lumOff val="50000"/>
                      </a:prstClr>
                    </a:solidFill>
                    <a:effectLst/>
                    <a:uLnTx/>
                    <a:uFillTx/>
                  </a:endParaRPr>
                </a:p>
              </p:txBody>
            </p:sp>
          </p:grpSp>
        </p:grpSp>
      </p:grpSp>
      <p:sp>
        <p:nvSpPr>
          <p:cNvPr id="5" name="矩形 4"/>
          <p:cNvSpPr/>
          <p:nvPr/>
        </p:nvSpPr>
        <p:spPr>
          <a:xfrm>
            <a:off x="1697083" y="2173341"/>
            <a:ext cx="9602740" cy="613694"/>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4</a:t>
            </a:r>
            <a:r>
              <a:rPr lang="zh-CN" altLang="en-US" sz="1200" kern="0" dirty="0">
                <a:solidFill>
                  <a:prstClr val="black"/>
                </a:solidFill>
                <a:latin typeface="微软雅黑" panose="020B0503020204020204" pitchFamily="34" charset="-122"/>
                <a:ea typeface="微软雅黑" panose="020B0503020204020204" pitchFamily="34" charset="-122"/>
              </a:rPr>
              <a:t>．管道</a:t>
            </a:r>
          </a:p>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可以通过管道把一个命令的输出传递给另一个命令作为输入。管道用竖杠“</a:t>
            </a:r>
            <a:r>
              <a:rPr lang="en-US" altLang="zh-CN" sz="1200" kern="0" dirty="0">
                <a:solidFill>
                  <a:prstClr val="black"/>
                </a:solidFill>
                <a:latin typeface="微软雅黑" panose="020B0503020204020204" pitchFamily="34" charset="-122"/>
                <a:ea typeface="微软雅黑" panose="020B0503020204020204" pitchFamily="34" charset="-122"/>
              </a:rPr>
              <a:t>|”</a:t>
            </a:r>
            <a:r>
              <a:rPr lang="zh-CN" altLang="en-US" sz="1200" kern="0" dirty="0">
                <a:solidFill>
                  <a:prstClr val="black"/>
                </a:solidFill>
                <a:latin typeface="微软雅黑" panose="020B0503020204020204" pitchFamily="34" charset="-122"/>
                <a:ea typeface="微软雅黑" panose="020B0503020204020204" pitchFamily="34" charset="-122"/>
              </a:rPr>
              <a:t>表示。它的一般形式如下：</a:t>
            </a:r>
          </a:p>
        </p:txBody>
      </p:sp>
      <p:sp>
        <p:nvSpPr>
          <p:cNvPr id="6" name="矩形 5"/>
          <p:cNvSpPr/>
          <p:nvPr/>
        </p:nvSpPr>
        <p:spPr>
          <a:xfrm>
            <a:off x="1779798" y="3131772"/>
            <a:ext cx="9437310" cy="923330"/>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5</a:t>
            </a:r>
            <a:r>
              <a:rPr lang="zh-CN" altLang="en-US" sz="1200" kern="0" dirty="0">
                <a:solidFill>
                  <a:prstClr val="black"/>
                </a:solidFill>
                <a:latin typeface="微软雅黑" panose="020B0503020204020204" pitchFamily="34" charset="-122"/>
                <a:ea typeface="微软雅黑" panose="020B0503020204020204" pitchFamily="34" charset="-122"/>
              </a:rPr>
              <a:t>．</a:t>
            </a:r>
            <a:r>
              <a:rPr lang="en-US" altLang="zh-CN" sz="1200" kern="0" dirty="0">
                <a:solidFill>
                  <a:prstClr val="black"/>
                </a:solidFill>
                <a:latin typeface="微软雅黑" panose="020B0503020204020204" pitchFamily="34" charset="-122"/>
                <a:ea typeface="微软雅黑" panose="020B0503020204020204" pitchFamily="34" charset="-122"/>
              </a:rPr>
              <a:t>tee</a:t>
            </a:r>
          </a:p>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tee</a:t>
            </a:r>
            <a:r>
              <a:rPr lang="zh-CN" altLang="en-US" sz="1200" kern="0" dirty="0">
                <a:solidFill>
                  <a:prstClr val="black"/>
                </a:solidFill>
                <a:latin typeface="微软雅黑" panose="020B0503020204020204" pitchFamily="34" charset="-122"/>
                <a:ea typeface="微软雅黑" panose="020B0503020204020204" pitchFamily="34" charset="-122"/>
              </a:rPr>
              <a:t>命令的作用可以用字母</a:t>
            </a:r>
            <a:r>
              <a:rPr lang="en-US" altLang="zh-CN" sz="1200" kern="0" dirty="0">
                <a:solidFill>
                  <a:prstClr val="black"/>
                </a:solidFill>
                <a:latin typeface="微软雅黑" panose="020B0503020204020204" pitchFamily="34" charset="-122"/>
                <a:ea typeface="微软雅黑" panose="020B0503020204020204" pitchFamily="34" charset="-122"/>
              </a:rPr>
              <a:t>T</a:t>
            </a:r>
            <a:r>
              <a:rPr lang="zh-CN" altLang="en-US" sz="1200" kern="0" dirty="0">
                <a:solidFill>
                  <a:prstClr val="black"/>
                </a:solidFill>
                <a:latin typeface="微软雅黑" panose="020B0503020204020204" pitchFamily="34" charset="-122"/>
                <a:ea typeface="微软雅黑" panose="020B0503020204020204" pitchFamily="34" charset="-122"/>
              </a:rPr>
              <a:t>来形象地表示。它把输出的一个副本输送到标准输出，另一个副本拷贝到相应的文件中，它的一般形式如下：</a:t>
            </a:r>
          </a:p>
        </p:txBody>
      </p:sp>
      <p:sp>
        <p:nvSpPr>
          <p:cNvPr id="9" name="矩形 8"/>
          <p:cNvSpPr/>
          <p:nvPr/>
        </p:nvSpPr>
        <p:spPr>
          <a:xfrm>
            <a:off x="1779798" y="4587288"/>
            <a:ext cx="8352928" cy="923330"/>
          </a:xfrm>
          <a:prstGeom prst="rect">
            <a:avLst/>
          </a:prstGeom>
          <a:ln>
            <a:noFill/>
            <a:prstDash val="dash"/>
          </a:ln>
        </p:spPr>
        <p:txBody>
          <a:bodyPr wrap="square">
            <a:spAutoFit/>
          </a:bodyPr>
          <a:lstStyle/>
          <a:p>
            <a:pPr indent="288000" defTabSz="457200">
              <a:lnSpc>
                <a:spcPct val="150000"/>
              </a:lnSpc>
            </a:pPr>
            <a:r>
              <a:rPr lang="en-US" altLang="zh-CN" sz="1200" kern="0" dirty="0">
                <a:solidFill>
                  <a:prstClr val="black"/>
                </a:solidFill>
                <a:latin typeface="微软雅黑" panose="020B0503020204020204" pitchFamily="34" charset="-122"/>
                <a:ea typeface="微软雅黑" panose="020B0503020204020204" pitchFamily="34" charset="-122"/>
              </a:rPr>
              <a:t>6</a:t>
            </a:r>
            <a:r>
              <a:rPr lang="zh-CN" altLang="en-US" sz="1200" kern="0" dirty="0">
                <a:solidFill>
                  <a:prstClr val="black"/>
                </a:solidFill>
                <a:latin typeface="微软雅黑" panose="020B0503020204020204" pitchFamily="34" charset="-122"/>
                <a:ea typeface="微软雅黑" panose="020B0503020204020204" pitchFamily="34" charset="-122"/>
              </a:rPr>
              <a:t>．文件重定向</a:t>
            </a:r>
          </a:p>
          <a:p>
            <a:pPr indent="288000" defTabSz="457200">
              <a:lnSpc>
                <a:spcPct val="150000"/>
              </a:lnSpc>
            </a:pPr>
            <a:r>
              <a:rPr lang="zh-CN" altLang="en-US" sz="1200" kern="0" dirty="0">
                <a:solidFill>
                  <a:prstClr val="black"/>
                </a:solidFill>
                <a:latin typeface="微软雅黑" panose="020B0503020204020204" pitchFamily="34" charset="-122"/>
                <a:ea typeface="微软雅黑" panose="020B0503020204020204" pitchFamily="34" charset="-122"/>
              </a:rPr>
              <a:t>在</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中执行命令时，每个进程都和三个打开的文件相关联，并使用文件描述符来引用这些文件。由于文件描述符不容易记忆，</a:t>
            </a:r>
            <a:r>
              <a:rPr lang="en-US" altLang="zh-CN" sz="1200" kern="0" dirty="0">
                <a:solidFill>
                  <a:prstClr val="black"/>
                </a:solidFill>
                <a:latin typeface="微软雅黑" panose="020B0503020204020204" pitchFamily="34" charset="-122"/>
                <a:ea typeface="微软雅黑" panose="020B0503020204020204" pitchFamily="34" charset="-122"/>
              </a:rPr>
              <a:t>Shell</a:t>
            </a:r>
            <a:r>
              <a:rPr lang="zh-CN" altLang="en-US" sz="1200" kern="0" dirty="0">
                <a:solidFill>
                  <a:prstClr val="black"/>
                </a:solidFill>
                <a:latin typeface="微软雅黑" panose="020B0503020204020204" pitchFamily="34" charset="-122"/>
                <a:ea typeface="微软雅黑" panose="020B0503020204020204" pitchFamily="34" charset="-122"/>
              </a:rPr>
              <a:t>同时也给出了相应的文件名。</a:t>
            </a:r>
          </a:p>
        </p:txBody>
      </p:sp>
      <p:pic>
        <p:nvPicPr>
          <p:cNvPr id="4" name="图片 3"/>
          <p:cNvPicPr>
            <a:picLocks noChangeAspect="1"/>
          </p:cNvPicPr>
          <p:nvPr/>
        </p:nvPicPr>
        <p:blipFill>
          <a:blip r:embed="rId2"/>
          <a:stretch>
            <a:fillRect/>
          </a:stretch>
        </p:blipFill>
        <p:spPr>
          <a:xfrm>
            <a:off x="2058585" y="2837187"/>
            <a:ext cx="6485687" cy="198407"/>
          </a:xfrm>
          <a:prstGeom prst="rect">
            <a:avLst/>
          </a:prstGeom>
        </p:spPr>
      </p:pic>
      <p:pic>
        <p:nvPicPr>
          <p:cNvPr id="8" name="图片 7"/>
          <p:cNvPicPr>
            <a:picLocks noChangeAspect="1"/>
          </p:cNvPicPr>
          <p:nvPr/>
        </p:nvPicPr>
        <p:blipFill>
          <a:blip r:embed="rId3"/>
          <a:stretch>
            <a:fillRect/>
          </a:stretch>
        </p:blipFill>
        <p:spPr>
          <a:xfrm>
            <a:off x="2058585" y="4178505"/>
            <a:ext cx="6490902" cy="262865"/>
          </a:xfrm>
          <a:prstGeom prst="rect">
            <a:avLst/>
          </a:prstGeom>
        </p:spPr>
      </p:pic>
    </p:spTree>
    <p:extLst>
      <p:ext uri="{BB962C8B-B14F-4D97-AF65-F5344CB8AC3E}">
        <p14:creationId xmlns:p14="http://schemas.microsoft.com/office/powerpoint/2010/main" val="42251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sp>
        <p:nvSpPr>
          <p:cNvPr id="8" name="矩形 7">
            <a:extLst>
              <a:ext uri="{FF2B5EF4-FFF2-40B4-BE49-F238E27FC236}">
                <a16:creationId xmlns:a16="http://schemas.microsoft.com/office/drawing/2014/main" id="{4854C844-3F09-42A4-AF87-A1AF4A90F584}"/>
              </a:ext>
            </a:extLst>
          </p:cNvPr>
          <p:cNvSpPr/>
          <p:nvPr/>
        </p:nvSpPr>
        <p:spPr>
          <a:xfrm>
            <a:off x="1019368" y="1907970"/>
            <a:ext cx="10057285" cy="738664"/>
          </a:xfrm>
          <a:prstGeom prst="rect">
            <a:avLst/>
          </a:prstGeom>
          <a:ln>
            <a:solidFill>
              <a:schemeClr val="tx1"/>
            </a:solidFill>
            <a:prstDash val="dash"/>
          </a:ln>
        </p:spPr>
        <p:txBody>
          <a:bodyPr wrap="square">
            <a:spAutoFit/>
          </a:bodyPr>
          <a:lstStyle/>
          <a:p>
            <a:pPr indent="457200">
              <a:lnSpc>
                <a:spcPct val="150000"/>
              </a:lnSpc>
            </a:pPr>
            <a:r>
              <a:rPr lang="en-US" altLang="zh-CN" sz="1400" dirty="0">
                <a:latin typeface="微软雅黑" panose="020B0503020204020204" pitchFamily="34" charset="-122"/>
                <a:ea typeface="微软雅黑" panose="020B0503020204020204" pitchFamily="34" charset="-122"/>
              </a:rPr>
              <a:t>Shell</a:t>
            </a:r>
            <a:r>
              <a:rPr lang="zh-CN" altLang="en-US" sz="1400" dirty="0">
                <a:latin typeface="微软雅黑" panose="020B0503020204020204" pitchFamily="34" charset="-122"/>
                <a:ea typeface="微软雅黑" panose="020B0503020204020204" pitchFamily="34" charset="-122"/>
              </a:rPr>
              <a:t>程序有很多类似</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语言和其他程序设计语言的特征，但是又没有程序语言那样复杂。</a:t>
            </a:r>
            <a:r>
              <a:rPr lang="en-US" altLang="zh-CN" sz="1400" dirty="0">
                <a:latin typeface="微软雅黑" panose="020B0503020204020204" pitchFamily="34" charset="-122"/>
                <a:ea typeface="微软雅黑" panose="020B0503020204020204" pitchFamily="34" charset="-122"/>
              </a:rPr>
              <a:t>Shell</a:t>
            </a:r>
            <a:r>
              <a:rPr lang="zh-CN" altLang="en-US" sz="1400" dirty="0">
                <a:latin typeface="微软雅黑" panose="020B0503020204020204" pitchFamily="34" charset="-122"/>
                <a:ea typeface="微软雅黑" panose="020B0503020204020204" pitchFamily="34" charset="-122"/>
              </a:rPr>
              <a:t>程序是指放在一个文件中的一系列</a:t>
            </a:r>
            <a:r>
              <a:rPr lang="en-US" altLang="zh-CN" sz="1400" dirty="0">
                <a:latin typeface="微软雅黑" panose="020B0503020204020204" pitchFamily="34" charset="-122"/>
                <a:ea typeface="微软雅黑" panose="020B0503020204020204" pitchFamily="34" charset="-122"/>
              </a:rPr>
              <a:t>Linux</a:t>
            </a:r>
            <a:r>
              <a:rPr lang="zh-CN" altLang="en-US" sz="1400" dirty="0">
                <a:latin typeface="微软雅黑" panose="020B0503020204020204" pitchFamily="34" charset="-122"/>
                <a:ea typeface="微软雅黑" panose="020B0503020204020204" pitchFamily="34" charset="-122"/>
              </a:rPr>
              <a:t>命令和实用程序。</a:t>
            </a:r>
          </a:p>
        </p:txBody>
      </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4.4.1  </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体验</a:t>
            </a:r>
            <a:r>
              <a:rPr lang="en-US" altLang="zh-CN"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Shell</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编程</a:t>
            </a:r>
          </a:p>
        </p:txBody>
      </p:sp>
      <p:grpSp>
        <p:nvGrpSpPr>
          <p:cNvPr id="11" name="组合 10">
            <a:extLst>
              <a:ext uri="{FF2B5EF4-FFF2-40B4-BE49-F238E27FC236}">
                <a16:creationId xmlns:a16="http://schemas.microsoft.com/office/drawing/2014/main" id="{A46C9AFF-B99F-4C63-ADCB-05D311914747}"/>
              </a:ext>
            </a:extLst>
          </p:cNvPr>
          <p:cNvGrpSpPr/>
          <p:nvPr/>
        </p:nvGrpSpPr>
        <p:grpSpPr>
          <a:xfrm>
            <a:off x="927112" y="2856746"/>
            <a:ext cx="10149541" cy="1329172"/>
            <a:chOff x="582266" y="2202506"/>
            <a:chExt cx="10149541" cy="1329172"/>
          </a:xfrm>
        </p:grpSpPr>
        <p:sp>
          <p:nvSpPr>
            <p:cNvPr id="12" name="圆角矩形 11">
              <a:extLst>
                <a:ext uri="{FF2B5EF4-FFF2-40B4-BE49-F238E27FC236}">
                  <a16:creationId xmlns:a16="http://schemas.microsoft.com/office/drawing/2014/main" id="{15FF568A-2F0F-4A38-93DD-0A1958928C31}"/>
                </a:ext>
              </a:extLst>
            </p:cNvPr>
            <p:cNvSpPr/>
            <p:nvPr/>
          </p:nvSpPr>
          <p:spPr>
            <a:xfrm>
              <a:off x="637469" y="2245011"/>
              <a:ext cx="10057285" cy="1080529"/>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6"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9576207" y="2233826"/>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29">
              <a:extLst>
                <a:ext uri="{FF2B5EF4-FFF2-40B4-BE49-F238E27FC236}">
                  <a16:creationId xmlns:a16="http://schemas.microsoft.com/office/drawing/2014/main" id="{866C0B76-2B89-40A9-8B5D-913C01733D4F}"/>
                </a:ext>
              </a:extLst>
            </p:cNvPr>
            <p:cNvSpPr txBox="1"/>
            <p:nvPr/>
          </p:nvSpPr>
          <p:spPr>
            <a:xfrm rot="18868184">
              <a:off x="9682557" y="2749823"/>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4-1</a:t>
              </a:r>
              <a:endParaRPr lang="zh-CN" altLang="en-US" sz="1400" b="1" dirty="0">
                <a:solidFill>
                  <a:prstClr val="white"/>
                </a:solidFill>
                <a:latin typeface="微软雅黑" pitchFamily="34" charset="-122"/>
                <a:ea typeface="微软雅黑" pitchFamily="34" charset="-122"/>
              </a:endParaRPr>
            </a:p>
          </p:txBody>
        </p:sp>
        <p:pic>
          <p:nvPicPr>
            <p:cNvPr id="20"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801767" y="2320112"/>
              <a:ext cx="9789611" cy="3904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编写一个</a:t>
              </a:r>
              <a:r>
                <a:rPr lang="en-US" altLang="zh-CN" kern="0" dirty="0">
                  <a:solidFill>
                    <a:schemeClr val="bg1"/>
                  </a:solidFill>
                </a:rPr>
                <a:t>Shell</a:t>
              </a:r>
              <a:r>
                <a:rPr lang="zh-CN" altLang="en-US" kern="0" dirty="0">
                  <a:solidFill>
                    <a:schemeClr val="bg1"/>
                  </a:solidFill>
                </a:rPr>
                <a:t>程序，要求提示用户从键盘输入姓名，再在屏幕显示“</a:t>
              </a:r>
              <a:r>
                <a:rPr lang="en-US" altLang="zh-CN" kern="0" dirty="0">
                  <a:solidFill>
                    <a:schemeClr val="bg1"/>
                  </a:solidFill>
                </a:rPr>
                <a:t>Hello</a:t>
              </a:r>
              <a:r>
                <a:rPr lang="zh-CN" altLang="en-US" kern="0" dirty="0">
                  <a:solidFill>
                    <a:schemeClr val="bg1"/>
                  </a:solidFill>
                </a:rPr>
                <a:t>，</a:t>
              </a:r>
              <a:r>
                <a:rPr lang="en-US" altLang="zh-CN" kern="0" dirty="0">
                  <a:solidFill>
                    <a:schemeClr val="bg1"/>
                  </a:solidFill>
                </a:rPr>
                <a:t>xxx</a:t>
              </a:r>
              <a:r>
                <a:rPr lang="zh-CN" altLang="en-US" kern="0" dirty="0">
                  <a:solidFill>
                    <a:schemeClr val="bg1"/>
                  </a:solidFill>
                </a:rPr>
                <a:t>！”。</a:t>
              </a:r>
              <a:endParaRPr kumimoji="0" lang="en-US" sz="1600" b="0" i="0" u="none" strike="noStrike" kern="0" cap="none" spc="0" normalizeH="0" baseline="0" noProof="0" dirty="0">
                <a:ln>
                  <a:noFill/>
                </a:ln>
                <a:solidFill>
                  <a:schemeClr val="bg1"/>
                </a:solidFill>
                <a:effectLst/>
                <a:uLnTx/>
                <a:uFillTx/>
              </a:endParaRPr>
            </a:p>
          </p:txBody>
        </p:sp>
      </p:grpSp>
      <p:grpSp>
        <p:nvGrpSpPr>
          <p:cNvPr id="22" name="组合 21">
            <a:extLst>
              <a:ext uri="{FF2B5EF4-FFF2-40B4-BE49-F238E27FC236}">
                <a16:creationId xmlns:a16="http://schemas.microsoft.com/office/drawing/2014/main" id="{73E27E45-2476-44E6-BD13-0BC39E44F09A}"/>
              </a:ext>
            </a:extLst>
          </p:cNvPr>
          <p:cNvGrpSpPr/>
          <p:nvPr/>
        </p:nvGrpSpPr>
        <p:grpSpPr>
          <a:xfrm>
            <a:off x="1847528" y="4437112"/>
            <a:ext cx="5832648" cy="1656184"/>
            <a:chOff x="1640468" y="3686823"/>
            <a:chExt cx="4312179" cy="1190477"/>
          </a:xfrm>
        </p:grpSpPr>
        <p:pic>
          <p:nvPicPr>
            <p:cNvPr id="23"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pic>
        <p:nvPicPr>
          <p:cNvPr id="25" name="图片 24">
            <a:extLst>
              <a:ext uri="{FF2B5EF4-FFF2-40B4-BE49-F238E27FC236}">
                <a16:creationId xmlns:a16="http://schemas.microsoft.com/office/drawing/2014/main" id="{519E99CC-4BE6-48FA-BA27-0487D67EB6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2104" y="4308745"/>
            <a:ext cx="2448272" cy="163381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536866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000" fill="hold"/>
                                        <p:tgtEl>
                                          <p:spTgt spid="8"/>
                                        </p:tgtEl>
                                        <p:attrNameLst>
                                          <p:attrName>ppt_x</p:attrName>
                                        </p:attrNameLst>
                                      </p:cBhvr>
                                      <p:tavLst>
                                        <p:tav tm="0">
                                          <p:val>
                                            <p:strVal val="#ppt_x"/>
                                          </p:val>
                                        </p:tav>
                                        <p:tav tm="100000">
                                          <p:val>
                                            <p:strVal val="#ppt_x"/>
                                          </p:val>
                                        </p:tav>
                                      </p:tavLst>
                                    </p:anim>
                                    <p:anim calcmode="lin" valueType="num">
                                      <p:cBhvr additive="base">
                                        <p:cTn id="8" dur="20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2000"/>
                            </p:stCondLst>
                            <p:childTnLst>
                              <p:par>
                                <p:cTn id="10" presetID="16" presetClass="emph" presetSubtype="0" fill="hold" grpId="0" nodeType="afterEffect">
                                  <p:stCondLst>
                                    <p:cond delay="0"/>
                                  </p:stCondLst>
                                  <p:iterate type="lt">
                                    <p:tmPct val="4000"/>
                                  </p:iterate>
                                  <p:childTnLst>
                                    <p:set>
                                      <p:cBhvr override="childStyle">
                                        <p:cTn id="11" dur="500" fill="hold"/>
                                        <p:tgtEl>
                                          <p:spTgt spid="15"/>
                                        </p:tgtEl>
                                        <p:attrNameLst>
                                          <p:attrName>style.color</p:attrName>
                                        </p:attrNameLst>
                                      </p:cBhvr>
                                      <p:to>
                                        <p:clrVal>
                                          <a:schemeClr val="accent2"/>
                                        </p:clrVal>
                                      </p:to>
                                    </p:set>
                                    <p:set>
                                      <p:cBhvr>
                                        <p:cTn id="12" dur="500" fill="hold"/>
                                        <p:tgtEl>
                                          <p:spTgt spid="15"/>
                                        </p:tgtEl>
                                        <p:attrNameLst>
                                          <p:attrName>fillcolor</p:attrName>
                                        </p:attrNameLst>
                                      </p:cBhvr>
                                      <p:to>
                                        <p:clrVal>
                                          <a:schemeClr val="accent2"/>
                                        </p:clrVal>
                                      </p:to>
                                    </p:set>
                                    <p:set>
                                      <p:cBhvr>
                                        <p:cTn id="13" dur="500" fill="hold"/>
                                        <p:tgtEl>
                                          <p:spTgt spid="15"/>
                                        </p:tgtEl>
                                        <p:attrNameLst>
                                          <p:attrName>fill.type</p:attrName>
                                        </p:attrNameLst>
                                      </p:cBhvr>
                                      <p:to>
                                        <p:strVal val="solid"/>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childTnLst>
                          </p:cTn>
                        </p:par>
                        <p:par>
                          <p:cTn id="27" fill="hold">
                            <p:stCondLst>
                              <p:cond delay="2000"/>
                            </p:stCondLst>
                            <p:childTnLst>
                              <p:par>
                                <p:cTn id="28" presetID="42"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1000"/>
                                        <p:tgtEl>
                                          <p:spTgt spid="25"/>
                                        </p:tgtEl>
                                      </p:cBhvr>
                                    </p:animEffect>
                                    <p:anim calcmode="lin" valueType="num">
                                      <p:cBhvr>
                                        <p:cTn id="31" dur="1000" fill="hold"/>
                                        <p:tgtEl>
                                          <p:spTgt spid="25"/>
                                        </p:tgtEl>
                                        <p:attrNameLst>
                                          <p:attrName>ppt_x</p:attrName>
                                        </p:attrNameLst>
                                      </p:cBhvr>
                                      <p:tavLst>
                                        <p:tav tm="0">
                                          <p:val>
                                            <p:strVal val="#ppt_x"/>
                                          </p:val>
                                        </p:tav>
                                        <p:tav tm="100000">
                                          <p:val>
                                            <p:strVal val="#ppt_x"/>
                                          </p:val>
                                        </p:tav>
                                      </p:tavLst>
                                    </p:anim>
                                    <p:anim calcmode="lin" valueType="num">
                                      <p:cBhvr>
                                        <p:cTn id="32"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668870"/>
            <a:ext cx="9720654" cy="706974"/>
            <a:chOff x="955862" y="853478"/>
            <a:chExt cx="9720654"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20654" cy="361637"/>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STEP01</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1064" y="2564904"/>
            <a:ext cx="9725455" cy="3128626"/>
            <a:chOff x="947731" y="2076797"/>
            <a:chExt cx="9725455" cy="3128626"/>
          </a:xfrm>
        </p:grpSpPr>
        <p:sp>
          <p:nvSpPr>
            <p:cNvPr id="21" name="TextBox 6">
              <a:extLst>
                <a:ext uri="{FF2B5EF4-FFF2-40B4-BE49-F238E27FC236}">
                  <a16:creationId xmlns:a16="http://schemas.microsoft.com/office/drawing/2014/main" id="{4EBAB61C-9202-429B-BB2F-6A93E7B9CE31}"/>
                </a:ext>
              </a:extLst>
            </p:cNvPr>
            <p:cNvSpPr txBox="1"/>
            <p:nvPr/>
          </p:nvSpPr>
          <p:spPr>
            <a:xfrm>
              <a:off x="947731" y="2420045"/>
              <a:ext cx="9725455" cy="2785378"/>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zh-CN" altLang="en-US" sz="1400" kern="0" dirty="0">
                  <a:solidFill>
                    <a:srgbClr val="E7E6E6">
                      <a:lumMod val="10000"/>
                    </a:srgbClr>
                  </a:solidFill>
                </a:rPr>
                <a:t>利用</a:t>
              </a:r>
              <a:r>
                <a:rPr lang="en-US" altLang="zh-CN" sz="1400" kern="0" dirty="0">
                  <a:solidFill>
                    <a:srgbClr val="E7E6E6">
                      <a:lumMod val="10000"/>
                    </a:srgbClr>
                  </a:solidFill>
                </a:rPr>
                <a:t>vi</a:t>
              </a:r>
              <a:r>
                <a:rPr lang="zh-CN" altLang="en-US" sz="1400" kern="0" dirty="0">
                  <a:solidFill>
                    <a:srgbClr val="E7E6E6">
                      <a:lumMod val="10000"/>
                    </a:srgbClr>
                  </a:solidFill>
                </a:rPr>
                <a:t>编辑器编辑脚本文件</a:t>
              </a:r>
              <a:r>
                <a:rPr lang="en-US" altLang="zh-CN" sz="1400" kern="0" dirty="0">
                  <a:solidFill>
                    <a:srgbClr val="E7E6E6">
                      <a:lumMod val="10000"/>
                    </a:srgbClr>
                  </a:solidFill>
                </a:rPr>
                <a:t>test.sh</a:t>
              </a:r>
              <a:r>
                <a:rPr lang="zh-CN" altLang="en-US" sz="1400" kern="0" dirty="0">
                  <a:solidFill>
                    <a:srgbClr val="E7E6E6">
                      <a:lumMod val="10000"/>
                    </a:srgbClr>
                  </a:solidFill>
                </a:rPr>
                <a:t>，操作方法如下：</a:t>
              </a:r>
            </a:p>
            <a:p>
              <a:pPr indent="457200" defTabSz="457200"/>
              <a:r>
                <a:rPr lang="en-US" altLang="zh-CN" sz="1400" b="0" kern="0" dirty="0">
                  <a:solidFill>
                    <a:srgbClr val="E7E6E6">
                      <a:lumMod val="10000"/>
                    </a:srgbClr>
                  </a:solidFill>
                </a:rPr>
                <a:t>[</a:t>
              </a:r>
              <a:r>
                <a:rPr lang="en-US" altLang="zh-CN" sz="1400" b="0" kern="0" dirty="0" err="1">
                  <a:solidFill>
                    <a:srgbClr val="E7E6E6">
                      <a:lumMod val="10000"/>
                    </a:srgbClr>
                  </a:solidFill>
                </a:rPr>
                <a:t>root@TianYi</a:t>
              </a:r>
              <a:r>
                <a:rPr lang="en-US" altLang="zh-CN" sz="1400" b="0" kern="0" dirty="0">
                  <a:solidFill>
                    <a:srgbClr val="E7E6E6">
                      <a:lumMod val="10000"/>
                    </a:srgbClr>
                  </a:solidFill>
                </a:rPr>
                <a:t> ~]# </a:t>
              </a:r>
              <a:r>
                <a:rPr lang="en-US" altLang="zh-CN" sz="1400" b="0" kern="0" dirty="0" err="1">
                  <a:solidFill>
                    <a:srgbClr val="E7E6E6">
                      <a:lumMod val="10000"/>
                    </a:srgbClr>
                  </a:solidFill>
                </a:rPr>
                <a:t>mkdir</a:t>
              </a:r>
              <a:r>
                <a:rPr lang="en-US" altLang="zh-CN" sz="1400" b="0" kern="0" dirty="0">
                  <a:solidFill>
                    <a:srgbClr val="E7E6E6">
                      <a:lumMod val="10000"/>
                    </a:srgbClr>
                  </a:solidFill>
                </a:rPr>
                <a:t> test</a:t>
              </a:r>
            </a:p>
            <a:p>
              <a:pPr indent="457200" defTabSz="457200"/>
              <a:r>
                <a:rPr lang="en-US" altLang="zh-CN" sz="1400" b="0" kern="0" dirty="0">
                  <a:solidFill>
                    <a:srgbClr val="E7E6E6">
                      <a:lumMod val="10000"/>
                    </a:srgbClr>
                  </a:solidFill>
                </a:rPr>
                <a:t>[</a:t>
              </a:r>
              <a:r>
                <a:rPr lang="en-US" altLang="zh-CN" sz="1400" b="0" kern="0" dirty="0" err="1">
                  <a:solidFill>
                    <a:srgbClr val="E7E6E6">
                      <a:lumMod val="10000"/>
                    </a:srgbClr>
                  </a:solidFill>
                </a:rPr>
                <a:t>root@TianYi</a:t>
              </a:r>
              <a:r>
                <a:rPr lang="en-US" altLang="zh-CN" sz="1400" b="0" kern="0" dirty="0">
                  <a:solidFill>
                    <a:srgbClr val="E7E6E6">
                      <a:lumMod val="10000"/>
                    </a:srgbClr>
                  </a:solidFill>
                </a:rPr>
                <a:t> ~]# cd test</a:t>
              </a:r>
            </a:p>
            <a:p>
              <a:pPr indent="457200" defTabSz="457200"/>
              <a:r>
                <a:rPr lang="en-US" altLang="zh-CN" sz="1400" b="0" kern="0" dirty="0">
                  <a:solidFill>
                    <a:srgbClr val="E7E6E6">
                      <a:lumMod val="10000"/>
                    </a:srgbClr>
                  </a:solidFill>
                </a:rPr>
                <a:t>[</a:t>
              </a:r>
              <a:r>
                <a:rPr lang="en-US" altLang="zh-CN" sz="1400" b="0" kern="0" dirty="0" err="1">
                  <a:solidFill>
                    <a:srgbClr val="E7E6E6">
                      <a:lumMod val="10000"/>
                    </a:srgbClr>
                  </a:solidFill>
                </a:rPr>
                <a:t>root@TianYi</a:t>
              </a:r>
              <a:r>
                <a:rPr lang="en-US" altLang="zh-CN" sz="1400" b="0" kern="0" dirty="0">
                  <a:solidFill>
                    <a:srgbClr val="E7E6E6">
                      <a:lumMod val="10000"/>
                    </a:srgbClr>
                  </a:solidFill>
                </a:rPr>
                <a:t> test]# vi test.sh</a:t>
              </a:r>
            </a:p>
            <a:p>
              <a:pPr defTabSz="457200"/>
              <a:r>
                <a:rPr lang="zh-CN" altLang="en-US" sz="1400" kern="0" dirty="0">
                  <a:solidFill>
                    <a:srgbClr val="E7E6E6">
                      <a:lumMod val="10000"/>
                    </a:srgbClr>
                  </a:solidFill>
                </a:rPr>
                <a:t>在</a:t>
              </a:r>
              <a:r>
                <a:rPr lang="en-US" altLang="zh-CN" sz="1400" kern="0" dirty="0">
                  <a:solidFill>
                    <a:srgbClr val="E7E6E6">
                      <a:lumMod val="10000"/>
                    </a:srgbClr>
                  </a:solidFill>
                </a:rPr>
                <a:t>test.sh</a:t>
              </a:r>
              <a:r>
                <a:rPr lang="zh-CN" altLang="en-US" sz="1400" kern="0" dirty="0">
                  <a:solidFill>
                    <a:srgbClr val="E7E6E6">
                      <a:lumMod val="10000"/>
                    </a:srgbClr>
                  </a:solidFill>
                </a:rPr>
                <a:t>文件中输入以下内容，输入完成后保存退出。</a:t>
              </a:r>
            </a:p>
            <a:p>
              <a:pPr indent="457200" defTabSz="457200"/>
              <a:r>
                <a:rPr lang="en-US" altLang="zh-CN" sz="1400" b="0" kern="0" dirty="0">
                  <a:solidFill>
                    <a:srgbClr val="E7E6E6">
                      <a:lumMod val="10000"/>
                    </a:srgbClr>
                  </a:solidFill>
                </a:rPr>
                <a:t>#!/bin/</a:t>
              </a:r>
              <a:r>
                <a:rPr lang="en-US" altLang="zh-CN" sz="1400" b="0" kern="0" dirty="0" err="1">
                  <a:solidFill>
                    <a:srgbClr val="E7E6E6">
                      <a:lumMod val="10000"/>
                    </a:srgbClr>
                  </a:solidFill>
                </a:rPr>
                <a:t>sh</a:t>
              </a:r>
              <a:endParaRPr lang="en-US" altLang="zh-CN" sz="1400" b="0" kern="0" dirty="0">
                <a:solidFill>
                  <a:srgbClr val="E7E6E6">
                    <a:lumMod val="10000"/>
                  </a:srgbClr>
                </a:solidFill>
              </a:endParaRPr>
            </a:p>
            <a:p>
              <a:pPr indent="457200" defTabSz="457200"/>
              <a:r>
                <a:rPr lang="en-US" altLang="zh-CN" sz="1400" b="0" kern="0" dirty="0">
                  <a:solidFill>
                    <a:srgbClr val="E7E6E6">
                      <a:lumMod val="10000"/>
                    </a:srgbClr>
                  </a:solidFill>
                </a:rPr>
                <a:t>#To show hello to somebody</a:t>
              </a:r>
            </a:p>
            <a:p>
              <a:pPr indent="457200" defTabSz="457200"/>
              <a:r>
                <a:rPr lang="en-US" altLang="zh-CN" sz="1400" b="0" kern="0" dirty="0">
                  <a:solidFill>
                    <a:srgbClr val="E7E6E6">
                      <a:lumMod val="10000"/>
                    </a:srgbClr>
                  </a:solidFill>
                </a:rPr>
                <a:t>echo -n "Enter Your Name:"</a:t>
              </a:r>
            </a:p>
            <a:p>
              <a:pPr indent="457200" defTabSz="457200"/>
              <a:r>
                <a:rPr lang="en-US" altLang="zh-CN" sz="1400" b="0" kern="0" dirty="0">
                  <a:solidFill>
                    <a:srgbClr val="E7E6E6">
                      <a:lumMod val="10000"/>
                    </a:srgbClr>
                  </a:solidFill>
                </a:rPr>
                <a:t>read NAME</a:t>
              </a:r>
            </a:p>
            <a:p>
              <a:pPr indent="457200" defTabSz="457200"/>
              <a:r>
                <a:rPr lang="en-US" altLang="zh-CN" sz="1400" b="0" kern="0" dirty="0">
                  <a:solidFill>
                    <a:srgbClr val="E7E6E6">
                      <a:lumMod val="10000"/>
                    </a:srgbClr>
                  </a:solidFill>
                </a:rPr>
                <a:t>echo "</a:t>
              </a:r>
              <a:r>
                <a:rPr lang="en-US" altLang="zh-CN" sz="1400" b="0" kern="0" dirty="0" err="1">
                  <a:solidFill>
                    <a:srgbClr val="E7E6E6">
                      <a:lumMod val="10000"/>
                    </a:srgbClr>
                  </a:solidFill>
                </a:rPr>
                <a:t>Hello,$NAME</a:t>
              </a:r>
              <a:r>
                <a:rPr lang="en-US" altLang="zh-CN" sz="1400" b="0" kern="0" dirty="0">
                  <a:solidFill>
                    <a:srgbClr val="E7E6E6">
                      <a:lumMod val="10000"/>
                    </a:srgbClr>
                  </a:solidFill>
                </a:rPr>
                <a:t>!"</a:t>
              </a:r>
              <a:endParaRPr lang="zh-CN" altLang="en-US" sz="1400" b="0" kern="0" dirty="0">
                <a:solidFill>
                  <a:srgbClr val="E7E6E6">
                    <a:lumMod val="10000"/>
                  </a:srgbClr>
                </a:solidFill>
              </a:endParaRP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STEP02</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29" name="Rectangle 2">
            <a:extLst>
              <a:ext uri="{FF2B5EF4-FFF2-40B4-BE49-F238E27FC236}">
                <a16:creationId xmlns:a16="http://schemas.microsoft.com/office/drawing/2014/main" id="{FE145658-093C-4DB7-A8AF-FA5DDB4D5F31}"/>
              </a:ext>
            </a:extLst>
          </p:cNvPr>
          <p:cNvSpPr>
            <a:spLocks noChangeArrowheads="1"/>
          </p:cNvSpPr>
          <p:nvPr/>
        </p:nvSpPr>
        <p:spPr bwMode="auto">
          <a:xfrm>
            <a:off x="7784445" y="3018503"/>
            <a:ext cx="163664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200225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668870"/>
            <a:ext cx="9720654" cy="976279"/>
            <a:chOff x="955862" y="853478"/>
            <a:chExt cx="9720654" cy="976279"/>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20654" cy="630942"/>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脚本编写完成后给脚本添加执行权限，操作方法如下：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+x  test.sh</a:t>
              </a:r>
              <a:endParaRPr lang="zh-CN" altLang="en-US" sz="1400" kern="0" dirty="0">
                <a:solidFill>
                  <a:srgbClr val="E7E6E6">
                    <a:lumMod val="10000"/>
                  </a:srgbClr>
                </a:solidFill>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STEP03</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3465" y="2852936"/>
            <a:ext cx="9725455" cy="974190"/>
            <a:chOff x="947731" y="2076797"/>
            <a:chExt cx="9725455" cy="974190"/>
          </a:xfrm>
        </p:grpSpPr>
        <p:sp>
          <p:nvSpPr>
            <p:cNvPr id="21" name="TextBox 6">
              <a:extLst>
                <a:ext uri="{FF2B5EF4-FFF2-40B4-BE49-F238E27FC236}">
                  <a16:creationId xmlns:a16="http://schemas.microsoft.com/office/drawing/2014/main" id="{4EBAB61C-9202-429B-BB2F-6A93E7B9CE31}"/>
                </a:ext>
              </a:extLst>
            </p:cNvPr>
            <p:cNvSpPr txBox="1"/>
            <p:nvPr/>
          </p:nvSpPr>
          <p:spPr>
            <a:xfrm>
              <a:off x="947731" y="2420045"/>
              <a:ext cx="9725455" cy="630942"/>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zh-CN" altLang="en-US" sz="1400" kern="0" dirty="0">
                  <a:solidFill>
                    <a:srgbClr val="E7E6E6">
                      <a:lumMod val="10000"/>
                    </a:srgbClr>
                  </a:solidFill>
                </a:rPr>
                <a:t>为了在任何目录都可以编译和执行</a:t>
              </a:r>
              <a:r>
                <a:rPr lang="en-US" altLang="zh-CN" sz="1400" kern="0" dirty="0">
                  <a:solidFill>
                    <a:srgbClr val="E7E6E6">
                      <a:lumMod val="10000"/>
                    </a:srgbClr>
                  </a:solidFill>
                </a:rPr>
                <a:t>Shell</a:t>
              </a:r>
              <a:r>
                <a:rPr lang="zh-CN" altLang="en-US" sz="1400" kern="0" dirty="0">
                  <a:solidFill>
                    <a:srgbClr val="E7E6E6">
                      <a:lumMod val="10000"/>
                    </a:srgbClr>
                  </a:solidFill>
                </a:rPr>
                <a:t>所编写的程序，最好把</a:t>
              </a:r>
              <a:r>
                <a:rPr lang="en-US" altLang="zh-CN" sz="1400" kern="0" dirty="0">
                  <a:solidFill>
                    <a:srgbClr val="E7E6E6">
                      <a:lumMod val="10000"/>
                    </a:srgbClr>
                  </a:solidFill>
                </a:rPr>
                <a:t>/bin</a:t>
              </a:r>
              <a:r>
                <a:rPr lang="zh-CN" altLang="en-US" sz="1400" kern="0" dirty="0">
                  <a:solidFill>
                    <a:srgbClr val="E7E6E6">
                      <a:lumMod val="10000"/>
                    </a:srgbClr>
                  </a:solidFill>
                </a:rPr>
                <a:t>的这个目录添加到整个环境变量中。</a:t>
              </a:r>
            </a:p>
            <a:p>
              <a:pPr indent="457200" defTabSz="457200"/>
              <a:r>
                <a:rPr lang="en-US" altLang="zh-CN" sz="1400" b="0" kern="0" dirty="0">
                  <a:solidFill>
                    <a:srgbClr val="E7E6E6">
                      <a:lumMod val="10000"/>
                    </a:srgbClr>
                  </a:solidFill>
                </a:rPr>
                <a:t>[</a:t>
              </a:r>
              <a:r>
                <a:rPr lang="en-US" altLang="zh-CN" sz="1400" b="0" kern="0" dirty="0" err="1">
                  <a:solidFill>
                    <a:srgbClr val="E7E6E6">
                      <a:lumMod val="10000"/>
                    </a:srgbClr>
                  </a:solidFill>
                </a:rPr>
                <a:t>root@tianyi</a:t>
              </a:r>
              <a:r>
                <a:rPr lang="en-US" altLang="zh-CN" sz="1400" b="0" kern="0" dirty="0">
                  <a:solidFill>
                    <a:srgbClr val="E7E6E6">
                      <a:lumMod val="10000"/>
                    </a:srgbClr>
                  </a:solidFill>
                </a:rPr>
                <a:t> test]#export PATH=/bin:$PATH</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STEP04</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29" name="Rectangle 2">
            <a:extLst>
              <a:ext uri="{FF2B5EF4-FFF2-40B4-BE49-F238E27FC236}">
                <a16:creationId xmlns:a16="http://schemas.microsoft.com/office/drawing/2014/main" id="{FE145658-093C-4DB7-A8AF-FA5DDB4D5F31}"/>
              </a:ext>
            </a:extLst>
          </p:cNvPr>
          <p:cNvSpPr>
            <a:spLocks noChangeArrowheads="1"/>
          </p:cNvSpPr>
          <p:nvPr/>
        </p:nvSpPr>
        <p:spPr bwMode="auto">
          <a:xfrm>
            <a:off x="7784445" y="3018503"/>
            <a:ext cx="163664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solidFill>
                <a:prstClr val="black"/>
              </a:solidFill>
            </a:endParaRPr>
          </a:p>
        </p:txBody>
      </p:sp>
      <p:grpSp>
        <p:nvGrpSpPr>
          <p:cNvPr id="10" name="组合 9">
            <a:extLst>
              <a:ext uri="{FF2B5EF4-FFF2-40B4-BE49-F238E27FC236}">
                <a16:creationId xmlns:a16="http://schemas.microsoft.com/office/drawing/2014/main" id="{AC07AFCF-8E27-4E9B-84BA-A2946E84E20F}"/>
              </a:ext>
            </a:extLst>
          </p:cNvPr>
          <p:cNvGrpSpPr/>
          <p:nvPr/>
        </p:nvGrpSpPr>
        <p:grpSpPr>
          <a:xfrm>
            <a:off x="1017574" y="4026722"/>
            <a:ext cx="9720654" cy="2053497"/>
            <a:chOff x="955862" y="853478"/>
            <a:chExt cx="9720654" cy="2053497"/>
          </a:xfrm>
        </p:grpSpPr>
        <p:sp>
          <p:nvSpPr>
            <p:cNvPr id="11" name="TextBox 6">
              <a:extLst>
                <a:ext uri="{FF2B5EF4-FFF2-40B4-BE49-F238E27FC236}">
                  <a16:creationId xmlns:a16="http://schemas.microsoft.com/office/drawing/2014/main" id="{1011A43F-58BE-474C-BE05-13B5CE3DDCD9}"/>
                </a:ext>
              </a:extLst>
            </p:cNvPr>
            <p:cNvSpPr txBox="1"/>
            <p:nvPr/>
          </p:nvSpPr>
          <p:spPr>
            <a:xfrm>
              <a:off x="955862" y="1198815"/>
              <a:ext cx="9720654" cy="1708160"/>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运行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脚本，输入你的姓名，检查输出结果，如图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p>
            <a:p>
              <a:pPr indent="457200" defTabSz="457200">
                <a:lnSpc>
                  <a:spcPct val="125000"/>
                </a:lnSpc>
              </a:pPr>
              <a:endParaRPr lang="en-US" altLang="zh-CN" sz="1400" b="1"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25000"/>
                </a:lnSpc>
              </a:pPr>
              <a:endParaRPr lang="en-US" altLang="zh-CN" sz="1400" b="1"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25000"/>
                </a:lnSpc>
              </a:pPr>
              <a:endParaRPr lang="en-US" altLang="zh-CN" sz="1400" b="1"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25000"/>
                </a:lnSpc>
              </a:pPr>
              <a:endParaRPr lang="en-US" altLang="zh-CN" sz="1400" b="1"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25000"/>
                </a:lnSpc>
              </a:pPr>
              <a:endParaRPr lang="en-US" altLang="zh-CN" sz="1400" kern="0" dirty="0">
                <a:solidFill>
                  <a:srgbClr val="E7E6E6">
                    <a:lumMod val="10000"/>
                  </a:srgbClr>
                </a:solidFill>
                <a:latin typeface="微软雅黑" panose="020B0503020204020204" pitchFamily="34" charset="-122"/>
                <a:ea typeface="微软雅黑" panose="020B0503020204020204" pitchFamily="34" charset="-122"/>
              </a:endParaRPr>
            </a:p>
          </p:txBody>
        </p:sp>
        <p:sp>
          <p:nvSpPr>
            <p:cNvPr id="12"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STEP05</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pic>
        <p:nvPicPr>
          <p:cNvPr id="3" name="图片 2"/>
          <p:cNvPicPr>
            <a:picLocks noChangeAspect="1"/>
          </p:cNvPicPr>
          <p:nvPr/>
        </p:nvPicPr>
        <p:blipFill>
          <a:blip r:embed="rId2"/>
          <a:stretch>
            <a:fillRect/>
          </a:stretch>
        </p:blipFill>
        <p:spPr>
          <a:xfrm>
            <a:off x="1559496" y="4739439"/>
            <a:ext cx="4245648" cy="1209841"/>
          </a:xfrm>
          <a:prstGeom prst="rect">
            <a:avLst/>
          </a:prstGeom>
        </p:spPr>
      </p:pic>
    </p:spTree>
    <p:extLst>
      <p:ext uri="{BB962C8B-B14F-4D97-AF65-F5344CB8AC3E}">
        <p14:creationId xmlns:p14="http://schemas.microsoft.com/office/powerpoint/2010/main" val="364924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8128" y="4700680"/>
            <a:ext cx="2124858" cy="14179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700680"/>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sp>
        <p:nvSpPr>
          <p:cNvPr id="8" name="矩形 7">
            <a:extLst>
              <a:ext uri="{FF2B5EF4-FFF2-40B4-BE49-F238E27FC236}">
                <a16:creationId xmlns:a16="http://schemas.microsoft.com/office/drawing/2014/main" id="{4854C844-3F09-42A4-AF87-A1AF4A90F584}"/>
              </a:ext>
            </a:extLst>
          </p:cNvPr>
          <p:cNvSpPr/>
          <p:nvPr/>
        </p:nvSpPr>
        <p:spPr>
          <a:xfrm>
            <a:off x="1019368" y="1907970"/>
            <a:ext cx="10057285" cy="700576"/>
          </a:xfrm>
          <a:prstGeom prst="rect">
            <a:avLst/>
          </a:prstGeom>
          <a:ln>
            <a:solidFill>
              <a:schemeClr val="tx1"/>
            </a:solidFill>
            <a:prstDash val="dash"/>
          </a:ln>
        </p:spPr>
        <p:txBody>
          <a:bodyPr wrap="square">
            <a:spAutoFit/>
          </a:bodyPr>
          <a:lstStyle/>
          <a:p>
            <a:pPr indent="457200">
              <a:lnSpc>
                <a:spcPct val="150000"/>
              </a:lnSpc>
            </a:pPr>
            <a:r>
              <a:rPr lang="zh-CN" altLang="en-US" sz="1400" dirty="0">
                <a:latin typeface="微软雅黑" panose="020B0503020204020204" pitchFamily="34" charset="-122"/>
                <a:ea typeface="微软雅黑" panose="020B0503020204020204" pitchFamily="34" charset="-122"/>
              </a:rPr>
              <a:t>如同</a:t>
            </a:r>
            <a:r>
              <a:rPr lang="en-US" altLang="zh-CN" sz="1400" dirty="0" err="1">
                <a:latin typeface="微软雅黑" panose="020B0503020204020204" pitchFamily="34" charset="-122"/>
                <a:ea typeface="微软雅黑" panose="020B0503020204020204" pitchFamily="34" charset="-122"/>
              </a:rPr>
              <a:t>ls</a:t>
            </a:r>
            <a:r>
              <a:rPr lang="zh-CN" altLang="en-US" sz="1400" dirty="0">
                <a:latin typeface="微软雅黑" panose="020B0503020204020204" pitchFamily="34" charset="-122"/>
                <a:ea typeface="微软雅黑" panose="020B0503020204020204" pitchFamily="34" charset="-122"/>
              </a:rPr>
              <a:t>命令可以接受目录等作为它的参数一样，在</a:t>
            </a:r>
            <a:r>
              <a:rPr lang="en-US" altLang="zh-CN" sz="1400" dirty="0">
                <a:latin typeface="微软雅黑" panose="020B0503020204020204" pitchFamily="34" charset="-122"/>
                <a:ea typeface="微软雅黑" panose="020B0503020204020204" pitchFamily="34" charset="-122"/>
              </a:rPr>
              <a:t>Shell</a:t>
            </a:r>
            <a:r>
              <a:rPr lang="zh-CN" altLang="en-US" sz="1400" dirty="0">
                <a:latin typeface="微软雅黑" panose="020B0503020204020204" pitchFamily="34" charset="-122"/>
                <a:ea typeface="微软雅黑" panose="020B0503020204020204" pitchFamily="34" charset="-122"/>
              </a:rPr>
              <a:t>编程时同样可以使用参数。</a:t>
            </a:r>
            <a:r>
              <a:rPr lang="en-US" altLang="zh-CN" sz="1400" dirty="0">
                <a:latin typeface="微软雅黑" panose="020B0503020204020204" pitchFamily="34" charset="-122"/>
                <a:ea typeface="微软雅黑" panose="020B0503020204020204" pitchFamily="34" charset="-122"/>
              </a:rPr>
              <a:t>Shell</a:t>
            </a:r>
            <a:r>
              <a:rPr lang="zh-CN" altLang="en-US" sz="1400" dirty="0">
                <a:latin typeface="微软雅黑" panose="020B0503020204020204" pitchFamily="34" charset="-122"/>
                <a:ea typeface="微软雅黑" panose="020B0503020204020204" pitchFamily="34" charset="-122"/>
              </a:rPr>
              <a:t>程序中的参数分为位置参数和内部参数等。</a:t>
            </a:r>
          </a:p>
        </p:txBody>
      </p:sp>
      <p:grpSp>
        <p:nvGrpSpPr>
          <p:cNvPr id="9" name="组合 8">
            <a:extLst>
              <a:ext uri="{FF2B5EF4-FFF2-40B4-BE49-F238E27FC236}">
                <a16:creationId xmlns:a16="http://schemas.microsoft.com/office/drawing/2014/main" id="{A46C9AFF-B99F-4C63-ADCB-05D311914747}"/>
              </a:ext>
            </a:extLst>
          </p:cNvPr>
          <p:cNvGrpSpPr/>
          <p:nvPr/>
        </p:nvGrpSpPr>
        <p:grpSpPr>
          <a:xfrm>
            <a:off x="964166" y="3182762"/>
            <a:ext cx="10121145" cy="1396593"/>
            <a:chOff x="582266" y="2202506"/>
            <a:chExt cx="10121145" cy="1396593"/>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2"/>
              <a:ext cx="10057285" cy="1076946"/>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47811" y="2251853"/>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632116" y="2817244"/>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4-2</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801767" y="2320112"/>
              <a:ext cx="9789611" cy="42473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编写一个</a:t>
              </a:r>
              <a:r>
                <a:rPr lang="en-US" altLang="zh-CN" kern="0" dirty="0">
                  <a:solidFill>
                    <a:schemeClr val="bg1"/>
                  </a:solidFill>
                </a:rPr>
                <a:t>Shell</a:t>
              </a:r>
              <a:r>
                <a:rPr lang="zh-CN" altLang="en-US" kern="0" dirty="0">
                  <a:solidFill>
                    <a:schemeClr val="bg1"/>
                  </a:solidFill>
                </a:rPr>
                <a:t>程序，用于描述</a:t>
              </a:r>
              <a:r>
                <a:rPr lang="en-US" altLang="zh-CN" kern="0" dirty="0">
                  <a:solidFill>
                    <a:schemeClr val="bg1"/>
                  </a:solidFill>
                </a:rPr>
                <a:t>Shell</a:t>
              </a:r>
              <a:r>
                <a:rPr lang="zh-CN" altLang="en-US" kern="0" dirty="0">
                  <a:solidFill>
                    <a:schemeClr val="bg1"/>
                  </a:solidFill>
                </a:rPr>
                <a:t>程序中的位置参数为</a:t>
              </a:r>
              <a:r>
                <a:rPr lang="en-US" altLang="zh-CN" kern="0" dirty="0">
                  <a:solidFill>
                    <a:schemeClr val="bg1"/>
                  </a:solidFill>
                </a:rPr>
                <a:t>$0</a:t>
              </a:r>
              <a:r>
                <a:rPr lang="zh-CN" altLang="en-US" kern="0" dirty="0">
                  <a:solidFill>
                    <a:schemeClr val="bg1"/>
                  </a:solidFill>
                </a:rPr>
                <a:t>、</a:t>
              </a:r>
              <a:r>
                <a:rPr lang="en-US" altLang="zh-CN" kern="0" dirty="0">
                  <a:solidFill>
                    <a:schemeClr val="bg1"/>
                  </a:solidFill>
                </a:rPr>
                <a:t>$#</a:t>
              </a:r>
              <a:r>
                <a:rPr lang="zh-CN" altLang="en-US" kern="0" dirty="0">
                  <a:solidFill>
                    <a:schemeClr val="bg1"/>
                  </a:solidFill>
                </a:rPr>
                <a:t>、</a:t>
              </a:r>
              <a:r>
                <a:rPr lang="en-US" altLang="zh-CN" kern="0" dirty="0">
                  <a:solidFill>
                    <a:schemeClr val="bg1"/>
                  </a:solidFill>
                </a:rPr>
                <a:t>$?</a:t>
              </a:r>
              <a:r>
                <a:rPr lang="zh-CN" altLang="en-US" kern="0" dirty="0">
                  <a:solidFill>
                    <a:schemeClr val="bg1"/>
                  </a:solidFill>
                </a:rPr>
                <a:t>、</a:t>
              </a:r>
              <a:r>
                <a:rPr lang="en-US" altLang="zh-CN" kern="0" dirty="0">
                  <a:solidFill>
                    <a:schemeClr val="bg1"/>
                  </a:solidFill>
                </a:rPr>
                <a:t>$*</a:t>
              </a:r>
              <a:r>
                <a:rPr lang="zh-CN" altLang="en-US" kern="0" dirty="0">
                  <a:solidFill>
                    <a:schemeClr val="bg1"/>
                  </a:solidFill>
                </a:rPr>
                <a:t>，程序名为</a:t>
              </a:r>
              <a:r>
                <a:rPr lang="en-US" altLang="zh-CN" kern="0" dirty="0">
                  <a:solidFill>
                    <a:schemeClr val="bg1"/>
                  </a:solidFill>
                </a:rPr>
                <a:t>test1.sh</a:t>
              </a:r>
              <a:r>
                <a:rPr lang="zh-CN" altLang="en-US" kern="0" dirty="0">
                  <a:solidFill>
                    <a:schemeClr val="bg1"/>
                  </a:solidFill>
                </a:rPr>
                <a:t>。</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4.4.2  </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在</a:t>
            </a:r>
            <a:r>
              <a:rPr lang="en-US" altLang="zh-CN"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Shell</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程序中使用的参数</a:t>
            </a:r>
          </a:p>
        </p:txBody>
      </p:sp>
      <p:sp>
        <p:nvSpPr>
          <p:cNvPr id="3" name="矩形 2">
            <a:extLst>
              <a:ext uri="{FF2B5EF4-FFF2-40B4-BE49-F238E27FC236}">
                <a16:creationId xmlns:a16="http://schemas.microsoft.com/office/drawing/2014/main" id="{43A0C9C7-51E3-4809-8C10-78AA11522F0A}"/>
              </a:ext>
            </a:extLst>
          </p:cNvPr>
          <p:cNvSpPr/>
          <p:nvPr/>
        </p:nvSpPr>
        <p:spPr>
          <a:xfrm>
            <a:off x="945745" y="2754987"/>
            <a:ext cx="1952779"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位置参数的使用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442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fill="hold"/>
                                        <p:tgtEl>
                                          <p:spTgt spid="8"/>
                                        </p:tgtEl>
                                        <p:attrNameLst>
                                          <p:attrName>ppt_x</p:attrName>
                                        </p:attrNameLst>
                                      </p:cBhvr>
                                      <p:tavLst>
                                        <p:tav tm="0">
                                          <p:val>
                                            <p:strVal val="#ppt_x"/>
                                          </p:val>
                                        </p:tav>
                                        <p:tav tm="100000">
                                          <p:val>
                                            <p:strVal val="#ppt_x"/>
                                          </p:val>
                                        </p:tav>
                                      </p:tavLst>
                                    </p:anim>
                                    <p:anim calcmode="lin" valueType="num">
                                      <p:cBhvr additive="base">
                                        <p:cTn id="12" dur="2000" fill="hold"/>
                                        <p:tgtEl>
                                          <p:spTgt spid="8"/>
                                        </p:tgtEl>
                                        <p:attrNameLst>
                                          <p:attrName>ppt_y</p:attrName>
                                        </p:attrNameLst>
                                      </p:cBhvr>
                                      <p:tavLst>
                                        <p:tav tm="0">
                                          <p:val>
                                            <p:strVal val="1+#ppt_h/2"/>
                                          </p:val>
                                        </p:tav>
                                        <p:tav tm="100000">
                                          <p:val>
                                            <p:strVal val="#ppt_y"/>
                                          </p:val>
                                        </p:tav>
                                      </p:tavLst>
                                    </p:anim>
                                  </p:childTnLst>
                                </p:cTn>
                              </p:par>
                            </p:childTnLst>
                          </p:cTn>
                        </p:par>
                        <p:par>
                          <p:cTn id="13" fill="hold">
                            <p:stCondLst>
                              <p:cond delay="200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42" presetClass="entr" presetSubtype="0"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668870"/>
            <a:ext cx="9720654" cy="706974"/>
            <a:chOff x="955862" y="853478"/>
            <a:chExt cx="9720654"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20654"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kumimoji="0" lang="zh-CN" altLang="en-US" sz="1400" b="1" i="0" u="none" strike="noStrike" kern="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1064" y="2564904"/>
            <a:ext cx="9725455" cy="3667235"/>
            <a:chOff x="947731" y="2076797"/>
            <a:chExt cx="9725455" cy="3667235"/>
          </a:xfrm>
        </p:grpSpPr>
        <p:sp>
          <p:nvSpPr>
            <p:cNvPr id="21" name="TextBox 6">
              <a:extLst>
                <a:ext uri="{FF2B5EF4-FFF2-40B4-BE49-F238E27FC236}">
                  <a16:creationId xmlns:a16="http://schemas.microsoft.com/office/drawing/2014/main" id="{4EBAB61C-9202-429B-BB2F-6A93E7B9CE31}"/>
                </a:ext>
              </a:extLst>
            </p:cNvPr>
            <p:cNvSpPr txBox="1"/>
            <p:nvPr/>
          </p:nvSpPr>
          <p:spPr>
            <a:xfrm>
              <a:off x="947731" y="2420045"/>
              <a:ext cx="9725455" cy="3323987"/>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rPr>
                <a:t>1</a:t>
              </a:r>
              <a:r>
                <a:rPr lang="zh-CN" altLang="en-US" sz="1400" kern="0" dirty="0">
                  <a:solidFill>
                    <a:srgbClr val="E7E6E6">
                      <a:lumMod val="10000"/>
                    </a:srgbClr>
                  </a:solidFill>
                </a:rPr>
                <a:t>）利用</a:t>
              </a:r>
              <a:r>
                <a:rPr lang="en-US" altLang="zh-CN" sz="1400" kern="0" dirty="0">
                  <a:solidFill>
                    <a:srgbClr val="E7E6E6">
                      <a:lumMod val="10000"/>
                    </a:srgbClr>
                  </a:solidFill>
                </a:rPr>
                <a:t>vi</a:t>
              </a:r>
              <a:r>
                <a:rPr lang="zh-CN" altLang="en-US" sz="1400" kern="0" dirty="0">
                  <a:solidFill>
                    <a:srgbClr val="E7E6E6">
                      <a:lumMod val="10000"/>
                    </a:srgbClr>
                  </a:solidFill>
                </a:rPr>
                <a:t>编辑器编辑脚本文件</a:t>
              </a:r>
              <a:r>
                <a:rPr lang="en-US" altLang="zh-CN" sz="1400" kern="0" dirty="0">
                  <a:solidFill>
                    <a:srgbClr val="E7E6E6">
                      <a:lumMod val="10000"/>
                    </a:srgbClr>
                  </a:solidFill>
                </a:rPr>
                <a:t>test.sh</a:t>
              </a:r>
              <a:r>
                <a:rPr lang="zh-CN" altLang="en-US" sz="1400" kern="0" dirty="0">
                  <a:solidFill>
                    <a:srgbClr val="E7E6E6">
                      <a:lumMod val="10000"/>
                    </a:srgbClr>
                  </a:solidFill>
                </a:rPr>
                <a:t>，操作方法如下：</a:t>
              </a:r>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r>
                <a:rPr lang="en-US" altLang="zh-CN" sz="1400" kern="0" dirty="0">
                  <a:solidFill>
                    <a:srgbClr val="E7E6E6">
                      <a:lumMod val="10000"/>
                    </a:srgbClr>
                  </a:solidFill>
                </a:rPr>
                <a:t>2</a:t>
              </a:r>
              <a:r>
                <a:rPr lang="zh-CN" altLang="en-US" sz="1400" kern="0" dirty="0">
                  <a:solidFill>
                    <a:srgbClr val="E7E6E6">
                      <a:lumMod val="10000"/>
                    </a:srgbClr>
                  </a:solidFill>
                </a:rPr>
                <a:t>）在</a:t>
              </a:r>
              <a:r>
                <a:rPr lang="en-US" altLang="zh-CN" sz="1400" kern="0" dirty="0">
                  <a:solidFill>
                    <a:srgbClr val="E7E6E6">
                      <a:lumMod val="10000"/>
                    </a:srgbClr>
                  </a:solidFill>
                </a:rPr>
                <a:t>test1.sh</a:t>
              </a:r>
              <a:r>
                <a:rPr lang="zh-CN" altLang="en-US" sz="1400" kern="0" dirty="0">
                  <a:solidFill>
                    <a:srgbClr val="E7E6E6">
                      <a:lumMod val="10000"/>
                    </a:srgbClr>
                  </a:solidFill>
                </a:rPr>
                <a:t>文件中输入以下内容。</a:t>
              </a:r>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r>
                <a:rPr lang="en-US" altLang="zh-CN" sz="1400" kern="0" dirty="0">
                  <a:solidFill>
                    <a:srgbClr val="E7E6E6">
                      <a:lumMod val="10000"/>
                    </a:srgbClr>
                  </a:solidFill>
                </a:rPr>
                <a:t>3</a:t>
              </a:r>
              <a:r>
                <a:rPr lang="zh-CN" altLang="en-US" sz="1400" kern="0" dirty="0">
                  <a:solidFill>
                    <a:srgbClr val="E7E6E6">
                      <a:lumMod val="10000"/>
                    </a:srgbClr>
                  </a:solidFill>
                </a:rPr>
                <a:t>）输入完成后保存退出，再给脚本添加执行权限，操作方法如下：</a:t>
              </a:r>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r>
                <a:rPr lang="en-US" altLang="zh-CN" sz="1400" kern="0" dirty="0">
                  <a:solidFill>
                    <a:srgbClr val="E7E6E6">
                      <a:lumMod val="10000"/>
                    </a:srgbClr>
                  </a:solidFill>
                </a:rPr>
                <a:t>4</a:t>
              </a:r>
              <a:r>
                <a:rPr lang="zh-CN" altLang="en-US" sz="1400" kern="0" dirty="0">
                  <a:solidFill>
                    <a:srgbClr val="E7E6E6">
                      <a:lumMod val="10000"/>
                    </a:srgbClr>
                  </a:solidFill>
                </a:rPr>
                <a:t>）执行</a:t>
              </a:r>
              <a:r>
                <a:rPr lang="en-US" altLang="zh-CN" sz="1400" kern="0" dirty="0">
                  <a:solidFill>
                    <a:srgbClr val="E7E6E6">
                      <a:lumMod val="10000"/>
                    </a:srgbClr>
                  </a:solidFill>
                </a:rPr>
                <a:t>test1.sh</a:t>
              </a:r>
              <a:r>
                <a:rPr lang="zh-CN" altLang="en-US" sz="1400" kern="0" dirty="0">
                  <a:solidFill>
                    <a:srgbClr val="E7E6E6">
                      <a:lumMod val="10000"/>
                    </a:srgbClr>
                  </a:solidFill>
                </a:rPr>
                <a:t>脚本，并传递</a:t>
              </a:r>
              <a:r>
                <a:rPr lang="en-US" altLang="zh-CN" sz="1400" kern="0" dirty="0">
                  <a:solidFill>
                    <a:srgbClr val="E7E6E6">
                      <a:lumMod val="10000"/>
                    </a:srgbClr>
                  </a:solidFill>
                </a:rPr>
                <a:t>5</a:t>
              </a:r>
              <a:r>
                <a:rPr lang="zh-CN" altLang="en-US" sz="1400" kern="0" dirty="0">
                  <a:solidFill>
                    <a:srgbClr val="E7E6E6">
                      <a:lumMod val="10000"/>
                    </a:srgbClr>
                  </a:solidFill>
                </a:rPr>
                <a:t>个参数，执行后的结果如下：</a:t>
              </a:r>
              <a:endParaRPr lang="en-US" altLang="zh-CN" sz="1400" kern="0" dirty="0">
                <a:solidFill>
                  <a:srgbClr val="E7E6E6">
                    <a:lumMod val="10000"/>
                  </a:srgbClr>
                </a:solidFill>
              </a:endParaRPr>
            </a:p>
            <a:p>
              <a:pPr lvl="0" defTabSz="457200"/>
              <a:endParaRPr kumimoji="0" lang="en-US" altLang="zh-CN" sz="1400" b="1" i="0" u="none" strike="noStrike" kern="0" cap="none" spc="0" normalizeH="0" baseline="0" noProof="0" dirty="0">
                <a:ln>
                  <a:noFill/>
                </a:ln>
                <a:solidFill>
                  <a:srgbClr val="E7E6E6">
                    <a:lumMod val="10000"/>
                  </a:srgbClr>
                </a:solidFill>
                <a:effectLst/>
                <a:uLnTx/>
                <a:uFillTx/>
              </a:endParaRPr>
            </a:p>
            <a:p>
              <a:pPr lvl="0" defTabSz="457200"/>
              <a:endParaRPr kumimoji="0" lang="zh-CN" altLang="en-US" sz="1400" b="1" i="0" u="none" strike="noStrike" kern="0" cap="none" spc="0" normalizeH="0" baseline="0" noProof="0" dirty="0">
                <a:ln>
                  <a:noFill/>
                </a:ln>
                <a:solidFill>
                  <a:srgbClr val="E7E6E6">
                    <a:lumMod val="10000"/>
                  </a:srgbClr>
                </a:solidFill>
                <a:effectLst/>
                <a:uLnTx/>
                <a:uFillTx/>
              </a:endParaRP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
        <p:nvSpPr>
          <p:cNvPr id="29" name="Rectangle 2">
            <a:extLst>
              <a:ext uri="{FF2B5EF4-FFF2-40B4-BE49-F238E27FC236}">
                <a16:creationId xmlns:a16="http://schemas.microsoft.com/office/drawing/2014/main" id="{FE145658-093C-4DB7-A8AF-FA5DDB4D5F31}"/>
              </a:ext>
            </a:extLst>
          </p:cNvPr>
          <p:cNvSpPr>
            <a:spLocks noChangeArrowheads="1"/>
          </p:cNvSpPr>
          <p:nvPr/>
        </p:nvSpPr>
        <p:spPr bwMode="auto">
          <a:xfrm>
            <a:off x="7784445" y="3018503"/>
            <a:ext cx="163664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3" name="图片 2"/>
          <p:cNvPicPr>
            <a:picLocks noChangeAspect="1"/>
          </p:cNvPicPr>
          <p:nvPr/>
        </p:nvPicPr>
        <p:blipFill>
          <a:blip r:embed="rId2"/>
          <a:stretch>
            <a:fillRect/>
          </a:stretch>
        </p:blipFill>
        <p:spPr>
          <a:xfrm>
            <a:off x="1199456" y="3251400"/>
            <a:ext cx="5222526" cy="211499"/>
          </a:xfrm>
          <a:prstGeom prst="rect">
            <a:avLst/>
          </a:prstGeom>
        </p:spPr>
      </p:pic>
      <p:pic>
        <p:nvPicPr>
          <p:cNvPr id="5" name="图片 4"/>
          <p:cNvPicPr>
            <a:picLocks noChangeAspect="1"/>
          </p:cNvPicPr>
          <p:nvPr/>
        </p:nvPicPr>
        <p:blipFill>
          <a:blip r:embed="rId3"/>
          <a:stretch>
            <a:fillRect/>
          </a:stretch>
        </p:blipFill>
        <p:spPr>
          <a:xfrm>
            <a:off x="1223163" y="3884963"/>
            <a:ext cx="5222526" cy="947940"/>
          </a:xfrm>
          <a:prstGeom prst="rect">
            <a:avLst/>
          </a:prstGeom>
        </p:spPr>
      </p:pic>
      <p:pic>
        <p:nvPicPr>
          <p:cNvPr id="9" name="图片 8"/>
          <p:cNvPicPr>
            <a:picLocks noChangeAspect="1"/>
          </p:cNvPicPr>
          <p:nvPr/>
        </p:nvPicPr>
        <p:blipFill>
          <a:blip r:embed="rId4"/>
          <a:stretch>
            <a:fillRect/>
          </a:stretch>
        </p:blipFill>
        <p:spPr>
          <a:xfrm>
            <a:off x="1238462" y="5162709"/>
            <a:ext cx="5222526" cy="389523"/>
          </a:xfrm>
          <a:prstGeom prst="rect">
            <a:avLst/>
          </a:prstGeom>
        </p:spPr>
      </p:pic>
      <p:pic>
        <p:nvPicPr>
          <p:cNvPr id="11" name="图片 10"/>
          <p:cNvPicPr>
            <a:picLocks noChangeAspect="1"/>
          </p:cNvPicPr>
          <p:nvPr/>
        </p:nvPicPr>
        <p:blipFill>
          <a:blip r:embed="rId5"/>
          <a:stretch>
            <a:fillRect/>
          </a:stretch>
        </p:blipFill>
        <p:spPr>
          <a:xfrm>
            <a:off x="1238462" y="5725316"/>
            <a:ext cx="5222526" cy="313444"/>
          </a:xfrm>
          <a:prstGeom prst="rect">
            <a:avLst/>
          </a:prstGeom>
        </p:spPr>
      </p:pic>
    </p:spTree>
    <p:extLst>
      <p:ext uri="{BB962C8B-B14F-4D97-AF65-F5344CB8AC3E}">
        <p14:creationId xmlns:p14="http://schemas.microsoft.com/office/powerpoint/2010/main" val="127959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8128" y="4700680"/>
            <a:ext cx="2124858" cy="14179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700680"/>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06967" y="2812370"/>
            <a:ext cx="10178065" cy="1686398"/>
            <a:chOff x="582266" y="2202506"/>
            <a:chExt cx="10178065" cy="1686398"/>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417991"/>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604731" y="2615620"/>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33082" y="3107049"/>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4-3</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818035" y="2546792"/>
              <a:ext cx="9789611" cy="75713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利用内部变量和位置参数编写一个名为</a:t>
              </a:r>
              <a:r>
                <a:rPr lang="en-US" altLang="zh-CN" kern="0" dirty="0">
                  <a:solidFill>
                    <a:schemeClr val="bg1"/>
                  </a:solidFill>
                </a:rPr>
                <a:t>test2.sh</a:t>
              </a:r>
              <a:r>
                <a:rPr lang="zh-CN" altLang="en-US" kern="0" dirty="0">
                  <a:solidFill>
                    <a:schemeClr val="bg1"/>
                  </a:solidFill>
                </a:rPr>
                <a:t>的简单删除程序，如果删除的文件为</a:t>
              </a:r>
              <a:r>
                <a:rPr lang="en-US" altLang="zh-CN" kern="0" dirty="0">
                  <a:solidFill>
                    <a:schemeClr val="bg1"/>
                  </a:solidFill>
                </a:rPr>
                <a:t>abc.txt</a:t>
              </a:r>
              <a:r>
                <a:rPr lang="zh-CN" altLang="en-US" kern="0" dirty="0">
                  <a:solidFill>
                    <a:schemeClr val="bg1"/>
                  </a:solidFill>
                </a:rPr>
                <a:t>，则在终端中执行</a:t>
              </a:r>
              <a:r>
                <a:rPr lang="en-US" altLang="zh-CN" kern="0" dirty="0">
                  <a:solidFill>
                    <a:schemeClr val="bg1"/>
                  </a:solidFill>
                </a:rPr>
                <a:t>shell</a:t>
              </a:r>
              <a:r>
                <a:rPr lang="zh-CN" altLang="en-US" kern="0" dirty="0">
                  <a:solidFill>
                    <a:schemeClr val="bg1"/>
                  </a:solidFill>
                </a:rPr>
                <a:t>脚本时输入的命令为：</a:t>
              </a:r>
              <a:r>
                <a:rPr lang="en-US" altLang="zh-CN" kern="0" dirty="0">
                  <a:solidFill>
                    <a:schemeClr val="bg1"/>
                  </a:solidFill>
                </a:rPr>
                <a:t>./test2.sh abc.txt</a:t>
              </a:r>
              <a:r>
                <a:rPr lang="zh-CN" altLang="en-US" kern="0" dirty="0">
                  <a:solidFill>
                    <a:schemeClr val="bg1"/>
                  </a:solidFill>
                </a:rPr>
                <a:t>。</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646331"/>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4.4.2  </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在</a:t>
            </a:r>
            <a:r>
              <a:rPr lang="en-US" altLang="zh-CN"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Shell</a:t>
            </a:r>
            <a:r>
              <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程序中使用的参数</a:t>
            </a:r>
          </a:p>
          <a:p>
            <a:pPr>
              <a:defRPr/>
            </a:pP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29032" y="2009719"/>
            <a:ext cx="1952779"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内部参数的使用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5762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86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668870"/>
            <a:ext cx="9936678" cy="706974"/>
            <a:chOff x="955862" y="853478"/>
            <a:chExt cx="9936678"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936678"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kumimoji="0" lang="zh-CN" altLang="en-US" sz="1400" b="1" i="0" u="none" strike="noStrike" kern="0" cap="none" spc="0" normalizeH="0" baseline="0" noProof="0" dirty="0">
                <a:ln>
                  <a:noFill/>
                </a:ln>
                <a:solidFill>
                  <a:srgbClr val="E7E6E6">
                    <a:lumMod val="10000"/>
                  </a:srgbClr>
                </a:solidFill>
                <a:effectLst/>
                <a:uLnTx/>
                <a:uFillTx/>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63996" y="2564904"/>
            <a:ext cx="10580886" cy="3800445"/>
            <a:chOff x="955862" y="2076797"/>
            <a:chExt cx="10580886" cy="3302458"/>
          </a:xfrm>
        </p:grpSpPr>
        <p:sp>
          <p:nvSpPr>
            <p:cNvPr id="21" name="TextBox 6">
              <a:extLst>
                <a:ext uri="{FF2B5EF4-FFF2-40B4-BE49-F238E27FC236}">
                  <a16:creationId xmlns:a16="http://schemas.microsoft.com/office/drawing/2014/main" id="{4EBAB61C-9202-429B-BB2F-6A93E7B9CE31}"/>
                </a:ext>
              </a:extLst>
            </p:cNvPr>
            <p:cNvSpPr txBox="1"/>
            <p:nvPr/>
          </p:nvSpPr>
          <p:spPr>
            <a:xfrm>
              <a:off x="1600070" y="2490823"/>
              <a:ext cx="9936678" cy="2888432"/>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rPr>
                <a:t>1</a:t>
              </a:r>
              <a:r>
                <a:rPr lang="zh-CN" altLang="en-US" sz="1400" kern="0" dirty="0">
                  <a:solidFill>
                    <a:srgbClr val="E7E6E6">
                      <a:lumMod val="10000"/>
                    </a:srgbClr>
                  </a:solidFill>
                </a:rPr>
                <a:t>）利用</a:t>
              </a:r>
              <a:r>
                <a:rPr lang="en-US" altLang="zh-CN" sz="1400" kern="0" dirty="0">
                  <a:solidFill>
                    <a:srgbClr val="E7E6E6">
                      <a:lumMod val="10000"/>
                    </a:srgbClr>
                  </a:solidFill>
                </a:rPr>
                <a:t>vi</a:t>
              </a:r>
              <a:r>
                <a:rPr lang="zh-CN" altLang="en-US" sz="1400" kern="0" dirty="0">
                  <a:solidFill>
                    <a:srgbClr val="E7E6E6">
                      <a:lumMod val="10000"/>
                    </a:srgbClr>
                  </a:solidFill>
                </a:rPr>
                <a:t>编辑器编辑脚本文件</a:t>
              </a:r>
              <a:r>
                <a:rPr lang="en-US" altLang="zh-CN" sz="1400" kern="0" dirty="0">
                  <a:solidFill>
                    <a:srgbClr val="E7E6E6">
                      <a:lumMod val="10000"/>
                    </a:srgbClr>
                  </a:solidFill>
                </a:rPr>
                <a:t>test2.sh</a:t>
              </a:r>
              <a:r>
                <a:rPr lang="zh-CN" altLang="en-US" sz="1400" kern="0" dirty="0">
                  <a:solidFill>
                    <a:srgbClr val="E7E6E6">
                      <a:lumMod val="10000"/>
                    </a:srgbClr>
                  </a:solidFill>
                </a:rPr>
                <a:t>，操作方法如下：</a:t>
              </a:r>
              <a:endParaRPr lang="en-US" altLang="zh-CN" sz="1400" kern="0" dirty="0">
                <a:solidFill>
                  <a:srgbClr val="E7E6E6">
                    <a:lumMod val="10000"/>
                  </a:srgbClr>
                </a:solidFill>
              </a:endParaRPr>
            </a:p>
            <a:p>
              <a:pPr lvl="0" defTabSz="457200"/>
              <a:endParaRPr kumimoji="0" lang="en-US" altLang="zh-CN" sz="1400" b="1" i="0" u="none" strike="noStrike" kern="0" cap="none" spc="0" normalizeH="0" baseline="0" noProof="0" dirty="0">
                <a:ln>
                  <a:noFill/>
                </a:ln>
                <a:solidFill>
                  <a:srgbClr val="E7E6E6">
                    <a:lumMod val="10000"/>
                  </a:srgbClr>
                </a:solidFill>
                <a:effectLst/>
                <a:uLnTx/>
                <a:uFillTx/>
              </a:endParaRPr>
            </a:p>
            <a:p>
              <a:pPr lvl="0" defTabSz="457200"/>
              <a:r>
                <a:rPr lang="en-US" altLang="zh-CN" sz="1400" kern="0" dirty="0">
                  <a:solidFill>
                    <a:srgbClr val="E7E6E6">
                      <a:lumMod val="10000"/>
                    </a:srgbClr>
                  </a:solidFill>
                </a:rPr>
                <a:t>2</a:t>
              </a:r>
              <a:r>
                <a:rPr lang="zh-CN" altLang="en-US" sz="1400" kern="0" dirty="0">
                  <a:solidFill>
                    <a:srgbClr val="E7E6E6">
                      <a:lumMod val="10000"/>
                    </a:srgbClr>
                  </a:solidFill>
                </a:rPr>
                <a:t>）在</a:t>
              </a:r>
              <a:r>
                <a:rPr lang="en-US" altLang="zh-CN" sz="1400" kern="0" dirty="0">
                  <a:solidFill>
                    <a:srgbClr val="E7E6E6">
                      <a:lumMod val="10000"/>
                    </a:srgbClr>
                  </a:solidFill>
                </a:rPr>
                <a:t>test1.sh</a:t>
              </a:r>
              <a:r>
                <a:rPr lang="zh-CN" altLang="en-US" sz="1400" kern="0" dirty="0">
                  <a:solidFill>
                    <a:srgbClr val="E7E6E6">
                      <a:lumMod val="10000"/>
                    </a:srgbClr>
                  </a:solidFill>
                </a:rPr>
                <a:t>文件中输入以下内容：</a:t>
              </a:r>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endParaRPr lang="en-US" altLang="zh-CN" sz="1400" kern="0" dirty="0">
                <a:solidFill>
                  <a:srgbClr val="E7E6E6">
                    <a:lumMod val="10000"/>
                  </a:srgbClr>
                </a:solidFill>
              </a:endParaRPr>
            </a:p>
            <a:p>
              <a:pPr lvl="0" defTabSz="457200"/>
              <a:r>
                <a:rPr lang="en-US" altLang="zh-CN" sz="1400" kern="0" dirty="0">
                  <a:solidFill>
                    <a:srgbClr val="E7E6E6">
                      <a:lumMod val="10000"/>
                    </a:srgbClr>
                  </a:solidFill>
                </a:rPr>
                <a:t>3</a:t>
              </a:r>
              <a:r>
                <a:rPr lang="zh-CN" altLang="en-US" sz="1400" kern="0" dirty="0">
                  <a:solidFill>
                    <a:srgbClr val="E7E6E6">
                      <a:lumMod val="10000"/>
                    </a:srgbClr>
                  </a:solidFill>
                </a:rPr>
                <a:t>）输入完成保存退出，再给脚本添加执行权限，操作方法如下：</a:t>
              </a:r>
              <a:endParaRPr lang="en-US" altLang="zh-CN" sz="1400" kern="0" dirty="0">
                <a:solidFill>
                  <a:srgbClr val="E7E6E6">
                    <a:lumMod val="10000"/>
                  </a:srgbClr>
                </a:solidFill>
              </a:endParaRPr>
            </a:p>
            <a:p>
              <a:pPr lvl="0" defTabSz="457200"/>
              <a:r>
                <a:rPr lang="en-US" altLang="zh-CN" sz="1400" b="0" kern="0" dirty="0">
                  <a:solidFill>
                    <a:srgbClr val="E7E6E6">
                      <a:lumMod val="10000"/>
                    </a:srgbClr>
                  </a:solidFill>
                  <a:latin typeface="Courier New" panose="02070309020205020404" pitchFamily="49" charset="0"/>
                  <a:ea typeface="+mn-ea"/>
                </a:rPr>
                <a:t>   </a:t>
              </a:r>
              <a:r>
                <a:rPr lang="en-US" altLang="zh-CN" sz="1200" b="0" kern="100" dirty="0">
                  <a:solidFill>
                    <a:schemeClr val="tx1"/>
                  </a:solidFill>
                  <a:latin typeface="Courier New" panose="02070309020205020404" pitchFamily="49" charset="0"/>
                  <a:ea typeface="+mn-ea"/>
                </a:rPr>
                <a:t>[</a:t>
              </a:r>
              <a:r>
                <a:rPr lang="en-US" altLang="zh-CN" sz="1200" b="0" kern="100" dirty="0" err="1">
                  <a:solidFill>
                    <a:schemeClr val="tx1"/>
                  </a:solidFill>
                  <a:latin typeface="Courier New" panose="02070309020205020404" pitchFamily="49" charset="0"/>
                  <a:ea typeface="+mn-ea"/>
                </a:rPr>
                <a:t>root@tianyi</a:t>
              </a:r>
              <a:r>
                <a:rPr lang="en-US" altLang="zh-CN" sz="1200" b="0" kern="100" dirty="0">
                  <a:solidFill>
                    <a:schemeClr val="tx1"/>
                  </a:solidFill>
                  <a:latin typeface="Courier New" panose="02070309020205020404" pitchFamily="49" charset="0"/>
                  <a:ea typeface="+mn-ea"/>
                </a:rPr>
                <a:t> test]#</a:t>
              </a:r>
              <a:r>
                <a:rPr lang="en-US" altLang="zh-CN" sz="1200" b="0" kern="100" dirty="0" err="1">
                  <a:solidFill>
                    <a:schemeClr val="tx1"/>
                  </a:solidFill>
                  <a:latin typeface="Courier New" panose="02070309020205020404" pitchFamily="49" charset="0"/>
                  <a:ea typeface="+mn-ea"/>
                </a:rPr>
                <a:t>chmod</a:t>
              </a:r>
              <a:r>
                <a:rPr lang="en-US" altLang="zh-CN" sz="1200" b="0" kern="100" dirty="0">
                  <a:solidFill>
                    <a:schemeClr val="tx1"/>
                  </a:solidFill>
                  <a:latin typeface="Courier New" panose="02070309020205020404" pitchFamily="49" charset="0"/>
                  <a:ea typeface="+mn-ea"/>
                </a:rPr>
                <a:t> +x  test2.sh </a:t>
              </a:r>
            </a:p>
            <a:p>
              <a:pPr lvl="0" defTabSz="457200"/>
              <a:r>
                <a:rPr lang="en-US" altLang="zh-CN" sz="1400" kern="0" dirty="0">
                  <a:solidFill>
                    <a:srgbClr val="E7E6E6">
                      <a:lumMod val="10000"/>
                    </a:srgbClr>
                  </a:solidFill>
                </a:rPr>
                <a:t>4</a:t>
              </a:r>
              <a:r>
                <a:rPr lang="zh-CN" altLang="en-US" sz="1400" kern="0" dirty="0">
                  <a:solidFill>
                    <a:srgbClr val="E7E6E6">
                      <a:lumMod val="10000"/>
                    </a:srgbClr>
                  </a:solidFill>
                </a:rPr>
                <a:t>）最后执行</a:t>
              </a:r>
              <a:r>
                <a:rPr lang="en-US" altLang="zh-CN" sz="1400" kern="0" dirty="0">
                  <a:solidFill>
                    <a:srgbClr val="E7E6E6">
                      <a:lumMod val="10000"/>
                    </a:srgbClr>
                  </a:solidFill>
                </a:rPr>
                <a:t>test2.sh</a:t>
              </a:r>
              <a:r>
                <a:rPr lang="zh-CN" altLang="en-US" sz="1400" kern="0" dirty="0">
                  <a:solidFill>
                    <a:srgbClr val="E7E6E6">
                      <a:lumMod val="10000"/>
                    </a:srgbClr>
                  </a:solidFill>
                </a:rPr>
                <a:t>脚本，执行后的结果如下：</a:t>
              </a:r>
              <a:endParaRPr lang="en-US" altLang="zh-CN" sz="1400" kern="0" dirty="0">
                <a:solidFill>
                  <a:srgbClr val="E7E6E6">
                    <a:lumMod val="10000"/>
                  </a:srgbClr>
                </a:solidFill>
              </a:endParaRPr>
            </a:p>
            <a:p>
              <a:pPr defTabSz="457200"/>
              <a:r>
                <a:rPr lang="en-US" altLang="zh-CN" sz="1400" b="0" kern="0" dirty="0">
                  <a:solidFill>
                    <a:srgbClr val="E7E6E6">
                      <a:lumMod val="10000"/>
                    </a:srgbClr>
                  </a:solidFill>
                  <a:latin typeface="Courier New" panose="02070309020205020404" pitchFamily="49" charset="0"/>
                  <a:ea typeface="+mn-ea"/>
                </a:rPr>
                <a:t>   [</a:t>
              </a:r>
              <a:r>
                <a:rPr lang="en-US" altLang="zh-CN" sz="1400" b="0" kern="0" dirty="0" err="1">
                  <a:solidFill>
                    <a:srgbClr val="E7E6E6">
                      <a:lumMod val="10000"/>
                    </a:srgbClr>
                  </a:solidFill>
                  <a:latin typeface="Courier New" panose="02070309020205020404" pitchFamily="49" charset="0"/>
                  <a:ea typeface="+mn-ea"/>
                </a:rPr>
                <a:t>root@TianYi</a:t>
              </a:r>
              <a:r>
                <a:rPr lang="en-US" altLang="zh-CN" sz="1400" b="0" kern="0" dirty="0">
                  <a:solidFill>
                    <a:srgbClr val="E7E6E6">
                      <a:lumMod val="10000"/>
                    </a:srgbClr>
                  </a:solidFill>
                  <a:latin typeface="Courier New" panose="02070309020205020404" pitchFamily="49" charset="0"/>
                  <a:ea typeface="+mn-ea"/>
                </a:rPr>
                <a:t> test]# echo “1234”&gt;</a:t>
              </a:r>
              <a:r>
                <a:rPr lang="en-US" altLang="zh-CN" sz="1400" b="0" kern="0" dirty="0" err="1">
                  <a:solidFill>
                    <a:srgbClr val="E7E6E6">
                      <a:lumMod val="10000"/>
                    </a:srgbClr>
                  </a:solidFill>
                  <a:latin typeface="Courier New" panose="02070309020205020404" pitchFamily="49" charset="0"/>
                  <a:ea typeface="+mn-ea"/>
                </a:rPr>
                <a:t>abc</a:t>
              </a:r>
              <a:r>
                <a:rPr lang="en-US" altLang="zh-CN" sz="1400" b="0" kern="0" dirty="0">
                  <a:solidFill>
                    <a:srgbClr val="E7E6E6">
                      <a:lumMod val="10000"/>
                    </a:srgbClr>
                  </a:solidFill>
                  <a:latin typeface="Courier New" panose="02070309020205020404" pitchFamily="49" charset="0"/>
                  <a:ea typeface="+mn-ea"/>
                </a:rPr>
                <a:t>   //</a:t>
              </a:r>
              <a:r>
                <a:rPr lang="zh-CN" altLang="en-US" sz="1400" b="0" kern="0" dirty="0">
                  <a:solidFill>
                    <a:srgbClr val="E7E6E6">
                      <a:lumMod val="10000"/>
                    </a:srgbClr>
                  </a:solidFill>
                  <a:latin typeface="Courier New" panose="02070309020205020404" pitchFamily="49" charset="0"/>
                  <a:ea typeface="+mn-ea"/>
                </a:rPr>
                <a:t>先在</a:t>
              </a:r>
              <a:r>
                <a:rPr lang="en-US" altLang="zh-CN" sz="1400" b="0" kern="0" dirty="0">
                  <a:solidFill>
                    <a:srgbClr val="E7E6E6">
                      <a:lumMod val="10000"/>
                    </a:srgbClr>
                  </a:solidFill>
                  <a:latin typeface="Courier New" panose="02070309020205020404" pitchFamily="49" charset="0"/>
                  <a:ea typeface="+mn-ea"/>
                </a:rPr>
                <a:t>test</a:t>
              </a:r>
              <a:r>
                <a:rPr lang="zh-CN" altLang="en-US" sz="1400" b="0" kern="0" dirty="0">
                  <a:solidFill>
                    <a:srgbClr val="E7E6E6">
                      <a:lumMod val="10000"/>
                    </a:srgbClr>
                  </a:solidFill>
                  <a:latin typeface="Courier New" panose="02070309020205020404" pitchFamily="49" charset="0"/>
                  <a:ea typeface="+mn-ea"/>
                </a:rPr>
                <a:t>目录下建立</a:t>
              </a:r>
              <a:r>
                <a:rPr lang="en-US" altLang="zh-CN" sz="1400" b="0" kern="0" dirty="0" err="1">
                  <a:solidFill>
                    <a:srgbClr val="E7E6E6">
                      <a:lumMod val="10000"/>
                    </a:srgbClr>
                  </a:solidFill>
                  <a:latin typeface="Courier New" panose="02070309020205020404" pitchFamily="49" charset="0"/>
                  <a:ea typeface="+mn-ea"/>
                </a:rPr>
                <a:t>abc</a:t>
              </a:r>
              <a:r>
                <a:rPr lang="zh-CN" altLang="en-US" sz="1400" b="0" kern="0" dirty="0">
                  <a:solidFill>
                    <a:srgbClr val="E7E6E6">
                      <a:lumMod val="10000"/>
                    </a:srgbClr>
                  </a:solidFill>
                  <a:latin typeface="Courier New" panose="02070309020205020404" pitchFamily="49" charset="0"/>
                  <a:ea typeface="+mn-ea"/>
                </a:rPr>
                <a:t>文件</a:t>
              </a:r>
            </a:p>
            <a:p>
              <a:pPr defTabSz="457200"/>
              <a:r>
                <a:rPr lang="en-US" altLang="zh-CN" sz="1400" b="0" kern="0" dirty="0">
                  <a:solidFill>
                    <a:srgbClr val="E7E6E6">
                      <a:lumMod val="10000"/>
                    </a:srgbClr>
                  </a:solidFill>
                  <a:latin typeface="Courier New" panose="02070309020205020404" pitchFamily="49" charset="0"/>
                  <a:ea typeface="+mn-ea"/>
                </a:rPr>
                <a:t>   [</a:t>
              </a:r>
              <a:r>
                <a:rPr lang="en-US" altLang="zh-CN" sz="1400" b="0" kern="0" dirty="0" err="1">
                  <a:solidFill>
                    <a:srgbClr val="E7E6E6">
                      <a:lumMod val="10000"/>
                    </a:srgbClr>
                  </a:solidFill>
                  <a:latin typeface="Courier New" panose="02070309020205020404" pitchFamily="49" charset="0"/>
                  <a:ea typeface="+mn-ea"/>
                </a:rPr>
                <a:t>root@TianYi</a:t>
              </a:r>
              <a:r>
                <a:rPr lang="en-US" altLang="zh-CN" sz="1400" b="0" kern="0" dirty="0">
                  <a:solidFill>
                    <a:srgbClr val="E7E6E6">
                      <a:lumMod val="10000"/>
                    </a:srgbClr>
                  </a:solidFill>
                  <a:latin typeface="Courier New" panose="02070309020205020404" pitchFamily="49" charset="0"/>
                  <a:ea typeface="+mn-ea"/>
                </a:rPr>
                <a:t> test]# ./test2.sh </a:t>
              </a:r>
              <a:r>
                <a:rPr lang="en-US" altLang="zh-CN" sz="1400" b="0" kern="0" dirty="0" err="1">
                  <a:solidFill>
                    <a:srgbClr val="E7E6E6">
                      <a:lumMod val="10000"/>
                    </a:srgbClr>
                  </a:solidFill>
                  <a:latin typeface="Courier New" panose="02070309020205020404" pitchFamily="49" charset="0"/>
                  <a:ea typeface="+mn-ea"/>
                </a:rPr>
                <a:t>abc</a:t>
              </a:r>
              <a:r>
                <a:rPr lang="en-US" altLang="zh-CN" sz="1400" b="0" kern="0" dirty="0">
                  <a:solidFill>
                    <a:srgbClr val="E7E6E6">
                      <a:lumMod val="10000"/>
                    </a:srgbClr>
                  </a:solidFill>
                  <a:latin typeface="Courier New" panose="02070309020205020404" pitchFamily="49" charset="0"/>
                  <a:ea typeface="+mn-ea"/>
                </a:rPr>
                <a:t>    //</a:t>
              </a:r>
              <a:r>
                <a:rPr lang="zh-CN" altLang="en-US" sz="1400" b="0" kern="0" dirty="0">
                  <a:solidFill>
                    <a:srgbClr val="E7E6E6">
                      <a:lumMod val="10000"/>
                    </a:srgbClr>
                  </a:solidFill>
                  <a:latin typeface="Courier New" panose="02070309020205020404" pitchFamily="49" charset="0"/>
                  <a:ea typeface="+mn-ea"/>
                </a:rPr>
                <a:t>执行</a:t>
              </a:r>
              <a:r>
                <a:rPr lang="en-US" altLang="zh-CN" sz="1400" b="0" kern="0" dirty="0">
                  <a:solidFill>
                    <a:srgbClr val="E7E6E6">
                      <a:lumMod val="10000"/>
                    </a:srgbClr>
                  </a:solidFill>
                  <a:latin typeface="Courier New" panose="02070309020205020404" pitchFamily="49" charset="0"/>
                  <a:ea typeface="+mn-ea"/>
                </a:rPr>
                <a:t>test2.sh</a:t>
              </a:r>
              <a:r>
                <a:rPr lang="zh-CN" altLang="en-US" sz="1400" b="0" kern="0" dirty="0">
                  <a:solidFill>
                    <a:srgbClr val="E7E6E6">
                      <a:lumMod val="10000"/>
                    </a:srgbClr>
                  </a:solidFill>
                  <a:latin typeface="Courier New" panose="02070309020205020404" pitchFamily="49" charset="0"/>
                  <a:ea typeface="+mn-ea"/>
                </a:rPr>
                <a:t>脚本，压缩、删除</a:t>
              </a:r>
              <a:r>
                <a:rPr lang="en-US" altLang="zh-CN" sz="1400" b="0" kern="0" dirty="0" err="1">
                  <a:solidFill>
                    <a:srgbClr val="E7E6E6">
                      <a:lumMod val="10000"/>
                    </a:srgbClr>
                  </a:solidFill>
                  <a:latin typeface="Courier New" panose="02070309020205020404" pitchFamily="49" charset="0"/>
                  <a:ea typeface="+mn-ea"/>
                </a:rPr>
                <a:t>abc</a:t>
              </a:r>
              <a:endParaRPr kumimoji="0" lang="zh-CN" altLang="en-US" sz="1400" b="1" i="0" u="none" strike="noStrike" kern="0" cap="none" spc="0" normalizeH="0" baseline="0" noProof="0" dirty="0">
                <a:ln>
                  <a:noFill/>
                </a:ln>
                <a:solidFill>
                  <a:srgbClr val="E7E6E6">
                    <a:lumMod val="10000"/>
                  </a:srgbClr>
                </a:solidFill>
                <a:effectLst/>
                <a:uLnTx/>
                <a:uFillTx/>
              </a:endParaRP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
        <p:nvSpPr>
          <p:cNvPr id="29" name="Rectangle 2">
            <a:extLst>
              <a:ext uri="{FF2B5EF4-FFF2-40B4-BE49-F238E27FC236}">
                <a16:creationId xmlns:a16="http://schemas.microsoft.com/office/drawing/2014/main" id="{FE145658-093C-4DB7-A8AF-FA5DDB4D5F31}"/>
              </a:ext>
            </a:extLst>
          </p:cNvPr>
          <p:cNvSpPr>
            <a:spLocks noChangeArrowheads="1"/>
          </p:cNvSpPr>
          <p:nvPr/>
        </p:nvSpPr>
        <p:spPr bwMode="auto">
          <a:xfrm>
            <a:off x="7784445" y="3018503"/>
            <a:ext cx="163664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1415480" y="3385467"/>
            <a:ext cx="3528530" cy="259045"/>
          </a:xfrm>
          <a:prstGeom prst="rect">
            <a:avLst/>
          </a:prstGeom>
        </p:spPr>
        <p:txBody>
          <a:bodyPr wrap="none">
            <a:spAutoFit/>
          </a:bodyPr>
          <a:lstStyle/>
          <a:p>
            <a:pPr indent="457200" algn="just">
              <a:lnSpc>
                <a:spcPts val="1250"/>
              </a:lnSpc>
              <a:spcBef>
                <a:spcPts val="200"/>
              </a:spcBef>
              <a:spcAft>
                <a:spcPts val="200"/>
              </a:spcAft>
            </a:pPr>
            <a:r>
              <a:rPr lang="en-US" altLang="zh-CN" sz="1200" kern="100" dirty="0">
                <a:latin typeface="Courier New" panose="02070309020205020404" pitchFamily="49" charset="0"/>
              </a:rPr>
              <a:t> [</a:t>
            </a:r>
            <a:r>
              <a:rPr lang="en-US" altLang="zh-CN" sz="1200" kern="100" dirty="0" err="1">
                <a:latin typeface="Courier New" panose="02070309020205020404" pitchFamily="49" charset="0"/>
              </a:rPr>
              <a:t>root@tianyi</a:t>
            </a:r>
            <a:r>
              <a:rPr lang="en-US" altLang="zh-CN" sz="1200" kern="100" dirty="0">
                <a:latin typeface="Courier New" panose="02070309020205020404" pitchFamily="49" charset="0"/>
              </a:rPr>
              <a:t> test]#vi test2.sh</a:t>
            </a:r>
            <a:endParaRPr lang="zh-CN" altLang="zh-CN" sz="1200" dirty="0">
              <a:latin typeface="Courier New" panose="02070309020205020404" pitchFamily="49" charset="0"/>
            </a:endParaRPr>
          </a:p>
        </p:txBody>
      </p:sp>
      <p:pic>
        <p:nvPicPr>
          <p:cNvPr id="11" name="图片 10"/>
          <p:cNvPicPr>
            <a:picLocks noChangeAspect="1"/>
          </p:cNvPicPr>
          <p:nvPr/>
        </p:nvPicPr>
        <p:blipFill>
          <a:blip r:embed="rId2"/>
          <a:stretch>
            <a:fillRect/>
          </a:stretch>
        </p:blipFill>
        <p:spPr>
          <a:xfrm>
            <a:off x="4655840" y="3644512"/>
            <a:ext cx="4556310" cy="1519956"/>
          </a:xfrm>
          <a:prstGeom prst="rect">
            <a:avLst/>
          </a:prstGeom>
        </p:spPr>
      </p:pic>
    </p:spTree>
    <p:extLst>
      <p:ext uri="{BB962C8B-B14F-4D97-AF65-F5344CB8AC3E}">
        <p14:creationId xmlns:p14="http://schemas.microsoft.com/office/powerpoint/2010/main" val="123337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9032" y="2575085"/>
            <a:ext cx="10163684" cy="1366845"/>
            <a:chOff x="582266" y="2202506"/>
            <a:chExt cx="10163684" cy="130273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1" y="2723382"/>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4-4</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849163" y="2550316"/>
              <a:ext cx="7824408" cy="4048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从键盘输入两个字符串，判断这两个字符串是否相等，如相等输出。</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4.4.3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表达式的比较应用</a:t>
            </a:r>
            <a:endParaRPr lang="zh-CN" altLang="en-US" sz="14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29032" y="2009719"/>
            <a:ext cx="2157963"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字符串比较的使用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393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4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9792662" cy="706974"/>
            <a:chOff x="955862" y="853478"/>
            <a:chExt cx="9792662"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92662"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9792662" cy="3882678"/>
            <a:chOff x="947732" y="2076797"/>
            <a:chExt cx="9792662" cy="3882678"/>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9792662" cy="3539430"/>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test3.sh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test3.sh</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test1.sh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sh</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read ar1</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read ar2</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"$ar1" = "$ar2" ]</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保存前一个命令的返回码</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）输入完成保存退出，再给脚本添加执行权限，操作方法如下：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+x  test3.sh  </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）最后执行</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test3.sh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 ./test3.sh</a:t>
              </a: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aaa</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bbb</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1</a:t>
              </a:r>
              <a:endParaRPr lang="en-US" altLang="zh-CN" sz="1400" kern="0" dirty="0">
                <a:solidFill>
                  <a:srgbClr val="E7E6E6">
                    <a:lumMod val="10000"/>
                  </a:srgbClr>
                </a:solidFill>
                <a:latin typeface="微软雅黑" panose="020B0503020204020204" pitchFamily="34" charset="-122"/>
                <a:ea typeface="微软雅黑" panose="020B0503020204020204" pitchFamily="34" charset="-122"/>
              </a:endParaRP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Tree>
    <p:extLst>
      <p:ext uri="{BB962C8B-B14F-4D97-AF65-F5344CB8AC3E}">
        <p14:creationId xmlns:p14="http://schemas.microsoft.com/office/powerpoint/2010/main" val="294481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9032" y="257508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4-5</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849163" y="2550316"/>
              <a:ext cx="8976536" cy="4048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设计一个从键盘输入两个数的脚本</a:t>
              </a:r>
              <a:r>
                <a:rPr lang="en-US" altLang="zh-CN" kern="0" dirty="0">
                  <a:solidFill>
                    <a:schemeClr val="bg1"/>
                  </a:solidFill>
                </a:rPr>
                <a:t>test4.sh</a:t>
              </a:r>
              <a:r>
                <a:rPr lang="zh-CN" altLang="en-US" kern="0" dirty="0">
                  <a:solidFill>
                    <a:schemeClr val="bg1"/>
                  </a:solidFill>
                </a:rPr>
                <a:t>，比较这两个数是否相等，并输出。</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4.4.3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表达式的比较应用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29032" y="2009719"/>
            <a:ext cx="1952779"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．数字比较的使用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684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4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9792662" cy="706974"/>
            <a:chOff x="955862" y="853478"/>
            <a:chExt cx="9792662"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92662"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9792662" cy="4098122"/>
            <a:chOff x="947732" y="2076797"/>
            <a:chExt cx="9792662" cy="4098122"/>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9792662" cy="3754874"/>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test4.sh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test4.sh</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test4.sh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sh</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"please input x y"</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read x y</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if test $x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eq</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$y</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then</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"$x=$y"</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else</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"$x!=$y"</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fi</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）输入完成后保存退出，再给脚本添加执行权限，操作方法如下：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+x  test4.sh  </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test4.sh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 ./test4.sh</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Tree>
    <p:extLst>
      <p:ext uri="{BB962C8B-B14F-4D97-AF65-F5344CB8AC3E}">
        <p14:creationId xmlns:p14="http://schemas.microsoft.com/office/powerpoint/2010/main" val="203095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9032" y="257508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4-6</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86522" y="2346070"/>
              <a:ext cx="8976536" cy="68898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分别给两个字符变量赋值，一个变量赋予一定的值，另一个变量为空，求两者的与、或操作，并输出结果。</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4.4.3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表达式的比较应用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29032" y="2009719"/>
            <a:ext cx="1952779"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．逻辑操作的使用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574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4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9792662" cy="706974"/>
            <a:chOff x="955862" y="853478"/>
            <a:chExt cx="9792662"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9792662"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9792662" cy="4098122"/>
            <a:chOff x="947732" y="2076797"/>
            <a:chExt cx="9792662" cy="4098122"/>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9792662" cy="3754874"/>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test5.sh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test5.sh</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test5.sh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#!/bin/bash</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part1="1111"</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part2=""                           #part2</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为空</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"$part1" -a "$part2" ]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注意左方括号后面和右方括号的前面有空格</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保存前一个命令的返回码</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"$part1" -o "$part2" ]</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）输入完成保存退出，再给脚本添加执行权限，操作方法如下：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test5.sh  </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test5.sh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test]#./test5.sh</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1</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0</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Tree>
    <p:extLst>
      <p:ext uri="{BB962C8B-B14F-4D97-AF65-F5344CB8AC3E}">
        <p14:creationId xmlns:p14="http://schemas.microsoft.com/office/powerpoint/2010/main" val="282783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9032" y="257508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pPr defTabSz="914400"/>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4-7</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86522" y="2346070"/>
              <a:ext cx="8976536" cy="68898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schemeClr val="bg1"/>
                  </a:solidFill>
                </a:rPr>
                <a:t>编写一个</a:t>
              </a:r>
              <a:r>
                <a:rPr lang="en-US" altLang="zh-CN" kern="0" dirty="0">
                  <a:solidFill>
                    <a:schemeClr val="bg1"/>
                  </a:solidFill>
                </a:rPr>
                <a:t>Shell</a:t>
              </a:r>
              <a:r>
                <a:rPr lang="zh-CN" altLang="en-US" kern="0" dirty="0">
                  <a:solidFill>
                    <a:schemeClr val="bg1"/>
                  </a:solidFill>
                </a:rPr>
                <a:t>程序</a:t>
              </a:r>
              <a:r>
                <a:rPr lang="en-US" altLang="zh-CN" kern="0" dirty="0">
                  <a:solidFill>
                    <a:schemeClr val="bg1"/>
                  </a:solidFill>
                </a:rPr>
                <a:t>test6.sh</a:t>
              </a:r>
              <a:r>
                <a:rPr lang="zh-CN" altLang="en-US" kern="0" dirty="0">
                  <a:solidFill>
                    <a:schemeClr val="bg1"/>
                  </a:solidFill>
                </a:rPr>
                <a:t>，输入一个字符串，如果是目录，则显示目录下的信息；如果为文件，则显示文件的内容，否则显示输入错误。</a:t>
              </a:r>
              <a:endParaRPr kumimoji="0" lang="en-US" sz="1600" b="0" i="0" u="none" strike="noStrike" kern="0" cap="none" spc="0" normalizeH="0" baseline="0" noProof="0" dirty="0">
                <a:ln>
                  <a:noFill/>
                </a:ln>
                <a:solidFill>
                  <a:schemeClr val="bg1"/>
                </a:solidFill>
                <a:effectLst/>
                <a:uLnTx/>
                <a:uFillTx/>
              </a:endParaRPr>
            </a:p>
          </p:txBody>
        </p:sp>
      </p:grpSp>
      <p:sp>
        <p:nvSpPr>
          <p:cNvPr id="15" name="TextBox 18">
            <a:extLst>
              <a:ext uri="{FF2B5EF4-FFF2-40B4-BE49-F238E27FC236}">
                <a16:creationId xmlns:a16="http://schemas.microsoft.com/office/drawing/2014/main" id="{D21AE036-8D06-46DC-83DE-42BCA0C292E8}"/>
              </a:ext>
            </a:extLst>
          </p:cNvPr>
          <p:cNvSpPr txBox="1"/>
          <p:nvPr/>
        </p:nvSpPr>
        <p:spPr>
          <a:xfrm>
            <a:off x="1029032" y="144832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4.4.3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表达式的比较应用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29032" y="2009719"/>
            <a:ext cx="1952779"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．文件操作的使用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105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4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10008686" cy="706974"/>
            <a:chOff x="955862" y="853478"/>
            <a:chExt cx="10008686"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10008686" cy="361637"/>
            </a:xfrm>
            <a:prstGeom prst="rect">
              <a:avLst/>
            </a:prstGeom>
            <a:noFill/>
            <a:ln>
              <a:solidFill>
                <a:sysClr val="windowText" lastClr="000000"/>
              </a:solidFill>
              <a:prstDash val="dash"/>
            </a:ln>
          </p:spPr>
          <p:txBody>
            <a:bodyPr wrap="square" rtlCol="0">
              <a:spAutoFit/>
            </a:bodyPr>
            <a:lstStyle/>
            <a:p>
              <a:pPr lvl="0"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rPr>
                <a:t>STEP01</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cs typeface="+mn-cs"/>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5112142" cy="3774957"/>
            <a:chOff x="947732" y="2076797"/>
            <a:chExt cx="5112142" cy="3774957"/>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5112142" cy="3431709"/>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test6.sh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lvl="0"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test6.sh</a:t>
              </a:r>
            </a:p>
            <a:p>
              <a:pPr lvl="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test4.sh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/bin/Bash</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"Please enter the directory name or file name"</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read DORF</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if [ -d $DORF ]</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then</a:t>
              </a: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ls</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$DORF</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elif</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 -f $DORF ]</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then</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cat $DORF</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else</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"input error! "</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fi</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DFPYeaSong-B5" pitchFamily="18" charset="-120"/>
                </a:rPr>
                <a:t>STEP02</a:t>
              </a:r>
              <a:endParaRPr kumimoji="0" lang="zh-CN" altLang="en-US" sz="1800" b="1" i="1"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Broadway" pitchFamily="82" charset="0"/>
                <a:ea typeface="等线" panose="02010600030101010101" pitchFamily="2" charset="-122"/>
              </a:endParaRPr>
            </a:p>
          </p:txBody>
        </p:sp>
      </p:grpSp>
      <p:sp>
        <p:nvSpPr>
          <p:cNvPr id="3" name="矩形 2"/>
          <p:cNvSpPr/>
          <p:nvPr/>
        </p:nvSpPr>
        <p:spPr>
          <a:xfrm>
            <a:off x="6456040" y="2620120"/>
            <a:ext cx="4608512" cy="2192908"/>
          </a:xfrm>
          <a:prstGeom prst="rect">
            <a:avLst/>
          </a:prstGeom>
          <a:noFill/>
          <a:ln>
            <a:solidFill>
              <a:sysClr val="windowText" lastClr="000000"/>
            </a:solidFill>
            <a:prstDash val="dash"/>
          </a:ln>
        </p:spPr>
        <p:txBody>
          <a:bodyPr wrap="square" rtlCol="0">
            <a:spAutoFit/>
          </a:bodyPr>
          <a:lstStyle/>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）输入完成后保存退出，再给脚本添加执行权限，操作方法如下：</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test6.sh</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test]#echo “this is file”&gt;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abcd</a:t>
            </a:r>
            <a:endParaRPr lang="en-US" altLang="zh-CN" sz="1400" kern="0" dirty="0">
              <a:solidFill>
                <a:srgbClr val="E7E6E6">
                  <a:lumMod val="10000"/>
                </a:srgbClr>
              </a:solidFill>
              <a:latin typeface="微软雅黑" panose="020B0503020204020204" pitchFamily="34" charset="-122"/>
              <a:ea typeface="微软雅黑" panose="020B0503020204020204" pitchFamily="34" charset="-122"/>
            </a:endParaRPr>
          </a:p>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test6.sh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 ./test6.sh</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Please enter the directory name or file name</a:t>
            </a:r>
          </a:p>
          <a:p>
            <a:pPr indent="457200" defTabSz="457200"/>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abcd</a:t>
            </a:r>
            <a:endParaRPr lang="zh-CN" altLang="en-US" sz="140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this is file</a:t>
            </a:r>
          </a:p>
        </p:txBody>
      </p:sp>
    </p:spTree>
    <p:extLst>
      <p:ext uri="{BB962C8B-B14F-4D97-AF65-F5344CB8AC3E}">
        <p14:creationId xmlns:p14="http://schemas.microsoft.com/office/powerpoint/2010/main" val="12148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sp>
        <p:nvSpPr>
          <p:cNvPr id="15"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17431" y="3155908"/>
            <a:ext cx="1846980"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for</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循环的使用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81043C5-AC46-4BA0-93F7-976B481771E7}"/>
              </a:ext>
            </a:extLst>
          </p:cNvPr>
          <p:cNvSpPr/>
          <p:nvPr/>
        </p:nvSpPr>
        <p:spPr>
          <a:xfrm>
            <a:off x="1042689" y="1935787"/>
            <a:ext cx="10119532" cy="1023742"/>
          </a:xfrm>
          <a:prstGeom prst="rect">
            <a:avLst/>
          </a:prstGeom>
          <a:ln>
            <a:solidFill>
              <a:schemeClr val="tx1"/>
            </a:solidFill>
            <a:prstDash val="dash"/>
          </a:ln>
        </p:spPr>
        <p:txBody>
          <a:bodyPr wrap="square">
            <a:spAutoFit/>
          </a:bodyPr>
          <a:lstStyle/>
          <a:p>
            <a:pPr indent="288000">
              <a:lnSpc>
                <a:spcPct val="150000"/>
              </a:lnSpc>
            </a:pPr>
            <a:r>
              <a:rPr lang="zh-CN" altLang="en-US" sz="1400" dirty="0">
                <a:latin typeface="微软雅黑" panose="020B0503020204020204" pitchFamily="34" charset="-122"/>
                <a:ea typeface="微软雅黑" panose="020B0503020204020204" pitchFamily="34" charset="-122"/>
              </a:rPr>
              <a:t>有时会要求计算机重复执行某一条或同一组指令多次，可以根据需要把那些指令复制到程序中其他新的语句行上来达到这种目的，不过更好的方法是让计算机重复执行那些已有的指令，这个过程称为循环。</a:t>
            </a:r>
            <a:r>
              <a:rPr lang="en-US" altLang="zh-CN" sz="1400" dirty="0">
                <a:latin typeface="微软雅黑" panose="020B0503020204020204" pitchFamily="34" charset="-122"/>
                <a:ea typeface="微软雅黑" panose="020B0503020204020204" pitchFamily="34" charset="-122"/>
              </a:rPr>
              <a:t>Shell</a:t>
            </a:r>
            <a:r>
              <a:rPr lang="zh-CN" altLang="en-US" sz="1400" dirty="0">
                <a:latin typeface="微软雅黑" panose="020B0503020204020204" pitchFamily="34" charset="-122"/>
                <a:ea typeface="微软雅黑" panose="020B0503020204020204" pitchFamily="34" charset="-122"/>
              </a:rPr>
              <a:t>中提供了几种执行循环的命令，比较常见的命令有</a:t>
            </a:r>
            <a:r>
              <a:rPr lang="en-US" altLang="zh-CN" sz="1400" dirty="0">
                <a:latin typeface="微软雅黑" panose="020B0503020204020204" pitchFamily="34" charset="-122"/>
                <a:ea typeface="微软雅黑" panose="020B0503020204020204" pitchFamily="34" charset="-122"/>
              </a:rPr>
              <a:t>for</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while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until</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shift</a:t>
            </a:r>
            <a:r>
              <a:rPr lang="zh-CN" altLang="en-US" sz="1400" dirty="0">
                <a:latin typeface="微软雅黑" panose="020B0503020204020204" pitchFamily="34" charset="-122"/>
                <a:ea typeface="微软雅黑" panose="020B0503020204020204" pitchFamily="34" charset="-122"/>
              </a:rPr>
              <a:t>命令。</a:t>
            </a:r>
          </a:p>
        </p:txBody>
      </p:sp>
      <p:sp>
        <p:nvSpPr>
          <p:cNvPr id="16" name="矩形 15"/>
          <p:cNvSpPr/>
          <p:nvPr/>
        </p:nvSpPr>
        <p:spPr>
          <a:xfrm>
            <a:off x="1084769" y="3693921"/>
            <a:ext cx="10077452" cy="700576"/>
          </a:xfrm>
          <a:prstGeom prst="rect">
            <a:avLst/>
          </a:prstGeom>
          <a:ln>
            <a:solidFill>
              <a:schemeClr val="tx1"/>
            </a:solidFill>
            <a:prstDash val="dash"/>
          </a:ln>
        </p:spPr>
        <p:txBody>
          <a:bodyPr wrap="square">
            <a:spAutoFit/>
          </a:bodyPr>
          <a:lstStyle/>
          <a:p>
            <a:pPr indent="288000">
              <a:lnSpc>
                <a:spcPct val="150000"/>
              </a:lnSpc>
            </a:pPr>
            <a:r>
              <a:rPr lang="zh-CN" altLang="zh-CN" sz="1400" dirty="0">
                <a:latin typeface="微软雅黑" panose="020B0503020204020204" pitchFamily="34" charset="-122"/>
                <a:ea typeface="微软雅黑" panose="020B0503020204020204" pitchFamily="34" charset="-122"/>
              </a:rPr>
              <a:t>当知道循环执行的具体次数时，可以使用</a:t>
            </a:r>
            <a:r>
              <a:rPr lang="en-US" altLang="zh-CN" sz="1400" dirty="0">
                <a:latin typeface="微软雅黑" panose="020B0503020204020204" pitchFamily="34" charset="-122"/>
                <a:ea typeface="微软雅黑" panose="020B0503020204020204" pitchFamily="34" charset="-122"/>
              </a:rPr>
              <a:t>for</a:t>
            </a:r>
            <a:r>
              <a:rPr lang="zh-CN" altLang="zh-CN" sz="1400" dirty="0">
                <a:latin typeface="微软雅黑" panose="020B0503020204020204" pitchFamily="34" charset="-122"/>
                <a:ea typeface="微软雅黑" panose="020B0503020204020204" pitchFamily="34" charset="-122"/>
              </a:rPr>
              <a:t>循环。</a:t>
            </a:r>
            <a:r>
              <a:rPr lang="en-US" altLang="zh-CN" sz="1400" dirty="0">
                <a:latin typeface="微软雅黑" panose="020B0503020204020204" pitchFamily="34" charset="-122"/>
                <a:ea typeface="微软雅黑" panose="020B0503020204020204" pitchFamily="34" charset="-122"/>
              </a:rPr>
              <a:t>for</a:t>
            </a:r>
            <a:r>
              <a:rPr lang="zh-CN" altLang="zh-CN" sz="1400" dirty="0">
                <a:latin typeface="微软雅黑" panose="020B0503020204020204" pitchFamily="34" charset="-122"/>
                <a:ea typeface="微软雅黑" panose="020B0503020204020204" pitchFamily="34" charset="-122"/>
              </a:rPr>
              <a:t>循环对一个变量的可能的值都执行一个命令序列。赋给变量的几个数值既可以在程序内以数值列表的形式提供，也可以在程序以外以位置参数的形式提供。</a:t>
            </a:r>
            <a:r>
              <a:rPr lang="en-US" altLang="zh-CN" sz="1400" dirty="0">
                <a:latin typeface="微软雅黑" panose="020B0503020204020204" pitchFamily="34" charset="-122"/>
                <a:ea typeface="微软雅黑" panose="020B0503020204020204" pitchFamily="34" charset="-122"/>
              </a:rPr>
              <a:t>for</a:t>
            </a:r>
            <a:r>
              <a:rPr lang="zh-CN" altLang="zh-CN" sz="1400" dirty="0">
                <a:latin typeface="微软雅黑" panose="020B0503020204020204" pitchFamily="34" charset="-122"/>
                <a:ea typeface="微软雅黑" panose="020B0503020204020204" pitchFamily="34" charset="-122"/>
              </a:rPr>
              <a:t>循环的一般格式如下：</a:t>
            </a:r>
          </a:p>
        </p:txBody>
      </p:sp>
      <p:pic>
        <p:nvPicPr>
          <p:cNvPr id="17" name="图片 16"/>
          <p:cNvPicPr>
            <a:picLocks noChangeAspect="1"/>
          </p:cNvPicPr>
          <p:nvPr/>
        </p:nvPicPr>
        <p:blipFill>
          <a:blip r:embed="rId2"/>
          <a:stretch>
            <a:fillRect/>
          </a:stretch>
        </p:blipFill>
        <p:spPr>
          <a:xfrm>
            <a:off x="2616392" y="4593956"/>
            <a:ext cx="6972126" cy="1484892"/>
          </a:xfrm>
          <a:prstGeom prst="rect">
            <a:avLst/>
          </a:prstGeom>
        </p:spPr>
      </p:pic>
    </p:spTree>
    <p:extLst>
      <p:ext uri="{BB962C8B-B14F-4D97-AF65-F5344CB8AC3E}">
        <p14:creationId xmlns:p14="http://schemas.microsoft.com/office/powerpoint/2010/main" val="279961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6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76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5256" y="214025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prstClr val="white"/>
                </a:solidFill>
              </a:endParaRPr>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4-8</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86522" y="2346070"/>
              <a:ext cx="8976536" cy="68898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r>
                <a:rPr lang="zh-CN" altLang="en-US" kern="0" dirty="0">
                  <a:solidFill>
                    <a:prstClr val="white"/>
                  </a:solidFill>
                </a:rPr>
                <a:t>编写一个</a:t>
              </a:r>
              <a:r>
                <a:rPr lang="en-US" altLang="zh-CN" kern="0" dirty="0">
                  <a:solidFill>
                    <a:prstClr val="white"/>
                  </a:solidFill>
                </a:rPr>
                <a:t>Shell</a:t>
              </a:r>
              <a:r>
                <a:rPr lang="zh-CN" altLang="en-US" kern="0" dirty="0">
                  <a:solidFill>
                    <a:prstClr val="white"/>
                  </a:solidFill>
                </a:rPr>
                <a:t>程序</a:t>
              </a:r>
              <a:r>
                <a:rPr lang="en-US" altLang="zh-CN" kern="0" dirty="0">
                  <a:solidFill>
                    <a:prstClr val="white"/>
                  </a:solidFill>
                </a:rPr>
                <a:t>test7.sh</a:t>
              </a:r>
              <a:r>
                <a:rPr lang="zh-CN" altLang="en-US" kern="0" dirty="0">
                  <a:solidFill>
                    <a:prstClr val="white"/>
                  </a:solidFill>
                </a:rPr>
                <a:t>，先生成</a:t>
              </a:r>
              <a:r>
                <a:rPr lang="en-US" altLang="zh-CN" kern="0" dirty="0">
                  <a:solidFill>
                    <a:prstClr val="white"/>
                  </a:solidFill>
                </a:rPr>
                <a:t>test7.foo</a:t>
              </a:r>
              <a:r>
                <a:rPr lang="zh-CN" altLang="en-US" kern="0" dirty="0">
                  <a:solidFill>
                    <a:prstClr val="white"/>
                  </a:solidFill>
                </a:rPr>
                <a:t>、</a:t>
              </a:r>
              <a:r>
                <a:rPr lang="en-US" altLang="zh-CN" kern="0" dirty="0">
                  <a:solidFill>
                    <a:prstClr val="white"/>
                  </a:solidFill>
                </a:rPr>
                <a:t>test7new.foo</a:t>
              </a:r>
              <a:r>
                <a:rPr lang="zh-CN" altLang="en-US" kern="0" dirty="0">
                  <a:solidFill>
                    <a:prstClr val="white"/>
                  </a:solidFill>
                </a:rPr>
                <a:t>文件，将</a:t>
              </a:r>
              <a:r>
                <a:rPr lang="en-US" altLang="zh-CN" kern="0" dirty="0">
                  <a:solidFill>
                    <a:prstClr val="white"/>
                  </a:solidFill>
                </a:rPr>
                <a:t>.foo</a:t>
              </a:r>
              <a:r>
                <a:rPr lang="zh-CN" altLang="en-US" kern="0" dirty="0">
                  <a:solidFill>
                    <a:prstClr val="white"/>
                  </a:solidFill>
                </a:rPr>
                <a:t>后缀的文件批量改名为</a:t>
              </a:r>
              <a:r>
                <a:rPr lang="en-US" altLang="zh-CN" kern="0" dirty="0">
                  <a:solidFill>
                    <a:prstClr val="white"/>
                  </a:solidFill>
                </a:rPr>
                <a:t>.bar</a:t>
              </a:r>
              <a:r>
                <a:rPr lang="zh-CN" altLang="en-US" kern="0" dirty="0">
                  <a:solidFill>
                    <a:prstClr val="white"/>
                  </a:solidFill>
                </a:rPr>
                <a:t>后缀，修改完成后查看修改结果。</a:t>
              </a:r>
              <a:endParaRPr lang="en-US" kern="0" dirty="0">
                <a:solidFill>
                  <a:prstClr val="white"/>
                </a:solidFill>
              </a:endParaRPr>
            </a:p>
          </p:txBody>
        </p:sp>
      </p:grpSp>
      <p:sp>
        <p:nvSpPr>
          <p:cNvPr id="16"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338784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6" presetClass="emph" presetSubtype="0" fill="hold" grpId="0" nodeType="afterEffect">
                                  <p:stCondLst>
                                    <p:cond delay="0"/>
                                  </p:stCondLst>
                                  <p:iterate type="lt">
                                    <p:tmPct val="4000"/>
                                  </p:iterate>
                                  <p:childTnLst>
                                    <p:set>
                                      <p:cBhvr override="childStyle">
                                        <p:cTn id="24" dur="500" fill="hold"/>
                                        <p:tgtEl>
                                          <p:spTgt spid="16"/>
                                        </p:tgtEl>
                                        <p:attrNameLst>
                                          <p:attrName>style.color</p:attrName>
                                        </p:attrNameLst>
                                      </p:cBhvr>
                                      <p:to>
                                        <p:clrVal>
                                          <a:schemeClr val="accent2"/>
                                        </p:clrVal>
                                      </p:to>
                                    </p:set>
                                    <p:set>
                                      <p:cBhvr>
                                        <p:cTn id="25" dur="500" fill="hold"/>
                                        <p:tgtEl>
                                          <p:spTgt spid="16"/>
                                        </p:tgtEl>
                                        <p:attrNameLst>
                                          <p:attrName>fillcolor</p:attrName>
                                        </p:attrNameLst>
                                      </p:cBhvr>
                                      <p:to>
                                        <p:clrVal>
                                          <a:schemeClr val="accent2"/>
                                        </p:clrVal>
                                      </p:to>
                                    </p:set>
                                    <p:set>
                                      <p:cBhvr>
                                        <p:cTn id="26" dur="500" fill="hold"/>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10008686" cy="706974"/>
            <a:chOff x="955862" y="853478"/>
            <a:chExt cx="10008686"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10008686" cy="361637"/>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solidFill>
                  <a:prstClr val="black"/>
                </a:solidFill>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STEP01</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5112142" cy="3667235"/>
            <a:chOff x="947732" y="2076797"/>
            <a:chExt cx="5112142" cy="3667235"/>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5112142" cy="3323987"/>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test7.sh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test7.sh</a:t>
              </a:r>
            </a:p>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test7.sh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/bin/bash</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"123456"&gt;test7.foo</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"654321"&gt;test7new.foo</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for f in *.foo</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do</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base=`</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basename</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$f .foo`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特别提示，此处为倒引号（键盘左上角波浪号下方）</a:t>
              </a:r>
            </a:p>
            <a:p>
              <a:pPr indent="457200" defTabSz="457200"/>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mv $f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base.bar</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done</a:t>
              </a:r>
            </a:p>
            <a:p>
              <a:pPr indent="457200" defTabSz="457200"/>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ls</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-l test7*</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STEP02</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3" name="矩形 2"/>
          <p:cNvSpPr/>
          <p:nvPr/>
        </p:nvSpPr>
        <p:spPr>
          <a:xfrm>
            <a:off x="6456040" y="2620120"/>
            <a:ext cx="4608512" cy="2516073"/>
          </a:xfrm>
          <a:prstGeom prst="rect">
            <a:avLst/>
          </a:prstGeom>
          <a:noFill/>
          <a:ln>
            <a:solidFill>
              <a:sysClr val="windowText" lastClr="000000"/>
            </a:solidFill>
            <a:prstDash val="dash"/>
          </a:ln>
        </p:spPr>
        <p:txBody>
          <a:bodyPr wrap="square" rtlCol="0">
            <a:spAutoFit/>
          </a:bodyPr>
          <a:lstStyle/>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）输入完成保存退出，再给脚本添加执行权限，操作方法如下：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test7.sh</a:t>
            </a:r>
          </a:p>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test7.sh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 ./test7.sh</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rw</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-r--r--. 1 root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7 2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月  </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20 05:01 test7.bar</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rw</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-r--r--. 1 root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7 2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月  </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20 05:01 test7new.bar</a:t>
            </a:r>
          </a:p>
        </p:txBody>
      </p:sp>
    </p:spTree>
    <p:extLst>
      <p:ext uri="{BB962C8B-B14F-4D97-AF65-F5344CB8AC3E}">
        <p14:creationId xmlns:p14="http://schemas.microsoft.com/office/powerpoint/2010/main" val="318612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sp>
        <p:nvSpPr>
          <p:cNvPr id="15"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96914" y="1994255"/>
            <a:ext cx="2770310"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while</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until</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循环的使用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矩形 15"/>
          <p:cNvSpPr/>
          <p:nvPr/>
        </p:nvSpPr>
        <p:spPr>
          <a:xfrm>
            <a:off x="1096914" y="2538150"/>
            <a:ext cx="10077452" cy="415498"/>
          </a:xfrm>
          <a:prstGeom prst="rect">
            <a:avLst/>
          </a:prstGeom>
          <a:ln>
            <a:solidFill>
              <a:schemeClr val="tx1"/>
            </a:solidFill>
            <a:prstDash val="dash"/>
          </a:ln>
        </p:spPr>
        <p:txBody>
          <a:bodyPr wrap="square">
            <a:spAutoFit/>
          </a:bodyPr>
          <a:lstStyle/>
          <a:p>
            <a:pPr indent="288000">
              <a:lnSpc>
                <a:spcPct val="150000"/>
              </a:lnSpc>
            </a:pPr>
            <a:r>
              <a:rPr lang="en-US" altLang="zh-CN" sz="1400" dirty="0">
                <a:latin typeface="微软雅黑" panose="020B0503020204020204" pitchFamily="34" charset="-122"/>
                <a:ea typeface="微软雅黑" panose="020B0503020204020204" pitchFamily="34" charset="-122"/>
              </a:rPr>
              <a:t>while</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until</a:t>
            </a:r>
            <a:r>
              <a:rPr lang="zh-CN" altLang="en-US" sz="1400" dirty="0">
                <a:latin typeface="微软雅黑" panose="020B0503020204020204" pitchFamily="34" charset="-122"/>
                <a:ea typeface="微软雅黑" panose="020B0503020204020204" pitchFamily="34" charset="-122"/>
              </a:rPr>
              <a:t>命令都是用命令的返回状态值来控制循环的。</a:t>
            </a:r>
            <a:r>
              <a:rPr lang="en-US" altLang="zh-CN" sz="1400" dirty="0">
                <a:latin typeface="微软雅黑" panose="020B0503020204020204" pitchFamily="34" charset="-122"/>
                <a:ea typeface="微软雅黑" panose="020B0503020204020204" pitchFamily="34" charset="-122"/>
              </a:rPr>
              <a:t>while</a:t>
            </a:r>
            <a:r>
              <a:rPr lang="zh-CN" altLang="en-US" sz="1400" dirty="0">
                <a:latin typeface="微软雅黑" panose="020B0503020204020204" pitchFamily="34" charset="-122"/>
                <a:ea typeface="微软雅黑" panose="020B0503020204020204" pitchFamily="34" charset="-122"/>
              </a:rPr>
              <a:t>循环的一般格式如下：</a:t>
            </a:r>
            <a:r>
              <a:rPr lang="zh-CN" altLang="zh-CN" sz="1400" dirty="0">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2"/>
          <a:stretch>
            <a:fillRect/>
          </a:stretch>
        </p:blipFill>
        <p:spPr>
          <a:xfrm>
            <a:off x="1096914" y="3304992"/>
            <a:ext cx="6407798" cy="976389"/>
          </a:xfrm>
          <a:prstGeom prst="rect">
            <a:avLst/>
          </a:prstGeom>
        </p:spPr>
      </p:pic>
      <p:sp>
        <p:nvSpPr>
          <p:cNvPr id="5" name="矩形 4"/>
          <p:cNvSpPr/>
          <p:nvPr/>
        </p:nvSpPr>
        <p:spPr>
          <a:xfrm>
            <a:off x="1096914" y="4530581"/>
            <a:ext cx="10077452" cy="377411"/>
          </a:xfrm>
          <a:prstGeom prst="rect">
            <a:avLst/>
          </a:prstGeom>
          <a:ln>
            <a:solidFill>
              <a:schemeClr val="tx1"/>
            </a:solidFill>
            <a:prstDash val="dash"/>
          </a:ln>
        </p:spPr>
        <p:txBody>
          <a:bodyPr wrap="square">
            <a:spAutoFit/>
          </a:bodyPr>
          <a:lstStyle/>
          <a:p>
            <a:pPr indent="288000">
              <a:lnSpc>
                <a:spcPct val="150000"/>
              </a:lnSpc>
            </a:pPr>
            <a:r>
              <a:rPr lang="en-US" altLang="zh-CN" sz="1400" dirty="0">
                <a:latin typeface="微软雅黑" panose="020B0503020204020204" pitchFamily="34" charset="-122"/>
                <a:ea typeface="微软雅黑" panose="020B0503020204020204" pitchFamily="34" charset="-122"/>
              </a:rPr>
              <a:t>until</a:t>
            </a:r>
            <a:r>
              <a:rPr lang="zh-CN" altLang="en-US" sz="1400" dirty="0">
                <a:latin typeface="微软雅黑" panose="020B0503020204020204" pitchFamily="34" charset="-122"/>
                <a:ea typeface="微软雅黑" panose="020B0503020204020204" pitchFamily="34" charset="-122"/>
              </a:rPr>
              <a:t>命令是另一种循环结构，它和</a:t>
            </a:r>
            <a:r>
              <a:rPr lang="en-US" altLang="zh-CN" sz="1400" dirty="0">
                <a:latin typeface="微软雅黑" panose="020B0503020204020204" pitchFamily="34" charset="-122"/>
                <a:ea typeface="微软雅黑" panose="020B0503020204020204" pitchFamily="34" charset="-122"/>
              </a:rPr>
              <a:t>while</a:t>
            </a:r>
            <a:r>
              <a:rPr lang="zh-CN" altLang="en-US" sz="1400" dirty="0">
                <a:latin typeface="微软雅黑" panose="020B0503020204020204" pitchFamily="34" charset="-122"/>
                <a:ea typeface="微软雅黑" panose="020B0503020204020204" pitchFamily="34" charset="-122"/>
              </a:rPr>
              <a:t>命令相似，其格式如下：</a:t>
            </a:r>
          </a:p>
        </p:txBody>
      </p:sp>
      <p:pic>
        <p:nvPicPr>
          <p:cNvPr id="6" name="图片 5"/>
          <p:cNvPicPr>
            <a:picLocks noChangeAspect="1"/>
          </p:cNvPicPr>
          <p:nvPr/>
        </p:nvPicPr>
        <p:blipFill>
          <a:blip r:embed="rId3"/>
          <a:stretch>
            <a:fillRect/>
          </a:stretch>
        </p:blipFill>
        <p:spPr>
          <a:xfrm>
            <a:off x="1096914" y="5085184"/>
            <a:ext cx="6346466" cy="1159342"/>
          </a:xfrm>
          <a:prstGeom prst="rect">
            <a:avLst/>
          </a:prstGeom>
        </p:spPr>
      </p:pic>
    </p:spTree>
    <p:extLst>
      <p:ext uri="{BB962C8B-B14F-4D97-AF65-F5344CB8AC3E}">
        <p14:creationId xmlns:p14="http://schemas.microsoft.com/office/powerpoint/2010/main" val="56296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6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4" y="4293096"/>
            <a:ext cx="2247412" cy="14997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2135560" y="4437446"/>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5256" y="214025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prstClr val="white"/>
                </a:solidFill>
              </a:endParaRPr>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4-9</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86522" y="2346070"/>
              <a:ext cx="8976536" cy="37217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r>
                <a:rPr lang="zh-CN" altLang="en-US" kern="0" dirty="0">
                  <a:solidFill>
                    <a:prstClr val="white"/>
                  </a:solidFill>
                </a:rPr>
                <a:t>编写一个</a:t>
              </a:r>
              <a:r>
                <a:rPr lang="en-US" altLang="zh-CN" kern="0" dirty="0">
                  <a:solidFill>
                    <a:prstClr val="white"/>
                  </a:solidFill>
                </a:rPr>
                <a:t>Shell</a:t>
              </a:r>
              <a:r>
                <a:rPr lang="zh-CN" altLang="en-US" kern="0" dirty="0">
                  <a:solidFill>
                    <a:prstClr val="white"/>
                  </a:solidFill>
                </a:rPr>
                <a:t>程序</a:t>
              </a:r>
              <a:r>
                <a:rPr lang="en-US" altLang="zh-CN" kern="0" dirty="0">
                  <a:solidFill>
                    <a:prstClr val="white"/>
                  </a:solidFill>
                </a:rPr>
                <a:t>test8.sh</a:t>
              </a:r>
              <a:r>
                <a:rPr lang="zh-CN" altLang="en-US" kern="0" dirty="0">
                  <a:solidFill>
                    <a:prstClr val="white"/>
                  </a:solidFill>
                </a:rPr>
                <a:t>，分别用</a:t>
              </a:r>
              <a:r>
                <a:rPr lang="en-US" altLang="zh-CN" kern="0" dirty="0">
                  <a:solidFill>
                    <a:prstClr val="white"/>
                  </a:solidFill>
                </a:rPr>
                <a:t>while</a:t>
              </a:r>
              <a:r>
                <a:rPr lang="zh-CN" altLang="en-US" kern="0" dirty="0">
                  <a:solidFill>
                    <a:prstClr val="white"/>
                  </a:solidFill>
                </a:rPr>
                <a:t>循环和</a:t>
              </a:r>
              <a:r>
                <a:rPr lang="en-US" altLang="zh-CN" kern="0" dirty="0">
                  <a:solidFill>
                    <a:prstClr val="white"/>
                  </a:solidFill>
                </a:rPr>
                <a:t>until</a:t>
              </a:r>
              <a:r>
                <a:rPr lang="zh-CN" altLang="en-US" kern="0" dirty="0">
                  <a:solidFill>
                    <a:prstClr val="white"/>
                  </a:solidFill>
                </a:rPr>
                <a:t>循环求</a:t>
              </a:r>
              <a:r>
                <a:rPr lang="en-US" altLang="zh-CN" kern="0" dirty="0">
                  <a:solidFill>
                    <a:prstClr val="white"/>
                  </a:solidFill>
                </a:rPr>
                <a:t>1</a:t>
              </a:r>
              <a:r>
                <a:rPr lang="zh-CN" altLang="en-US" kern="0" dirty="0">
                  <a:solidFill>
                    <a:prstClr val="white"/>
                  </a:solidFill>
                </a:rPr>
                <a:t>～</a:t>
              </a:r>
              <a:r>
                <a:rPr lang="en-US" altLang="zh-CN" kern="0" dirty="0">
                  <a:solidFill>
                    <a:prstClr val="white"/>
                  </a:solidFill>
                </a:rPr>
                <a:t>100</a:t>
              </a:r>
              <a:r>
                <a:rPr lang="zh-CN" altLang="en-US" kern="0" dirty="0">
                  <a:solidFill>
                    <a:prstClr val="white"/>
                  </a:solidFill>
                </a:rPr>
                <a:t>的和。</a:t>
              </a:r>
              <a:endParaRPr lang="en-US" kern="0" dirty="0">
                <a:solidFill>
                  <a:prstClr val="white"/>
                </a:solidFill>
              </a:endParaRPr>
            </a:p>
          </p:txBody>
        </p:sp>
      </p:grpSp>
      <p:sp>
        <p:nvSpPr>
          <p:cNvPr id="16"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0980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6" presetClass="emph" presetSubtype="0" fill="hold" grpId="0" nodeType="afterEffect">
                                  <p:stCondLst>
                                    <p:cond delay="0"/>
                                  </p:stCondLst>
                                  <p:iterate type="lt">
                                    <p:tmPct val="4000"/>
                                  </p:iterate>
                                  <p:childTnLst>
                                    <p:set>
                                      <p:cBhvr override="childStyle">
                                        <p:cTn id="24" dur="500" fill="hold"/>
                                        <p:tgtEl>
                                          <p:spTgt spid="16"/>
                                        </p:tgtEl>
                                        <p:attrNameLst>
                                          <p:attrName>style.color</p:attrName>
                                        </p:attrNameLst>
                                      </p:cBhvr>
                                      <p:to>
                                        <p:clrVal>
                                          <a:schemeClr val="accent2"/>
                                        </p:clrVal>
                                      </p:to>
                                    </p:set>
                                    <p:set>
                                      <p:cBhvr>
                                        <p:cTn id="25" dur="500" fill="hold"/>
                                        <p:tgtEl>
                                          <p:spTgt spid="16"/>
                                        </p:tgtEl>
                                        <p:attrNameLst>
                                          <p:attrName>fillcolor</p:attrName>
                                        </p:attrNameLst>
                                      </p:cBhvr>
                                      <p:to>
                                        <p:clrVal>
                                          <a:schemeClr val="accent2"/>
                                        </p:clrVal>
                                      </p:to>
                                    </p:set>
                                    <p:set>
                                      <p:cBhvr>
                                        <p:cTn id="26" dur="500" fill="hold"/>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10008686" cy="706974"/>
            <a:chOff x="955862" y="853478"/>
            <a:chExt cx="10008686"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10008686" cy="361637"/>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solidFill>
                  <a:prstClr val="black"/>
                </a:solidFill>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STEP01</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5112142" cy="3667235"/>
            <a:chOff x="947732" y="2076797"/>
            <a:chExt cx="5112142" cy="3667235"/>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5112142" cy="3323987"/>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test8.sh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test8.sh</a:t>
              </a:r>
            </a:p>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test8.sh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/bin/bash</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total=0</a:t>
              </a:r>
            </a:p>
            <a:p>
              <a:pPr indent="457200" defTabSz="457200"/>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=0</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while((</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&lt;=100))</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do</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total=`</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expr</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$total +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expr</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+ 1`</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done</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"The result is $total"</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STEP02</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3" name="矩形 2"/>
          <p:cNvSpPr/>
          <p:nvPr/>
        </p:nvSpPr>
        <p:spPr>
          <a:xfrm>
            <a:off x="6456040" y="2620120"/>
            <a:ext cx="4608512" cy="1708160"/>
          </a:xfrm>
          <a:prstGeom prst="rect">
            <a:avLst/>
          </a:prstGeom>
          <a:noFill/>
          <a:ln>
            <a:solidFill>
              <a:sysClr val="windowText" lastClr="000000"/>
            </a:solidFill>
            <a:prstDash val="dash"/>
          </a:ln>
        </p:spPr>
        <p:txBody>
          <a:bodyPr wrap="square" rtlCol="0">
            <a:spAutoFit/>
          </a:bodyPr>
          <a:lstStyle/>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）输入完成后保存退出，再给脚本添加执行权限，操作方法如下：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test8.sh  </a:t>
            </a:r>
          </a:p>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test8.sh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test]#./test8.sh</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The result is 5050</a:t>
            </a:r>
          </a:p>
        </p:txBody>
      </p:sp>
    </p:spTree>
    <p:extLst>
      <p:ext uri="{BB962C8B-B14F-4D97-AF65-F5344CB8AC3E}">
        <p14:creationId xmlns:p14="http://schemas.microsoft.com/office/powerpoint/2010/main" val="103156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sp>
        <p:nvSpPr>
          <p:cNvPr id="15"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4.4.5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条件结构语句的使用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96914" y="1994255"/>
            <a:ext cx="2730748"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if-then-else</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语句的使用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矩形 15"/>
          <p:cNvSpPr/>
          <p:nvPr/>
        </p:nvSpPr>
        <p:spPr>
          <a:xfrm>
            <a:off x="1096914" y="2538150"/>
            <a:ext cx="10077452" cy="700576"/>
          </a:xfrm>
          <a:prstGeom prst="rect">
            <a:avLst/>
          </a:prstGeom>
          <a:ln>
            <a:solidFill>
              <a:schemeClr val="tx1"/>
            </a:solidFill>
            <a:prstDash val="dash"/>
          </a:ln>
        </p:spPr>
        <p:txBody>
          <a:bodyPr wrap="square">
            <a:spAutoFit/>
          </a:bodyPr>
          <a:lstStyle/>
          <a:p>
            <a:pPr indent="288000">
              <a:lnSpc>
                <a:spcPct val="150000"/>
              </a:lnSpc>
            </a:pPr>
            <a:r>
              <a:rPr lang="zh-CN" altLang="en-US" sz="1400" dirty="0">
                <a:latin typeface="微软雅黑" panose="020B0503020204020204" pitchFamily="34" charset="-122"/>
                <a:ea typeface="微软雅黑" panose="020B0503020204020204" pitchFamily="34" charset="-122"/>
              </a:rPr>
              <a:t>当需要程序判断一个条件是真还是假时，可以使用</a:t>
            </a:r>
            <a:r>
              <a:rPr lang="en-US" altLang="zh-CN" sz="1400" dirty="0">
                <a:latin typeface="微软雅黑" panose="020B0503020204020204" pitchFamily="34" charset="-122"/>
                <a:ea typeface="微软雅黑" panose="020B0503020204020204" pitchFamily="34" charset="-122"/>
              </a:rPr>
              <a:t>if</a:t>
            </a:r>
            <a:r>
              <a:rPr lang="zh-CN" altLang="en-US" sz="1400" dirty="0">
                <a:latin typeface="微软雅黑" panose="020B0503020204020204" pitchFamily="34" charset="-122"/>
                <a:ea typeface="微软雅黑" panose="020B0503020204020204" pitchFamily="34" charset="-122"/>
              </a:rPr>
              <a:t>语句。</a:t>
            </a:r>
            <a:r>
              <a:rPr lang="en-US" altLang="zh-CN" sz="1400" dirty="0">
                <a:latin typeface="微软雅黑" panose="020B0503020204020204" pitchFamily="34" charset="-122"/>
                <a:ea typeface="微软雅黑" panose="020B0503020204020204" pitchFamily="34" charset="-122"/>
              </a:rPr>
              <a:t>if</a:t>
            </a:r>
            <a:r>
              <a:rPr lang="zh-CN" altLang="en-US" sz="1400" dirty="0">
                <a:latin typeface="微软雅黑" panose="020B0503020204020204" pitchFamily="34" charset="-122"/>
                <a:ea typeface="微软雅黑" panose="020B0503020204020204" pitchFamily="34" charset="-122"/>
              </a:rPr>
              <a:t>语句告诉程序：“如果条件为真，则执行这些命令，否则跳过这些指令。”</a:t>
            </a:r>
            <a:r>
              <a:rPr lang="en-US" altLang="zh-CN" sz="1400" dirty="0">
                <a:latin typeface="微软雅黑" panose="020B0503020204020204" pitchFamily="34" charset="-122"/>
                <a:ea typeface="微软雅黑" panose="020B0503020204020204" pitchFamily="34" charset="-122"/>
              </a:rPr>
              <a:t>if</a:t>
            </a:r>
            <a:r>
              <a:rPr lang="zh-CN" altLang="en-US" sz="1400" dirty="0">
                <a:latin typeface="微软雅黑" panose="020B0503020204020204" pitchFamily="34" charset="-122"/>
                <a:ea typeface="微软雅黑" panose="020B0503020204020204" pitchFamily="34" charset="-122"/>
              </a:rPr>
              <a:t>条件语句的一般格式如下：</a:t>
            </a:r>
            <a:endParaRPr lang="zh-CN" altLang="zh-CN" sz="1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1775520" y="3717032"/>
            <a:ext cx="8208912" cy="2240977"/>
          </a:xfrm>
          <a:prstGeom prst="rect">
            <a:avLst/>
          </a:prstGeom>
        </p:spPr>
      </p:pic>
    </p:spTree>
    <p:extLst>
      <p:ext uri="{BB962C8B-B14F-4D97-AF65-F5344CB8AC3E}">
        <p14:creationId xmlns:p14="http://schemas.microsoft.com/office/powerpoint/2010/main" val="336355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6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3" y="3914156"/>
            <a:ext cx="2510109" cy="167508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1703512" y="4083415"/>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5256" y="214025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prstClr val="white"/>
                </a:solidFill>
              </a:endParaRPr>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4-10</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72557" y="2245011"/>
              <a:ext cx="8976536" cy="103842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r>
                <a:rPr lang="zh-CN" altLang="en-US" kern="0" dirty="0">
                  <a:solidFill>
                    <a:prstClr val="white"/>
                  </a:solidFill>
                </a:rPr>
                <a:t>编写一个</a:t>
              </a:r>
              <a:r>
                <a:rPr lang="en-US" altLang="zh-CN" kern="0" dirty="0">
                  <a:solidFill>
                    <a:prstClr val="white"/>
                  </a:solidFill>
                </a:rPr>
                <a:t>Shell</a:t>
              </a:r>
              <a:r>
                <a:rPr lang="zh-CN" altLang="en-US" kern="0" dirty="0">
                  <a:solidFill>
                    <a:prstClr val="white"/>
                  </a:solidFill>
                </a:rPr>
                <a:t>程序</a:t>
              </a:r>
              <a:r>
                <a:rPr lang="en-US" altLang="zh-CN" kern="0" dirty="0">
                  <a:solidFill>
                    <a:prstClr val="white"/>
                  </a:solidFill>
                </a:rPr>
                <a:t>test9.sh</a:t>
              </a:r>
              <a:r>
                <a:rPr lang="zh-CN" altLang="en-US" kern="0" dirty="0">
                  <a:solidFill>
                    <a:prstClr val="white"/>
                  </a:solidFill>
                </a:rPr>
                <a:t>，要求用户输入一个数字。如果该数字小于等于</a:t>
              </a:r>
              <a:r>
                <a:rPr lang="en-US" altLang="zh-CN" kern="0" dirty="0">
                  <a:solidFill>
                    <a:prstClr val="white"/>
                  </a:solidFill>
                </a:rPr>
                <a:t>5</a:t>
              </a:r>
              <a:r>
                <a:rPr lang="zh-CN" altLang="en-US" kern="0" dirty="0">
                  <a:solidFill>
                    <a:prstClr val="white"/>
                  </a:solidFill>
                </a:rPr>
                <a:t>，则显示消息“</a:t>
              </a:r>
              <a:r>
                <a:rPr lang="en-US" altLang="zh-CN" kern="0" dirty="0">
                  <a:solidFill>
                    <a:prstClr val="white"/>
                  </a:solidFill>
                </a:rPr>
                <a:t>the number&lt;=5”</a:t>
              </a:r>
              <a:r>
                <a:rPr lang="zh-CN" altLang="en-US" kern="0" dirty="0">
                  <a:solidFill>
                    <a:prstClr val="white"/>
                  </a:solidFill>
                </a:rPr>
                <a:t>；如果该数字在</a:t>
              </a:r>
              <a:r>
                <a:rPr lang="en-US" altLang="zh-CN" kern="0" dirty="0">
                  <a:solidFill>
                    <a:prstClr val="white"/>
                  </a:solidFill>
                </a:rPr>
                <a:t>5</a:t>
              </a:r>
              <a:r>
                <a:rPr lang="zh-CN" altLang="en-US" kern="0" dirty="0">
                  <a:solidFill>
                    <a:prstClr val="white"/>
                  </a:solidFill>
                </a:rPr>
                <a:t>～</a:t>
              </a:r>
              <a:r>
                <a:rPr lang="en-US" altLang="zh-CN" kern="0" dirty="0">
                  <a:solidFill>
                    <a:prstClr val="white"/>
                  </a:solidFill>
                </a:rPr>
                <a:t>10</a:t>
              </a:r>
              <a:r>
                <a:rPr lang="zh-CN" altLang="en-US" kern="0" dirty="0">
                  <a:solidFill>
                    <a:prstClr val="white"/>
                  </a:solidFill>
                </a:rPr>
                <a:t>之间，则显示消息“</a:t>
              </a:r>
              <a:r>
                <a:rPr lang="en-US" altLang="zh-CN" kern="0" dirty="0">
                  <a:solidFill>
                    <a:prstClr val="white"/>
                  </a:solidFill>
                </a:rPr>
                <a:t>the number is between 5 and 10”</a:t>
              </a:r>
              <a:r>
                <a:rPr lang="zh-CN" altLang="en-US" kern="0" dirty="0">
                  <a:solidFill>
                    <a:prstClr val="white"/>
                  </a:solidFill>
                </a:rPr>
                <a:t>；如果该数大于等于</a:t>
              </a:r>
              <a:r>
                <a:rPr lang="en-US" altLang="zh-CN" kern="0" dirty="0">
                  <a:solidFill>
                    <a:prstClr val="white"/>
                  </a:solidFill>
                </a:rPr>
                <a:t>10</a:t>
              </a:r>
              <a:r>
                <a:rPr lang="zh-CN" altLang="en-US" kern="0" dirty="0">
                  <a:solidFill>
                    <a:prstClr val="white"/>
                  </a:solidFill>
                </a:rPr>
                <a:t>，则显示消息“</a:t>
              </a:r>
              <a:r>
                <a:rPr lang="en-US" altLang="zh-CN" kern="0" dirty="0">
                  <a:solidFill>
                    <a:prstClr val="white"/>
                  </a:solidFill>
                </a:rPr>
                <a:t>the number &gt;= 10”</a:t>
              </a:r>
              <a:r>
                <a:rPr lang="zh-CN" altLang="en-US" kern="0" dirty="0">
                  <a:solidFill>
                    <a:prstClr val="white"/>
                  </a:solidFill>
                </a:rPr>
                <a:t>。</a:t>
              </a:r>
              <a:endParaRPr lang="en-US" kern="0" dirty="0">
                <a:solidFill>
                  <a:prstClr val="white"/>
                </a:solidFill>
              </a:endParaRPr>
            </a:p>
          </p:txBody>
        </p:sp>
      </p:grpSp>
      <p:sp>
        <p:nvSpPr>
          <p:cNvPr id="16"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20190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6" presetClass="emph" presetSubtype="0" fill="hold" grpId="0" nodeType="afterEffect">
                                  <p:stCondLst>
                                    <p:cond delay="0"/>
                                  </p:stCondLst>
                                  <p:iterate type="lt">
                                    <p:tmPct val="4000"/>
                                  </p:iterate>
                                  <p:childTnLst>
                                    <p:set>
                                      <p:cBhvr override="childStyle">
                                        <p:cTn id="24" dur="500" fill="hold"/>
                                        <p:tgtEl>
                                          <p:spTgt spid="16"/>
                                        </p:tgtEl>
                                        <p:attrNameLst>
                                          <p:attrName>style.color</p:attrName>
                                        </p:attrNameLst>
                                      </p:cBhvr>
                                      <p:to>
                                        <p:clrVal>
                                          <a:schemeClr val="accent2"/>
                                        </p:clrVal>
                                      </p:to>
                                    </p:set>
                                    <p:set>
                                      <p:cBhvr>
                                        <p:cTn id="25" dur="500" fill="hold"/>
                                        <p:tgtEl>
                                          <p:spTgt spid="16"/>
                                        </p:tgtEl>
                                        <p:attrNameLst>
                                          <p:attrName>fillcolor</p:attrName>
                                        </p:attrNameLst>
                                      </p:cBhvr>
                                      <p:to>
                                        <p:clrVal>
                                          <a:schemeClr val="accent2"/>
                                        </p:clrVal>
                                      </p:to>
                                    </p:set>
                                    <p:set>
                                      <p:cBhvr>
                                        <p:cTn id="26" dur="500" fill="hold"/>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10008686" cy="706974"/>
            <a:chOff x="955862" y="853478"/>
            <a:chExt cx="10008686"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10008686" cy="361637"/>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solidFill>
                  <a:prstClr val="black"/>
                </a:solidFill>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STEP01</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5112142" cy="3667235"/>
            <a:chOff x="947732" y="2076797"/>
            <a:chExt cx="5112142" cy="3667235"/>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5112142" cy="3323987"/>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test9.sh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test9.sh</a:t>
              </a:r>
            </a:p>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test9.sh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/bin/bash</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read -p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Inpu</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 number: '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if [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lt</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5 ];then</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'The number &lt;=5'</a:t>
              </a:r>
            </a:p>
            <a:p>
              <a:pPr indent="457200" defTabSz="457200"/>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elif</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ge</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5 -a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num</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lt</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10 ];then</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'The number is between 5 and 10'</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else</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'The number &gt;=10'</a:t>
              </a:r>
            </a:p>
            <a:p>
              <a:pPr indent="457200" defTabSz="457200"/>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fi</a:t>
              </a: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STEP02</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3" name="矩形 2"/>
          <p:cNvSpPr/>
          <p:nvPr/>
        </p:nvSpPr>
        <p:spPr>
          <a:xfrm>
            <a:off x="6456040" y="2620120"/>
            <a:ext cx="4608512" cy="2785378"/>
          </a:xfrm>
          <a:prstGeom prst="rect">
            <a:avLst/>
          </a:prstGeom>
          <a:noFill/>
          <a:ln>
            <a:solidFill>
              <a:sysClr val="windowText" lastClr="000000"/>
            </a:solidFill>
            <a:prstDash val="dash"/>
          </a:ln>
        </p:spPr>
        <p:txBody>
          <a:bodyPr wrap="square" rtlCol="0">
            <a:spAutoFit/>
          </a:bodyPr>
          <a:lstStyle/>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）输入完成后保存退出，再给脚本添加执行权限，操作方法如下：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test9.sh </a:t>
            </a:r>
          </a:p>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test9.sh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 ./test9.sh</a:t>
            </a:r>
          </a:p>
          <a:p>
            <a:pPr indent="457200" defTabSz="457200">
              <a:lnSpc>
                <a:spcPct val="125000"/>
              </a:lnSpc>
            </a:pP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Inpu</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 number: 4</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The number &lt;=5</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 ./test9.sh</a:t>
            </a:r>
          </a:p>
          <a:p>
            <a:pPr indent="457200" defTabSz="457200">
              <a:lnSpc>
                <a:spcPct val="125000"/>
              </a:lnSpc>
            </a:pP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Inpu</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 number: 8</a:t>
            </a:r>
          </a:p>
          <a:p>
            <a:pPr indent="457200" defTabSz="457200">
              <a:lnSpc>
                <a:spcPct val="125000"/>
              </a:lnSpc>
            </a:pP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The number is between 5 and 10</a:t>
            </a:r>
          </a:p>
        </p:txBody>
      </p:sp>
    </p:spTree>
    <p:extLst>
      <p:ext uri="{BB962C8B-B14F-4D97-AF65-F5344CB8AC3E}">
        <p14:creationId xmlns:p14="http://schemas.microsoft.com/office/powerpoint/2010/main" val="70182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任务实施</a:t>
            </a:r>
          </a:p>
        </p:txBody>
      </p:sp>
      <p:sp>
        <p:nvSpPr>
          <p:cNvPr id="15"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4.4.5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条件结构语句的使用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43A0C9C7-51E3-4809-8C10-78AA11522F0A}"/>
              </a:ext>
            </a:extLst>
          </p:cNvPr>
          <p:cNvSpPr/>
          <p:nvPr/>
        </p:nvSpPr>
        <p:spPr>
          <a:xfrm>
            <a:off x="1096914" y="1994255"/>
            <a:ext cx="1988045" cy="338554"/>
          </a:xfrm>
          <a:prstGeom prst="rect">
            <a:avLst/>
          </a:prstGeom>
        </p:spPr>
        <p:txBody>
          <a:bodyPr wrap="none">
            <a:spAutoFit/>
          </a:bodyPr>
          <a:lstStyle/>
          <a:p>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case</a:t>
            </a:r>
            <a:r>
              <a:rPr lang="zh-CN" altLang="en-US" sz="16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语句的使用</a:t>
            </a:r>
            <a:endParaRPr lang="zh-CN" altLang="en-US" sz="16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矩形 15"/>
          <p:cNvSpPr/>
          <p:nvPr/>
        </p:nvSpPr>
        <p:spPr>
          <a:xfrm>
            <a:off x="1096914" y="2538150"/>
            <a:ext cx="10077452" cy="1061829"/>
          </a:xfrm>
          <a:prstGeom prst="rect">
            <a:avLst/>
          </a:prstGeom>
          <a:ln>
            <a:solidFill>
              <a:schemeClr val="tx1"/>
            </a:solidFill>
            <a:prstDash val="dash"/>
          </a:ln>
        </p:spPr>
        <p:txBody>
          <a:bodyPr wrap="square">
            <a:spAutoFit/>
          </a:bodyPr>
          <a:lstStyle/>
          <a:p>
            <a:pPr indent="288000">
              <a:lnSpc>
                <a:spcPct val="150000"/>
              </a:lnSpc>
            </a:pPr>
            <a:r>
              <a:rPr lang="zh-CN" altLang="en-US" sz="1400" dirty="0">
                <a:latin typeface="微软雅黑" panose="020B0503020204020204" pitchFamily="34" charset="-122"/>
                <a:ea typeface="微软雅黑" panose="020B0503020204020204" pitchFamily="34" charset="-122"/>
              </a:rPr>
              <a:t>假设要设计这样一个程序，对不同年龄的用户显示不同的信息。当然可以使用</a:t>
            </a:r>
            <a:r>
              <a:rPr lang="en-US" altLang="zh-CN" sz="1400" dirty="0">
                <a:latin typeface="微软雅黑" panose="020B0503020204020204" pitchFamily="34" charset="-122"/>
                <a:ea typeface="微软雅黑" panose="020B0503020204020204" pitchFamily="34" charset="-122"/>
              </a:rPr>
              <a:t>if</a:t>
            </a:r>
            <a:r>
              <a:rPr lang="zh-CN" altLang="en-US" sz="1400" dirty="0">
                <a:latin typeface="微软雅黑" panose="020B0503020204020204" pitchFamily="34" charset="-122"/>
                <a:ea typeface="微软雅黑" panose="020B0503020204020204" pitchFamily="34" charset="-122"/>
              </a:rPr>
              <a:t>语句来设计这样的程序，不过这会很难让人看懂。如果想获得同样的结果又不想太复杂，可以使用</a:t>
            </a:r>
            <a:r>
              <a:rPr lang="en-US" altLang="zh-CN" sz="1400" dirty="0">
                <a:latin typeface="微软雅黑" panose="020B0503020204020204" pitchFamily="34" charset="-122"/>
                <a:ea typeface="微软雅黑" panose="020B0503020204020204" pitchFamily="34" charset="-122"/>
              </a:rPr>
              <a:t>case</a:t>
            </a:r>
            <a:r>
              <a:rPr lang="zh-CN" altLang="en-US" sz="1400" dirty="0">
                <a:latin typeface="微软雅黑" panose="020B0503020204020204" pitchFamily="34" charset="-122"/>
                <a:ea typeface="微软雅黑" panose="020B0503020204020204" pitchFamily="34" charset="-122"/>
              </a:rPr>
              <a:t>语句。</a:t>
            </a:r>
            <a:r>
              <a:rPr lang="en-US" altLang="zh-CN" sz="1400" dirty="0">
                <a:latin typeface="微软雅黑" panose="020B0503020204020204" pitchFamily="34" charset="-122"/>
                <a:ea typeface="微软雅黑" panose="020B0503020204020204" pitchFamily="34" charset="-122"/>
              </a:rPr>
              <a:t>case…</a:t>
            </a:r>
            <a:r>
              <a:rPr lang="en-US" altLang="zh-CN" sz="1400" dirty="0" err="1">
                <a:latin typeface="微软雅黑" panose="020B0503020204020204" pitchFamily="34" charset="-122"/>
                <a:ea typeface="微软雅黑" panose="020B0503020204020204" pitchFamily="34" charset="-122"/>
              </a:rPr>
              <a:t>esac</a:t>
            </a:r>
            <a:r>
              <a:rPr lang="zh-CN" altLang="en-US" sz="1400" dirty="0">
                <a:latin typeface="微软雅黑" panose="020B0503020204020204" pitchFamily="34" charset="-122"/>
                <a:ea typeface="微软雅黑" panose="020B0503020204020204" pitchFamily="34" charset="-122"/>
              </a:rPr>
              <a:t>根据变量的值来执行一组特定指令，常常用来替代</a:t>
            </a:r>
            <a:r>
              <a:rPr lang="en-US" altLang="zh-CN" sz="1400" dirty="0">
                <a:latin typeface="微软雅黑" panose="020B0503020204020204" pitchFamily="34" charset="-122"/>
                <a:ea typeface="微软雅黑" panose="020B0503020204020204" pitchFamily="34" charset="-122"/>
              </a:rPr>
              <a:t>if</a:t>
            </a:r>
            <a:r>
              <a:rPr lang="zh-CN" altLang="en-US" sz="1400" dirty="0">
                <a:latin typeface="微软雅黑" panose="020B0503020204020204" pitchFamily="34" charset="-122"/>
                <a:ea typeface="微软雅黑" panose="020B0503020204020204" pitchFamily="34" charset="-122"/>
              </a:rPr>
              <a:t>语句</a:t>
            </a:r>
            <a:r>
              <a:rPr lang="en-US" altLang="zh-CN" sz="1400" dirty="0">
                <a:latin typeface="微软雅黑" panose="020B0503020204020204" pitchFamily="34" charset="-122"/>
                <a:ea typeface="微软雅黑" panose="020B0503020204020204" pitchFamily="34" charset="-122"/>
              </a:rPr>
              <a:t>, case</a:t>
            </a:r>
            <a:r>
              <a:rPr lang="zh-CN" altLang="en-US" sz="1400" dirty="0">
                <a:latin typeface="微软雅黑" panose="020B0503020204020204" pitchFamily="34" charset="-122"/>
                <a:ea typeface="微软雅黑" panose="020B0503020204020204" pitchFamily="34" charset="-122"/>
              </a:rPr>
              <a:t>语句的一般格式为如下：：</a:t>
            </a:r>
            <a:endParaRPr lang="zh-CN" altLang="zh-CN" sz="14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855640" y="3805320"/>
            <a:ext cx="6780324" cy="2269775"/>
          </a:xfrm>
          <a:prstGeom prst="rect">
            <a:avLst/>
          </a:prstGeom>
        </p:spPr>
      </p:pic>
    </p:spTree>
    <p:extLst>
      <p:ext uri="{BB962C8B-B14F-4D97-AF65-F5344CB8AC3E}">
        <p14:creationId xmlns:p14="http://schemas.microsoft.com/office/powerpoint/2010/main" val="419430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afterEffect">
                                  <p:stCondLst>
                                    <p:cond delay="0"/>
                                  </p:stCondLst>
                                  <p:iterate type="lt">
                                    <p:tmPct val="4000"/>
                                  </p:iterate>
                                  <p:childTnLst>
                                    <p:set>
                                      <p:cBhvr override="childStyle">
                                        <p:cTn id="6" dur="500" fill="hold"/>
                                        <p:tgtEl>
                                          <p:spTgt spid="15"/>
                                        </p:tgtEl>
                                        <p:attrNameLst>
                                          <p:attrName>style.color</p:attrName>
                                        </p:attrNameLst>
                                      </p:cBhvr>
                                      <p:to>
                                        <p:clrVal>
                                          <a:schemeClr val="accent2"/>
                                        </p:clrVal>
                                      </p:to>
                                    </p:set>
                                    <p:set>
                                      <p:cBhvr>
                                        <p:cTn id="7" dur="500" fill="hold"/>
                                        <p:tgtEl>
                                          <p:spTgt spid="15"/>
                                        </p:tgtEl>
                                        <p:attrNameLst>
                                          <p:attrName>fillcolor</p:attrName>
                                        </p:attrNameLst>
                                      </p:cBhvr>
                                      <p:to>
                                        <p:clrVal>
                                          <a:schemeClr val="accent2"/>
                                        </p:clrVal>
                                      </p:to>
                                    </p:set>
                                    <p:set>
                                      <p:cBhvr>
                                        <p:cTn id="8" dur="500" fill="hold"/>
                                        <p:tgtEl>
                                          <p:spTgt spid="15"/>
                                        </p:tgtEl>
                                        <p:attrNameLst>
                                          <p:attrName>fill.type</p:attrName>
                                        </p:attrNameLst>
                                      </p:cBhvr>
                                      <p:to>
                                        <p:strVal val="solid"/>
                                      </p:to>
                                    </p:set>
                                  </p:childTnLst>
                                </p:cTn>
                              </p:par>
                            </p:childTnLst>
                          </p:cTn>
                        </p:par>
                        <p:par>
                          <p:cTn id="9" fill="hold">
                            <p:stCondLst>
                              <p:cond delay="76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pic>
        <p:nvPicPr>
          <p:cNvPr id="4" name="图片 3">
            <a:extLst>
              <a:ext uri="{FF2B5EF4-FFF2-40B4-BE49-F238E27FC236}">
                <a16:creationId xmlns:a16="http://schemas.microsoft.com/office/drawing/2014/main" id="{519E99CC-4BE6-48FA-BA27-0487D67EB6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2103" y="3914156"/>
            <a:ext cx="2510109" cy="167508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5" name="组合 4">
            <a:extLst>
              <a:ext uri="{FF2B5EF4-FFF2-40B4-BE49-F238E27FC236}">
                <a16:creationId xmlns:a16="http://schemas.microsoft.com/office/drawing/2014/main" id="{73E27E45-2476-44E6-BD13-0BC39E44F09A}"/>
              </a:ext>
            </a:extLst>
          </p:cNvPr>
          <p:cNvGrpSpPr/>
          <p:nvPr/>
        </p:nvGrpSpPr>
        <p:grpSpPr>
          <a:xfrm>
            <a:off x="1703512" y="4083415"/>
            <a:ext cx="5832648" cy="1656184"/>
            <a:chOff x="1640468" y="3686823"/>
            <a:chExt cx="4312179" cy="1190477"/>
          </a:xfrm>
        </p:grpSpPr>
        <p:pic>
          <p:nvPicPr>
            <p:cNvPr id="6" name="Picture 6" descr="C:\Documents and Settings\tdz\桌面\新建文件夹\53871F49EAD0609A44C97CF165C41EE9.png">
              <a:extLst>
                <a:ext uri="{FF2B5EF4-FFF2-40B4-BE49-F238E27FC236}">
                  <a16:creationId xmlns:a16="http://schemas.microsoft.com/office/drawing/2014/main" id="{BAE62C32-7075-453C-AC56-B9F1FCAAA8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4">
              <a:extLst>
                <a:ext uri="{FF2B5EF4-FFF2-40B4-BE49-F238E27FC236}">
                  <a16:creationId xmlns:a16="http://schemas.microsoft.com/office/drawing/2014/main" id="{6BBC4084-8FF4-4D94-94BA-311093A51E16}"/>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教师</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演示</a:t>
              </a: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    学生</a:t>
              </a:r>
              <a:r>
                <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rPr>
                <a:t>模仿</a:t>
              </a:r>
            </a:p>
          </p:txBody>
        </p:sp>
      </p:grpSp>
      <p:grpSp>
        <p:nvGrpSpPr>
          <p:cNvPr id="9" name="组合 8">
            <a:extLst>
              <a:ext uri="{FF2B5EF4-FFF2-40B4-BE49-F238E27FC236}">
                <a16:creationId xmlns:a16="http://schemas.microsoft.com/office/drawing/2014/main" id="{A46C9AFF-B99F-4C63-ADCB-05D311914747}"/>
              </a:ext>
            </a:extLst>
          </p:cNvPr>
          <p:cNvGrpSpPr/>
          <p:nvPr/>
        </p:nvGrpSpPr>
        <p:grpSpPr>
          <a:xfrm>
            <a:off x="1025256" y="2140256"/>
            <a:ext cx="10163684" cy="1370696"/>
            <a:chOff x="582266" y="2202506"/>
            <a:chExt cx="10163684" cy="1306401"/>
          </a:xfrm>
        </p:grpSpPr>
        <p:sp>
          <p:nvSpPr>
            <p:cNvPr id="10" name="圆角矩形 9">
              <a:extLst>
                <a:ext uri="{FF2B5EF4-FFF2-40B4-BE49-F238E27FC236}">
                  <a16:creationId xmlns:a16="http://schemas.microsoft.com/office/drawing/2014/main" id="{15FF568A-2F0F-4A38-93DD-0A1958928C31}"/>
                </a:ext>
              </a:extLst>
            </p:cNvPr>
            <p:cNvSpPr/>
            <p:nvPr/>
          </p:nvSpPr>
          <p:spPr>
            <a:xfrm>
              <a:off x="637469" y="2245011"/>
              <a:ext cx="10057285" cy="1018143"/>
            </a:xfrm>
            <a:prstGeom prst="roundRect">
              <a:avLst>
                <a:gd name="adj" fmla="val 4036"/>
              </a:avLst>
            </a:prstGeom>
            <a:solidFill>
              <a:schemeClr val="tx1">
                <a:lumMod val="50000"/>
                <a:lumOff val="50000"/>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prstClr val="white"/>
                </a:solidFill>
              </a:endParaRPr>
            </a:p>
          </p:txBody>
        </p:sp>
        <p:pic>
          <p:nvPicPr>
            <p:cNvPr id="11" name="Picture 2" descr="F:\TDZ临时\其他备用\！PPT图片及版面资源\06-PPT精选插图\04-图标\右边角-黄1.png">
              <a:extLst>
                <a:ext uri="{FF2B5EF4-FFF2-40B4-BE49-F238E27FC236}">
                  <a16:creationId xmlns:a16="http://schemas.microsoft.com/office/drawing/2014/main" id="{3A6558C5-BE52-4E7B-A1EE-5ED06BF4D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590350" y="2223034"/>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9">
              <a:extLst>
                <a:ext uri="{FF2B5EF4-FFF2-40B4-BE49-F238E27FC236}">
                  <a16:creationId xmlns:a16="http://schemas.microsoft.com/office/drawing/2014/main" id="{866C0B76-2B89-40A9-8B5D-913C01733D4F}"/>
                </a:ext>
              </a:extLst>
            </p:cNvPr>
            <p:cNvSpPr txBox="1"/>
            <p:nvPr/>
          </p:nvSpPr>
          <p:spPr>
            <a:xfrm rot="18868184">
              <a:off x="9706472" y="2727052"/>
              <a:ext cx="1255933" cy="307777"/>
            </a:xfrm>
            <a:prstGeom prst="rect">
              <a:avLst/>
            </a:prstGeom>
            <a:noFill/>
          </p:spPr>
          <p:txBody>
            <a:bodyPr wrap="square" rtlCol="0">
              <a:spAutoFit/>
            </a:bodyPr>
            <a:lstStyle/>
            <a:p>
              <a:r>
                <a:rPr lang="zh-CN" altLang="en-US" sz="1400" b="1" dirty="0">
                  <a:solidFill>
                    <a:prstClr val="white"/>
                  </a:solidFill>
                  <a:latin typeface="微软雅黑" pitchFamily="34" charset="-122"/>
                  <a:ea typeface="微软雅黑" pitchFamily="34" charset="-122"/>
                </a:rPr>
                <a:t>任务案例</a:t>
              </a:r>
              <a:r>
                <a:rPr lang="en-US" altLang="zh-CN" sz="1400" b="1" dirty="0">
                  <a:solidFill>
                    <a:prstClr val="white"/>
                  </a:solidFill>
                  <a:latin typeface="微软雅黑" pitchFamily="34" charset="-122"/>
                  <a:ea typeface="微软雅黑" pitchFamily="34" charset="-122"/>
                </a:rPr>
                <a:t>4-11</a:t>
              </a:r>
              <a:endParaRPr lang="zh-CN" altLang="en-US" sz="1400" b="1" dirty="0">
                <a:solidFill>
                  <a:prstClr val="white"/>
                </a:solidFill>
                <a:latin typeface="微软雅黑" pitchFamily="34" charset="-122"/>
                <a:ea typeface="微软雅黑" pitchFamily="34" charset="-122"/>
              </a:endParaRPr>
            </a:p>
          </p:txBody>
        </p:sp>
        <p:pic>
          <p:nvPicPr>
            <p:cNvPr id="13" name="Picture 3" descr="D:\Teliss_Tong\Copy\定期备份\工作备份\！PPT图片及版面资源\06-PPT精选插图\04-图标\BE2B91485291AEB7B04B1F1F2B4A2632.png">
              <a:extLst>
                <a:ext uri="{FF2B5EF4-FFF2-40B4-BE49-F238E27FC236}">
                  <a16:creationId xmlns:a16="http://schemas.microsoft.com/office/drawing/2014/main" id="{0B73903F-6C9A-44FE-9589-29A14076CE3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82266" y="2202506"/>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44">
              <a:extLst>
                <a:ext uri="{FF2B5EF4-FFF2-40B4-BE49-F238E27FC236}">
                  <a16:creationId xmlns:a16="http://schemas.microsoft.com/office/drawing/2014/main" id="{59A48296-3B9B-4DFE-BAEB-1DEAC9FDABC4}"/>
                </a:ext>
              </a:extLst>
            </p:cNvPr>
            <p:cNvSpPr txBox="1">
              <a:spLocks noChangeArrowheads="1"/>
            </p:cNvSpPr>
            <p:nvPr/>
          </p:nvSpPr>
          <p:spPr bwMode="auto">
            <a:xfrm>
              <a:off x="786522" y="2503424"/>
              <a:ext cx="8976536" cy="40480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r>
                <a:rPr lang="zh-CN" altLang="en-US" kern="0" dirty="0">
                  <a:solidFill>
                    <a:prstClr val="white"/>
                  </a:solidFill>
                </a:rPr>
                <a:t>编写一个</a:t>
              </a:r>
              <a:r>
                <a:rPr lang="en-US" altLang="zh-CN" kern="0" dirty="0">
                  <a:solidFill>
                    <a:prstClr val="white"/>
                  </a:solidFill>
                </a:rPr>
                <a:t>Shell</a:t>
              </a:r>
              <a:r>
                <a:rPr lang="zh-CN" altLang="en-US" kern="0" dirty="0">
                  <a:solidFill>
                    <a:prstClr val="white"/>
                  </a:solidFill>
                </a:rPr>
                <a:t>程序</a:t>
              </a:r>
              <a:r>
                <a:rPr lang="en-US" altLang="zh-CN" kern="0" dirty="0">
                  <a:solidFill>
                    <a:prstClr val="white"/>
                  </a:solidFill>
                </a:rPr>
                <a:t>test10.sh</a:t>
              </a:r>
              <a:r>
                <a:rPr lang="zh-CN" altLang="en-US" kern="0" dirty="0">
                  <a:solidFill>
                    <a:prstClr val="white"/>
                  </a:solidFill>
                </a:rPr>
                <a:t>，根据登录用户的不同，输出不同的反馈结果。</a:t>
              </a:r>
              <a:endParaRPr lang="en-US" kern="0" dirty="0">
                <a:solidFill>
                  <a:prstClr val="white"/>
                </a:solidFill>
              </a:endParaRPr>
            </a:p>
          </p:txBody>
        </p:sp>
      </p:grpSp>
      <p:sp>
        <p:nvSpPr>
          <p:cNvPr id="16" name="TextBox 18">
            <a:extLst>
              <a:ext uri="{FF2B5EF4-FFF2-40B4-BE49-F238E27FC236}">
                <a16:creationId xmlns:a16="http://schemas.microsoft.com/office/drawing/2014/main" id="{D21AE036-8D06-46DC-83DE-42BCA0C292E8}"/>
              </a:ext>
            </a:extLst>
          </p:cNvPr>
          <p:cNvSpPr txBox="1"/>
          <p:nvPr/>
        </p:nvSpPr>
        <p:spPr>
          <a:xfrm>
            <a:off x="1025256" y="1388804"/>
            <a:ext cx="6418124" cy="400110"/>
          </a:xfrm>
          <a:prstGeom prst="rect">
            <a:avLst/>
          </a:prstGeom>
          <a:noFill/>
        </p:spPr>
        <p:txBody>
          <a:bodyPr wrap="square">
            <a:spAutoFit/>
          </a:bodyPr>
          <a:lstStyle/>
          <a:p>
            <a:pPr>
              <a:defRPr/>
            </a:pPr>
            <a:r>
              <a:rPr lang="en-US" altLang="zh-CN" sz="2000" b="1" i="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4.4.4  </a:t>
            </a:r>
            <a:r>
              <a:rPr lang="zh-CN" altLang="en-US" b="1" dirty="0">
                <a:solidFill>
                  <a:schemeClr val="tx1">
                    <a:lumMod val="65000"/>
                    <a:lumOff val="35000"/>
                  </a:schemeClr>
                </a:solidFill>
                <a:effectLst>
                  <a:outerShdw blurRad="38100" dist="38100" dir="2700000" algn="tl">
                    <a:srgbClr val="000000">
                      <a:alpha val="43137"/>
                    </a:srgbClr>
                  </a:outerShdw>
                </a:effectLst>
                <a:latin typeface="Broadway" pitchFamily="82" charset="0"/>
                <a:ea typeface="DFPYeaSong-B5" pitchFamily="18" charset="-120"/>
              </a:rPr>
              <a:t>循环结构语句的使用</a:t>
            </a:r>
            <a:endParaRPr lang="zh-CN" altLang="en-US" sz="1600" b="1"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141802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6" presetClass="emph" presetSubtype="0" fill="hold" grpId="0" nodeType="afterEffect">
                                  <p:stCondLst>
                                    <p:cond delay="0"/>
                                  </p:stCondLst>
                                  <p:iterate type="lt">
                                    <p:tmPct val="4000"/>
                                  </p:iterate>
                                  <p:childTnLst>
                                    <p:set>
                                      <p:cBhvr override="childStyle">
                                        <p:cTn id="24" dur="500" fill="hold"/>
                                        <p:tgtEl>
                                          <p:spTgt spid="16"/>
                                        </p:tgtEl>
                                        <p:attrNameLst>
                                          <p:attrName>style.color</p:attrName>
                                        </p:attrNameLst>
                                      </p:cBhvr>
                                      <p:to>
                                        <p:clrVal>
                                          <a:schemeClr val="accent2"/>
                                        </p:clrVal>
                                      </p:to>
                                    </p:set>
                                    <p:set>
                                      <p:cBhvr>
                                        <p:cTn id="25" dur="500" fill="hold"/>
                                        <p:tgtEl>
                                          <p:spTgt spid="16"/>
                                        </p:tgtEl>
                                        <p:attrNameLst>
                                          <p:attrName>fillcolor</p:attrName>
                                        </p:attrNameLst>
                                      </p:cBhvr>
                                      <p:to>
                                        <p:clrVal>
                                          <a:schemeClr val="accent2"/>
                                        </p:clrVal>
                                      </p:to>
                                    </p:set>
                                    <p:set>
                                      <p:cBhvr>
                                        <p:cTn id="26" dur="500" fill="hold"/>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9EB7BD64-8B4C-4407-9AFC-8712BAB54CD1}"/>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4.4 </a:t>
            </a:r>
            <a:r>
              <a:rPr lang="zh-CN" altLang="en-US" sz="2000" b="1" dirty="0">
                <a:solidFill>
                  <a:prstClr val="black"/>
                </a:solidFill>
                <a:effectLst>
                  <a:outerShdw blurRad="38100" dist="38100" dir="2700000" algn="tl">
                    <a:srgbClr val="000000">
                      <a:alpha val="43137"/>
                    </a:srgbClr>
                  </a:outerShdw>
                </a:effectLst>
                <a:latin typeface="微软雅黑" pitchFamily="34" charset="-122"/>
                <a:ea typeface="微软雅黑" pitchFamily="34" charset="-122"/>
              </a:rPr>
              <a:t>任务实施</a:t>
            </a:r>
          </a:p>
        </p:txBody>
      </p:sp>
      <p:grpSp>
        <p:nvGrpSpPr>
          <p:cNvPr id="17" name="组合 16">
            <a:extLst>
              <a:ext uri="{FF2B5EF4-FFF2-40B4-BE49-F238E27FC236}">
                <a16:creationId xmlns:a16="http://schemas.microsoft.com/office/drawing/2014/main" id="{AC07AFCF-8E27-4E9B-84BA-A2946E84E20F}"/>
              </a:ext>
            </a:extLst>
          </p:cNvPr>
          <p:cNvGrpSpPr/>
          <p:nvPr/>
        </p:nvGrpSpPr>
        <p:grpSpPr>
          <a:xfrm>
            <a:off x="1055866" y="1372429"/>
            <a:ext cx="10008686" cy="706974"/>
            <a:chOff x="955862" y="853478"/>
            <a:chExt cx="10008686" cy="706974"/>
          </a:xfrm>
        </p:grpSpPr>
        <p:sp>
          <p:nvSpPr>
            <p:cNvPr id="18" name="TextBox 6">
              <a:extLst>
                <a:ext uri="{FF2B5EF4-FFF2-40B4-BE49-F238E27FC236}">
                  <a16:creationId xmlns:a16="http://schemas.microsoft.com/office/drawing/2014/main" id="{1011A43F-58BE-474C-BE05-13B5CE3DDCD9}"/>
                </a:ext>
              </a:extLst>
            </p:cNvPr>
            <p:cNvSpPr txBox="1"/>
            <p:nvPr/>
          </p:nvSpPr>
          <p:spPr>
            <a:xfrm>
              <a:off x="955862" y="1198815"/>
              <a:ext cx="10008686" cy="361637"/>
            </a:xfrm>
            <a:prstGeom prst="rect">
              <a:avLst/>
            </a:prstGeom>
            <a:noFill/>
            <a:ln>
              <a:solidFill>
                <a:sysClr val="windowText" lastClr="000000"/>
              </a:solidFill>
              <a:prstDash val="dash"/>
            </a:ln>
          </p:spPr>
          <p:txBody>
            <a:bodyPr wrap="square" rtlCol="0">
              <a:spAutoFit/>
            </a:bodyPr>
            <a:lstStyle/>
            <a:p>
              <a:pPr defTabSz="457200">
                <a:lnSpc>
                  <a:spcPct val="125000"/>
                </a:lnSpc>
              </a:pP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GNOME</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操作界面的桌面单击“活动”，在弹出的图标中选择“终端”选项，打开</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Shell</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窗口，如图</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4-2</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所示。</a:t>
              </a:r>
              <a:endParaRPr lang="zh-CN" altLang="en-US" sz="1400" b="1" kern="0" dirty="0">
                <a:solidFill>
                  <a:prstClr val="black"/>
                </a:solidFill>
                <a:latin typeface="微软雅黑" panose="020B0503020204020204" pitchFamily="34" charset="-122"/>
                <a:ea typeface="微软雅黑" panose="020B0503020204020204" pitchFamily="34" charset="-122"/>
              </a:endParaRPr>
            </a:p>
          </p:txBody>
        </p:sp>
        <p:sp>
          <p:nvSpPr>
            <p:cNvPr id="19" name="对角圆角矩形 29">
              <a:extLst>
                <a:ext uri="{FF2B5EF4-FFF2-40B4-BE49-F238E27FC236}">
                  <a16:creationId xmlns:a16="http://schemas.microsoft.com/office/drawing/2014/main" id="{0A6312F5-1C70-4ED3-87BB-D84D3C181468}"/>
                </a:ext>
              </a:extLst>
            </p:cNvPr>
            <p:cNvSpPr/>
            <p:nvPr/>
          </p:nvSpPr>
          <p:spPr>
            <a:xfrm>
              <a:off x="955862" y="853478"/>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STEP01</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endParaRPr>
            </a:p>
          </p:txBody>
        </p:sp>
      </p:grpSp>
      <p:grpSp>
        <p:nvGrpSpPr>
          <p:cNvPr id="20" name="组合 19">
            <a:extLst>
              <a:ext uri="{FF2B5EF4-FFF2-40B4-BE49-F238E27FC236}">
                <a16:creationId xmlns:a16="http://schemas.microsoft.com/office/drawing/2014/main" id="{8B80695C-7C73-4631-A513-4EC56435DCF7}"/>
              </a:ext>
            </a:extLst>
          </p:cNvPr>
          <p:cNvGrpSpPr/>
          <p:nvPr/>
        </p:nvGrpSpPr>
        <p:grpSpPr>
          <a:xfrm>
            <a:off x="1055866" y="2276872"/>
            <a:ext cx="5112142" cy="3559513"/>
            <a:chOff x="947732" y="2076797"/>
            <a:chExt cx="5112142" cy="3559513"/>
          </a:xfrm>
        </p:grpSpPr>
        <p:sp>
          <p:nvSpPr>
            <p:cNvPr id="21" name="TextBox 6">
              <a:extLst>
                <a:ext uri="{FF2B5EF4-FFF2-40B4-BE49-F238E27FC236}">
                  <a16:creationId xmlns:a16="http://schemas.microsoft.com/office/drawing/2014/main" id="{4EBAB61C-9202-429B-BB2F-6A93E7B9CE31}"/>
                </a:ext>
              </a:extLst>
            </p:cNvPr>
            <p:cNvSpPr txBox="1"/>
            <p:nvPr/>
          </p:nvSpPr>
          <p:spPr>
            <a:xfrm>
              <a:off x="947732" y="2420045"/>
              <a:ext cx="5112142" cy="3216265"/>
            </a:xfrm>
            <a:prstGeom prst="rect">
              <a:avLst/>
            </a:prstGeom>
            <a:noFill/>
            <a:ln>
              <a:solidFill>
                <a:sysClr val="windowText" lastClr="000000"/>
              </a:solidFill>
              <a:prstDash val="dash"/>
            </a:ln>
          </p:spPr>
          <p:txBody>
            <a:bodyPr wrap="square" rtlCol="0">
              <a:spAutoFit/>
            </a:bodyPr>
            <a:lstStyle>
              <a:defPPr>
                <a:defRPr lang="zh-CN"/>
              </a:defPPr>
              <a:lvl1pPr>
                <a:lnSpc>
                  <a:spcPct val="125000"/>
                </a:lnSpc>
                <a:defRPr sz="1260" b="1">
                  <a:solidFill>
                    <a:schemeClr val="bg2">
                      <a:lumMod val="10000"/>
                    </a:schemeClr>
                  </a:solidFill>
                  <a:ea typeface="微软雅黑"/>
                </a:defRPr>
              </a:lvl1pPr>
            </a:lstStyle>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1</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）利用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vi</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编辑器编辑脚本文件</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test10.sh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，操作方法如下：</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test]#vi test10.sh</a:t>
              </a:r>
            </a:p>
            <a:p>
              <a:pPr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2</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）在</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test10.sh</a:t>
              </a:r>
              <a:r>
                <a:rPr lang="zh-CN" altLang="en-US" sz="1400" kern="0" dirty="0">
                  <a:solidFill>
                    <a:srgbClr val="E7E6E6">
                      <a:lumMod val="10000"/>
                    </a:srgbClr>
                  </a:solidFill>
                  <a:latin typeface="微软雅黑" panose="020B0503020204020204" pitchFamily="34" charset="-122"/>
                  <a:ea typeface="微软雅黑" panose="020B0503020204020204" pitchFamily="34" charset="-122"/>
                </a:rPr>
                <a:t>文件中输入以下内容：</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#!/bin/</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sh</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case $USER in</a:t>
              </a: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beichen</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"You are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beichen</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liangnian</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"You are </a:t>
              </a: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liangnian</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注意这里只有一个分号</a:t>
              </a:r>
            </a:p>
            <a:p>
              <a:pPr indent="457200" defTabSz="457200">
                <a:lnSpc>
                  <a:spcPct val="100000"/>
                </a:lnSpc>
              </a:pP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echo "Welcome !";;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这里才是两个分号</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root)</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"You are root!";echo "Welcome !";; </a:t>
              </a:r>
              <a:r>
                <a:rPr lang="zh-CN" altLang="en-US" sz="1400" b="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a:t>
              </a:r>
            </a:p>
            <a:p>
              <a:pPr indent="457200" defTabSz="457200">
                <a:lnSpc>
                  <a:spcPct val="100000"/>
                </a:lnSpc>
              </a:pPr>
              <a:r>
                <a:rPr lang="en-US" altLang="zh-CN" sz="1400" b="0" kern="0" dirty="0">
                  <a:solidFill>
                    <a:srgbClr val="E7E6E6">
                      <a:lumMod val="10000"/>
                    </a:srgbClr>
                  </a:solidFill>
                  <a:latin typeface="微软雅黑" panose="020B0503020204020204" pitchFamily="34" charset="-122"/>
                  <a:ea typeface="微软雅黑" panose="020B0503020204020204" pitchFamily="34" charset="-122"/>
                </a:rPr>
                <a:t>   echo "Who are you?$USER?";;</a:t>
              </a:r>
            </a:p>
            <a:p>
              <a:pPr indent="457200" defTabSz="457200">
                <a:lnSpc>
                  <a:spcPct val="100000"/>
                </a:lnSpc>
              </a:pPr>
              <a:r>
                <a:rPr lang="en-US" altLang="zh-CN" sz="1400" b="0" kern="0" dirty="0" err="1">
                  <a:solidFill>
                    <a:srgbClr val="E7E6E6">
                      <a:lumMod val="10000"/>
                    </a:srgbClr>
                  </a:solidFill>
                  <a:latin typeface="微软雅黑" panose="020B0503020204020204" pitchFamily="34" charset="-122"/>
                  <a:ea typeface="微软雅黑" panose="020B0503020204020204" pitchFamily="34" charset="-122"/>
                </a:rPr>
                <a:t>esac</a:t>
              </a:r>
              <a:endParaRPr lang="en-US" altLang="zh-CN" sz="1400" b="0" kern="0" dirty="0">
                <a:solidFill>
                  <a:srgbClr val="E7E6E6">
                    <a:lumMod val="10000"/>
                  </a:srgbClr>
                </a:solidFill>
                <a:latin typeface="微软雅黑" panose="020B0503020204020204" pitchFamily="34" charset="-122"/>
                <a:ea typeface="微软雅黑" panose="020B0503020204020204" pitchFamily="34" charset="-122"/>
              </a:endParaRPr>
            </a:p>
          </p:txBody>
        </p:sp>
        <p:sp>
          <p:nvSpPr>
            <p:cNvPr id="22" name="对角圆角矩形 30">
              <a:extLst>
                <a:ext uri="{FF2B5EF4-FFF2-40B4-BE49-F238E27FC236}">
                  <a16:creationId xmlns:a16="http://schemas.microsoft.com/office/drawing/2014/main" id="{AB9C7FC8-92B8-409C-A1DB-8B34C5336B3C}"/>
                </a:ext>
              </a:extLst>
            </p:cNvPr>
            <p:cNvSpPr/>
            <p:nvPr/>
          </p:nvSpPr>
          <p:spPr>
            <a:xfrm>
              <a:off x="955862" y="2076797"/>
              <a:ext cx="1283080" cy="343248"/>
            </a:xfrm>
            <a:prstGeom prst="round2DiagRect">
              <a:avLst>
                <a:gd name="adj1" fmla="val 30205"/>
                <a:gd name="adj2" fmla="val 0"/>
              </a:avLst>
            </a:prstGeom>
            <a:solidFill>
              <a:srgbClr val="C00000"/>
            </a:solidFill>
            <a:ln w="12700" cap="flat" cmpd="sng" algn="ctr">
              <a:noFill/>
              <a:prstDash val="solid"/>
              <a:miter lim="800000"/>
            </a:ln>
            <a:effectLst/>
          </p:spPr>
          <p:txBody>
            <a:bodyPr rtlCol="0" anchor="ctr"/>
            <a:lstStyle/>
            <a:p>
              <a:pPr algn="ctr" defTabSz="457200">
                <a:defRPr/>
              </a:pPr>
              <a:r>
                <a:rPr lang="en-US" altLang="zh-CN" b="1" i="1" kern="0" dirty="0">
                  <a:solidFill>
                    <a:prstClr val="white"/>
                  </a:solidFill>
                  <a:effectLst>
                    <a:outerShdw blurRad="38100" dist="38100" dir="2700000" algn="tl">
                      <a:srgbClr val="000000">
                        <a:alpha val="43137"/>
                      </a:srgbClr>
                    </a:outerShdw>
                  </a:effectLst>
                  <a:latin typeface="Broadway" pitchFamily="82" charset="0"/>
                  <a:ea typeface="DFPYeaSong-B5" pitchFamily="18" charset="-120"/>
                </a:rPr>
                <a:t>STEP02</a:t>
              </a:r>
              <a:endParaRPr lang="zh-CN" altLang="en-US" b="1" i="1" kern="0" dirty="0">
                <a:solidFill>
                  <a:prstClr val="white"/>
                </a:solidFill>
                <a:effectLst>
                  <a:outerShdw blurRad="38100" dist="38100" dir="2700000" algn="tl">
                    <a:srgbClr val="000000">
                      <a:alpha val="43137"/>
                    </a:srgbClr>
                  </a:outerShdw>
                </a:effectLst>
                <a:latin typeface="Broadway" pitchFamily="82" charset="0"/>
                <a:ea typeface="等线" panose="02010600030101010101" pitchFamily="2" charset="-122"/>
              </a:endParaRPr>
            </a:p>
          </p:txBody>
        </p:sp>
      </p:grpSp>
      <p:sp>
        <p:nvSpPr>
          <p:cNvPr id="3" name="矩形 2"/>
          <p:cNvSpPr/>
          <p:nvPr/>
        </p:nvSpPr>
        <p:spPr>
          <a:xfrm>
            <a:off x="6456040" y="2620120"/>
            <a:ext cx="4608512" cy="1762021"/>
          </a:xfrm>
          <a:prstGeom prst="rect">
            <a:avLst/>
          </a:prstGeom>
          <a:noFill/>
          <a:ln>
            <a:solidFill>
              <a:sysClr val="windowText" lastClr="000000"/>
            </a:solidFill>
            <a:prstDash val="dash"/>
          </a:ln>
        </p:spPr>
        <p:txBody>
          <a:bodyPr wrap="square" rtlCol="0">
            <a:spAutoFit/>
          </a:bodyPr>
          <a:lstStyle/>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3</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）输入完成后保存退出，再给脚本添加执行权限，操作方法如下：</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chmod</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u+x</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test10.sh  </a:t>
            </a:r>
          </a:p>
          <a:p>
            <a:pPr defTabSz="457200">
              <a:lnSpc>
                <a:spcPct val="125000"/>
              </a:lnSpc>
            </a:pP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4</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）再执行</a:t>
            </a:r>
            <a:r>
              <a:rPr lang="en-US" altLang="zh-CN" sz="1400" b="1" kern="0" dirty="0">
                <a:solidFill>
                  <a:srgbClr val="E7E6E6">
                    <a:lumMod val="10000"/>
                  </a:srgbClr>
                </a:solidFill>
                <a:latin typeface="微软雅黑" panose="020B0503020204020204" pitchFamily="34" charset="-122"/>
                <a:ea typeface="微软雅黑" panose="020B0503020204020204" pitchFamily="34" charset="-122"/>
              </a:rPr>
              <a:t>test10.sh</a:t>
            </a:r>
            <a:r>
              <a:rPr lang="zh-CN" altLang="en-US" sz="1400" b="1" kern="0" dirty="0">
                <a:solidFill>
                  <a:srgbClr val="E7E6E6">
                    <a:lumMod val="10000"/>
                  </a:srgbClr>
                </a:solidFill>
                <a:latin typeface="微软雅黑" panose="020B0503020204020204" pitchFamily="34" charset="-122"/>
                <a:ea typeface="微软雅黑" panose="020B0503020204020204" pitchFamily="34" charset="-122"/>
              </a:rPr>
              <a:t>脚本，执行后的结果如下：</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a:t>
            </a:r>
            <a:r>
              <a:rPr lang="en-US" altLang="zh-CN" sz="1400" kern="0" dirty="0" err="1">
                <a:solidFill>
                  <a:srgbClr val="E7E6E6">
                    <a:lumMod val="10000"/>
                  </a:srgbClr>
                </a:solidFill>
                <a:latin typeface="微软雅黑" panose="020B0503020204020204" pitchFamily="34" charset="-122"/>
                <a:ea typeface="微软雅黑" panose="020B0503020204020204" pitchFamily="34" charset="-122"/>
              </a:rPr>
              <a:t>root@TianYi</a:t>
            </a:r>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 test]# ./test10.sh</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You are root!</a:t>
            </a:r>
          </a:p>
          <a:p>
            <a:pPr indent="457200" defTabSz="457200"/>
            <a:r>
              <a:rPr lang="en-US" altLang="zh-CN" sz="1400" kern="0" dirty="0">
                <a:solidFill>
                  <a:srgbClr val="E7E6E6">
                    <a:lumMod val="10000"/>
                  </a:srgbClr>
                </a:solidFill>
                <a:latin typeface="微软雅黑" panose="020B0503020204020204" pitchFamily="34" charset="-122"/>
                <a:ea typeface="微软雅黑" panose="020B0503020204020204" pitchFamily="34" charset="-122"/>
              </a:rPr>
              <a:t>Welcome !</a:t>
            </a:r>
          </a:p>
        </p:txBody>
      </p:sp>
    </p:spTree>
    <p:extLst>
      <p:ext uri="{BB962C8B-B14F-4D97-AF65-F5344CB8AC3E}">
        <p14:creationId xmlns:p14="http://schemas.microsoft.com/office/powerpoint/2010/main" val="200402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612CF653-87DD-4624-9488-5BC456CBA49E}"/>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4.5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技能训练</a:t>
            </a:r>
          </a:p>
        </p:txBody>
      </p:sp>
      <p:cxnSp>
        <p:nvCxnSpPr>
          <p:cNvPr id="3" name="直接连接符 2">
            <a:extLst>
              <a:ext uri="{FF2B5EF4-FFF2-40B4-BE49-F238E27FC236}">
                <a16:creationId xmlns:a16="http://schemas.microsoft.com/office/drawing/2014/main" id="{9437F2E4-2778-4977-BA6F-3766B9EEF76A}"/>
              </a:ext>
            </a:extLst>
          </p:cNvPr>
          <p:cNvCxnSpPr/>
          <p:nvPr/>
        </p:nvCxnSpPr>
        <p:spPr>
          <a:xfrm>
            <a:off x="520006" y="6028366"/>
            <a:ext cx="10760570" cy="0"/>
          </a:xfrm>
          <a:prstGeom prst="line">
            <a:avLst/>
          </a:prstGeom>
          <a:noFill/>
          <a:ln w="6350" cap="flat" cmpd="sng" algn="ctr">
            <a:solidFill>
              <a:srgbClr val="C00000"/>
            </a:solidFill>
            <a:prstDash val="solid"/>
            <a:miter lim="800000"/>
          </a:ln>
          <a:effectLst/>
        </p:spPr>
      </p:cxnSp>
      <p:grpSp>
        <p:nvGrpSpPr>
          <p:cNvPr id="4" name="组合 3">
            <a:extLst>
              <a:ext uri="{FF2B5EF4-FFF2-40B4-BE49-F238E27FC236}">
                <a16:creationId xmlns:a16="http://schemas.microsoft.com/office/drawing/2014/main" id="{8D6E535D-8163-4784-811A-A71DDA987BB3}"/>
              </a:ext>
            </a:extLst>
          </p:cNvPr>
          <p:cNvGrpSpPr/>
          <p:nvPr/>
        </p:nvGrpSpPr>
        <p:grpSpPr>
          <a:xfrm>
            <a:off x="789756" y="2141904"/>
            <a:ext cx="9883694" cy="2572460"/>
            <a:chOff x="582266" y="998054"/>
            <a:chExt cx="7929768" cy="2572460"/>
          </a:xfrm>
        </p:grpSpPr>
        <p:sp>
          <p:nvSpPr>
            <p:cNvPr id="5" name="圆角矩形 9">
              <a:extLst>
                <a:ext uri="{FF2B5EF4-FFF2-40B4-BE49-F238E27FC236}">
                  <a16:creationId xmlns:a16="http://schemas.microsoft.com/office/drawing/2014/main" id="{8DA5ED71-9DEF-45E6-BE3F-C5FDB28F145D}"/>
                </a:ext>
              </a:extLst>
            </p:cNvPr>
            <p:cNvSpPr/>
            <p:nvPr/>
          </p:nvSpPr>
          <p:spPr>
            <a:xfrm>
              <a:off x="631926" y="1069202"/>
              <a:ext cx="7735685" cy="2396766"/>
            </a:xfrm>
            <a:prstGeom prst="roundRect">
              <a:avLst>
                <a:gd name="adj" fmla="val 4036"/>
              </a:avLst>
            </a:prstGeom>
            <a:solidFill>
              <a:sysClr val="windowText" lastClr="000000">
                <a:lumMod val="50000"/>
                <a:lumOff val="50000"/>
                <a:alpha val="80000"/>
              </a:sysClr>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6" name="Picture 2" descr="F:\TDZ临时\其他备用\！PPT图片及版面资源\06-PPT精选插图\04-图标\右边角-黄1.png">
              <a:extLst>
                <a:ext uri="{FF2B5EF4-FFF2-40B4-BE49-F238E27FC236}">
                  <a16:creationId xmlns:a16="http://schemas.microsoft.com/office/drawing/2014/main" id="{EFC7E1B8-9C0C-4730-B990-88BC6B1C9B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7283740" y="2434566"/>
              <a:ext cx="1155600" cy="11359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9">
              <a:extLst>
                <a:ext uri="{FF2B5EF4-FFF2-40B4-BE49-F238E27FC236}">
                  <a16:creationId xmlns:a16="http://schemas.microsoft.com/office/drawing/2014/main" id="{E6426E09-52C4-4E76-921E-373F36780CD7}"/>
                </a:ext>
              </a:extLst>
            </p:cNvPr>
            <p:cNvSpPr txBox="1"/>
            <p:nvPr/>
          </p:nvSpPr>
          <p:spPr>
            <a:xfrm rot="19177884">
              <a:off x="7504389" y="2931864"/>
              <a:ext cx="1007645"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课堂任务</a:t>
              </a:r>
              <a:r>
                <a:rPr lang="en-US" altLang="zh-CN" sz="1400" b="1" kern="0" dirty="0">
                  <a:solidFill>
                    <a:prstClr val="white"/>
                  </a:solidFill>
                  <a:latin typeface="微软雅黑" pitchFamily="34" charset="-122"/>
                  <a:ea typeface="微软雅黑" pitchFamily="34" charset="-122"/>
                </a:rPr>
                <a:t>4</a:t>
              </a:r>
              <a:r>
                <a:rPr kumimoji="0" lang="en-US" altLang="zh-CN"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-1</a:t>
              </a:r>
              <a:endPar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endParaRPr>
            </a:p>
          </p:txBody>
        </p:sp>
        <p:pic>
          <p:nvPicPr>
            <p:cNvPr id="8" name="Picture 3" descr="D:\Teliss_Tong\Copy\定期备份\工作备份\！PPT图片及版面资源\06-PPT精选插图\04-图标\BE2B91485291AEB7B04B1F1F2B4A2632.png">
              <a:extLst>
                <a:ext uri="{FF2B5EF4-FFF2-40B4-BE49-F238E27FC236}">
                  <a16:creationId xmlns:a16="http://schemas.microsoft.com/office/drawing/2014/main" id="{82C55639-7C86-4D54-A694-6A049692F6E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2266" y="998054"/>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44">
              <a:extLst>
                <a:ext uri="{FF2B5EF4-FFF2-40B4-BE49-F238E27FC236}">
                  <a16:creationId xmlns:a16="http://schemas.microsoft.com/office/drawing/2014/main" id="{760D6CAF-8FAE-486A-97F2-5CAC7A6CD81E}"/>
                </a:ext>
              </a:extLst>
            </p:cNvPr>
            <p:cNvSpPr txBox="1">
              <a:spLocks noChangeArrowheads="1"/>
            </p:cNvSpPr>
            <p:nvPr/>
          </p:nvSpPr>
          <p:spPr bwMode="auto">
            <a:xfrm>
              <a:off x="849163" y="1217631"/>
              <a:ext cx="7180059" cy="142192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prstClr val="white"/>
                  </a:solidFill>
                </a:rPr>
                <a:t>编写一个</a:t>
              </a:r>
              <a:r>
                <a:rPr lang="en-US" altLang="zh-CN" kern="0" dirty="0">
                  <a:solidFill>
                    <a:prstClr val="white"/>
                  </a:solidFill>
                </a:rPr>
                <a:t>Shell</a:t>
              </a:r>
              <a:r>
                <a:rPr lang="zh-CN" altLang="en-US" kern="0" dirty="0">
                  <a:solidFill>
                    <a:prstClr val="white"/>
                  </a:solidFill>
                </a:rPr>
                <a:t>程序</a:t>
              </a:r>
              <a:r>
                <a:rPr lang="en-US" altLang="zh-CN" kern="0" dirty="0">
                  <a:solidFill>
                    <a:prstClr val="white"/>
                  </a:solidFill>
                </a:rPr>
                <a:t>mkf.sh</a:t>
              </a:r>
              <a:r>
                <a:rPr lang="zh-CN" altLang="en-US" kern="0" dirty="0">
                  <a:solidFill>
                    <a:prstClr val="white"/>
                  </a:solidFill>
                </a:rPr>
                <a:t>，此程序的功能是：显示</a:t>
              </a:r>
              <a:r>
                <a:rPr lang="en-US" altLang="zh-CN" kern="0" dirty="0">
                  <a:solidFill>
                    <a:prstClr val="white"/>
                  </a:solidFill>
                </a:rPr>
                <a:t>root</a:t>
              </a:r>
              <a:r>
                <a:rPr lang="zh-CN" altLang="en-US" kern="0" dirty="0">
                  <a:solidFill>
                    <a:prstClr val="white"/>
                  </a:solidFill>
                </a:rPr>
                <a:t>下的文件信息，然后建立一个</a:t>
              </a:r>
              <a:r>
                <a:rPr lang="en-US" altLang="zh-CN" kern="0" dirty="0" err="1">
                  <a:solidFill>
                    <a:prstClr val="white"/>
                  </a:solidFill>
                </a:rPr>
                <a:t>kk</a:t>
              </a:r>
              <a:r>
                <a:rPr lang="zh-CN" altLang="en-US" kern="0" dirty="0">
                  <a:solidFill>
                    <a:prstClr val="white"/>
                  </a:solidFill>
                </a:rPr>
                <a:t>的文件夹，在此文件夹下建立一个文件</a:t>
              </a:r>
              <a:r>
                <a:rPr lang="en-US" altLang="zh-CN" kern="0" dirty="0">
                  <a:solidFill>
                    <a:prstClr val="white"/>
                  </a:solidFill>
                </a:rPr>
                <a:t>cc</a:t>
              </a:r>
              <a:r>
                <a:rPr lang="zh-CN" altLang="en-US" kern="0" dirty="0">
                  <a:solidFill>
                    <a:prstClr val="white"/>
                  </a:solidFill>
                </a:rPr>
                <a:t>，修改此文件的权限为可执行。</a:t>
              </a:r>
            </a:p>
            <a:p>
              <a:pPr lvl="0"/>
              <a:r>
                <a:rPr lang="en-US" altLang="zh-CN" kern="0" dirty="0">
                  <a:solidFill>
                    <a:prstClr val="white"/>
                  </a:solidFill>
                </a:rPr>
                <a:t>………</a:t>
              </a:r>
            </a:p>
            <a:p>
              <a:pPr lvl="0"/>
              <a:r>
                <a:rPr lang="zh-CN" altLang="en-US" kern="0" dirty="0">
                  <a:solidFill>
                    <a:prstClr val="white"/>
                  </a:solidFill>
                </a:rPr>
                <a:t>具体要求请同学们参见教材。</a:t>
              </a:r>
            </a:p>
          </p:txBody>
        </p:sp>
      </p:grpSp>
      <p:pic>
        <p:nvPicPr>
          <p:cNvPr id="10" name="图片 9">
            <a:extLst>
              <a:ext uri="{FF2B5EF4-FFF2-40B4-BE49-F238E27FC236}">
                <a16:creationId xmlns:a16="http://schemas.microsoft.com/office/drawing/2014/main" id="{5E7F7E08-1D2E-412A-B18C-689312D93FA5}"/>
              </a:ext>
            </a:extLst>
          </p:cNvPr>
          <p:cNvPicPr>
            <a:picLocks noChangeAspect="1"/>
          </p:cNvPicPr>
          <p:nvPr/>
        </p:nvPicPr>
        <p:blipFill>
          <a:blip r:embed="rId4"/>
          <a:stretch>
            <a:fillRect/>
          </a:stretch>
        </p:blipFill>
        <p:spPr>
          <a:xfrm>
            <a:off x="5892274" y="4730022"/>
            <a:ext cx="1766378" cy="1201943"/>
          </a:xfrm>
          <a:prstGeom prst="rect">
            <a:avLst/>
          </a:prstGeom>
        </p:spPr>
      </p:pic>
      <p:grpSp>
        <p:nvGrpSpPr>
          <p:cNvPr id="11" name="组合 10">
            <a:extLst>
              <a:ext uri="{FF2B5EF4-FFF2-40B4-BE49-F238E27FC236}">
                <a16:creationId xmlns:a16="http://schemas.microsoft.com/office/drawing/2014/main" id="{EB81E370-8F5F-4E70-8AC9-345C064EA59E}"/>
              </a:ext>
            </a:extLst>
          </p:cNvPr>
          <p:cNvGrpSpPr/>
          <p:nvPr/>
        </p:nvGrpSpPr>
        <p:grpSpPr>
          <a:xfrm>
            <a:off x="1847958" y="4830673"/>
            <a:ext cx="4312179" cy="1190477"/>
            <a:chOff x="1640468" y="3686823"/>
            <a:chExt cx="4312179" cy="1190477"/>
          </a:xfrm>
        </p:grpSpPr>
        <p:pic>
          <p:nvPicPr>
            <p:cNvPr id="12" name="Picture 6" descr="C:\Documents and Settings\tdz\桌面\新建文件夹\53871F49EAD0609A44C97CF165C41EE9.png">
              <a:extLst>
                <a:ext uri="{FF2B5EF4-FFF2-40B4-BE49-F238E27FC236}">
                  <a16:creationId xmlns:a16="http://schemas.microsoft.com/office/drawing/2014/main" id="{C3D6EA84-A14E-47D9-BD80-0FDBC2BEE0E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4">
              <a:extLst>
                <a:ext uri="{FF2B5EF4-FFF2-40B4-BE49-F238E27FC236}">
                  <a16:creationId xmlns:a16="http://schemas.microsoft.com/office/drawing/2014/main" id="{108B5CF4-AF6F-4344-A9DE-F1A2D00F0CB3}"/>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请同学们自行完成</a:t>
              </a:r>
              <a:endPar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endParaRPr>
            </a:p>
          </p:txBody>
        </p:sp>
      </p:grpSp>
      <p:sp>
        <p:nvSpPr>
          <p:cNvPr id="14" name="矩形 13">
            <a:extLst>
              <a:ext uri="{FF2B5EF4-FFF2-40B4-BE49-F238E27FC236}">
                <a16:creationId xmlns:a16="http://schemas.microsoft.com/office/drawing/2014/main" id="{BDC28E66-1BD2-4FA0-B0DC-21DD47C15C95}"/>
              </a:ext>
            </a:extLst>
          </p:cNvPr>
          <p:cNvSpPr/>
          <p:nvPr/>
        </p:nvSpPr>
        <p:spPr>
          <a:xfrm>
            <a:off x="851652" y="1706949"/>
            <a:ext cx="3017273" cy="338554"/>
          </a:xfrm>
          <a:prstGeom prst="rect">
            <a:avLst/>
          </a:prstGeom>
        </p:spPr>
        <p:txBody>
          <a:bodyPr wrap="square">
            <a:spAutoFit/>
          </a:bodyPr>
          <a:lstStyle/>
          <a:p>
            <a:pPr defTabSz="457200"/>
            <a:r>
              <a:rPr lang="en-US" altLang="zh-CN" sz="1600" b="1" dirty="0">
                <a:solidFill>
                  <a:prstClr val="black"/>
                </a:solidFill>
                <a:effectLst>
                  <a:outerShdw blurRad="38100" dist="38100" dir="2700000" algn="tl">
                    <a:srgbClr val="000000">
                      <a:alpha val="43137"/>
                    </a:srgbClr>
                  </a:outerShdw>
                </a:effectLst>
                <a:ea typeface="等线" panose="02010600030101010101" pitchFamily="2" charset="-122"/>
              </a:rPr>
              <a:t>4.5.1 </a:t>
            </a:r>
            <a:r>
              <a:rPr lang="zh-CN" altLang="en-US" sz="1600" b="1" dirty="0">
                <a:solidFill>
                  <a:prstClr val="black"/>
                </a:solidFill>
                <a:effectLst>
                  <a:outerShdw blurRad="38100" dist="38100" dir="2700000" algn="tl">
                    <a:srgbClr val="000000">
                      <a:alpha val="43137"/>
                    </a:srgbClr>
                  </a:outerShdw>
                </a:effectLst>
                <a:ea typeface="等线" panose="02010600030101010101" pitchFamily="2" charset="-122"/>
              </a:rPr>
              <a:t>课堂训练</a:t>
            </a:r>
          </a:p>
        </p:txBody>
      </p:sp>
    </p:spTree>
    <p:extLst>
      <p:ext uri="{BB962C8B-B14F-4D97-AF65-F5344CB8AC3E}">
        <p14:creationId xmlns:p14="http://schemas.microsoft.com/office/powerpoint/2010/main" val="308013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000" fill="hold"/>
                                        <p:tgtEl>
                                          <p:spTgt spid="14"/>
                                        </p:tgtEl>
                                        <p:attrNameLst>
                                          <p:attrName>ppt_x</p:attrName>
                                        </p:attrNameLst>
                                      </p:cBhvr>
                                      <p:tavLst>
                                        <p:tav tm="0">
                                          <p:val>
                                            <p:strVal val="#ppt_x"/>
                                          </p:val>
                                        </p:tav>
                                        <p:tav tm="100000">
                                          <p:val>
                                            <p:strVal val="#ppt_x"/>
                                          </p:val>
                                        </p:tav>
                                      </p:tavLst>
                                    </p:anim>
                                    <p:anim calcmode="lin" valueType="num">
                                      <p:cBhvr additive="base">
                                        <p:cTn id="12" dur="2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2" presetClass="emph" presetSubtype="0" fill="hold" nodeType="clickEffect">
                                  <p:stCondLst>
                                    <p:cond delay="0"/>
                                  </p:stCondLst>
                                  <p:childTnLst>
                                    <p:animRot by="120000">
                                      <p:cBhvr>
                                        <p:cTn id="29" dur="100" fill="hold">
                                          <p:stCondLst>
                                            <p:cond delay="0"/>
                                          </p:stCondLst>
                                        </p:cTn>
                                        <p:tgtEl>
                                          <p:spTgt spid="10"/>
                                        </p:tgtEl>
                                        <p:attrNameLst>
                                          <p:attrName>r</p:attrName>
                                        </p:attrNameLst>
                                      </p:cBhvr>
                                    </p:animRot>
                                    <p:animRot by="-240000">
                                      <p:cBhvr>
                                        <p:cTn id="30" dur="200" fill="hold">
                                          <p:stCondLst>
                                            <p:cond delay="200"/>
                                          </p:stCondLst>
                                        </p:cTn>
                                        <p:tgtEl>
                                          <p:spTgt spid="10"/>
                                        </p:tgtEl>
                                        <p:attrNameLst>
                                          <p:attrName>r</p:attrName>
                                        </p:attrNameLst>
                                      </p:cBhvr>
                                    </p:animRot>
                                    <p:animRot by="240000">
                                      <p:cBhvr>
                                        <p:cTn id="31" dur="200" fill="hold">
                                          <p:stCondLst>
                                            <p:cond delay="400"/>
                                          </p:stCondLst>
                                        </p:cTn>
                                        <p:tgtEl>
                                          <p:spTgt spid="10"/>
                                        </p:tgtEl>
                                        <p:attrNameLst>
                                          <p:attrName>r</p:attrName>
                                        </p:attrNameLst>
                                      </p:cBhvr>
                                    </p:animRot>
                                    <p:animRot by="-240000">
                                      <p:cBhvr>
                                        <p:cTn id="32" dur="200" fill="hold">
                                          <p:stCondLst>
                                            <p:cond delay="600"/>
                                          </p:stCondLst>
                                        </p:cTn>
                                        <p:tgtEl>
                                          <p:spTgt spid="10"/>
                                        </p:tgtEl>
                                        <p:attrNameLst>
                                          <p:attrName>r</p:attrName>
                                        </p:attrNameLst>
                                      </p:cBhvr>
                                    </p:animRot>
                                    <p:animRot by="120000">
                                      <p:cBhvr>
                                        <p:cTn id="33"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612CF653-87DD-4624-9488-5BC456CBA49E}"/>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2.5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技能训练</a:t>
            </a:r>
          </a:p>
        </p:txBody>
      </p:sp>
      <p:cxnSp>
        <p:nvCxnSpPr>
          <p:cNvPr id="3" name="直接连接符 2">
            <a:extLst>
              <a:ext uri="{FF2B5EF4-FFF2-40B4-BE49-F238E27FC236}">
                <a16:creationId xmlns:a16="http://schemas.microsoft.com/office/drawing/2014/main" id="{9437F2E4-2778-4977-BA6F-3766B9EEF76A}"/>
              </a:ext>
            </a:extLst>
          </p:cNvPr>
          <p:cNvCxnSpPr/>
          <p:nvPr/>
        </p:nvCxnSpPr>
        <p:spPr>
          <a:xfrm>
            <a:off x="520006" y="6028366"/>
            <a:ext cx="10836840" cy="0"/>
          </a:xfrm>
          <a:prstGeom prst="line">
            <a:avLst/>
          </a:prstGeom>
          <a:noFill/>
          <a:ln w="6350" cap="flat" cmpd="sng" algn="ctr">
            <a:solidFill>
              <a:srgbClr val="C00000"/>
            </a:solidFill>
            <a:prstDash val="solid"/>
            <a:miter lim="800000"/>
          </a:ln>
          <a:effectLst/>
        </p:spPr>
      </p:cxnSp>
      <p:grpSp>
        <p:nvGrpSpPr>
          <p:cNvPr id="4" name="组合 3">
            <a:extLst>
              <a:ext uri="{FF2B5EF4-FFF2-40B4-BE49-F238E27FC236}">
                <a16:creationId xmlns:a16="http://schemas.microsoft.com/office/drawing/2014/main" id="{8D6E535D-8163-4784-811A-A71DDA987BB3}"/>
              </a:ext>
            </a:extLst>
          </p:cNvPr>
          <p:cNvGrpSpPr/>
          <p:nvPr/>
        </p:nvGrpSpPr>
        <p:grpSpPr>
          <a:xfrm>
            <a:off x="978595" y="3569062"/>
            <a:ext cx="9816493" cy="1207096"/>
            <a:chOff x="582266" y="998054"/>
            <a:chExt cx="7875852" cy="1207096"/>
          </a:xfrm>
        </p:grpSpPr>
        <p:sp>
          <p:nvSpPr>
            <p:cNvPr id="5" name="圆角矩形 9">
              <a:extLst>
                <a:ext uri="{FF2B5EF4-FFF2-40B4-BE49-F238E27FC236}">
                  <a16:creationId xmlns:a16="http://schemas.microsoft.com/office/drawing/2014/main" id="{8DA5ED71-9DEF-45E6-BE3F-C5FDB28F145D}"/>
                </a:ext>
              </a:extLst>
            </p:cNvPr>
            <p:cNvSpPr/>
            <p:nvPr/>
          </p:nvSpPr>
          <p:spPr>
            <a:xfrm>
              <a:off x="631926" y="1069202"/>
              <a:ext cx="7735685" cy="1082281"/>
            </a:xfrm>
            <a:prstGeom prst="roundRect">
              <a:avLst>
                <a:gd name="adj" fmla="val 4036"/>
              </a:avLst>
            </a:prstGeom>
            <a:solidFill>
              <a:sysClr val="windowText" lastClr="000000">
                <a:lumMod val="50000"/>
                <a:lumOff val="50000"/>
                <a:alpha val="80000"/>
              </a:sysClr>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6" name="Picture 2" descr="F:\TDZ临时\其他备用\！PPT图片及版面资源\06-PPT精选插图\04-图标\右边角-黄1.png">
              <a:extLst>
                <a:ext uri="{FF2B5EF4-FFF2-40B4-BE49-F238E27FC236}">
                  <a16:creationId xmlns:a16="http://schemas.microsoft.com/office/drawing/2014/main" id="{EFC7E1B8-9C0C-4730-B990-88BC6B1C9B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7237266" y="1069202"/>
              <a:ext cx="1180003" cy="11359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9">
              <a:extLst>
                <a:ext uri="{FF2B5EF4-FFF2-40B4-BE49-F238E27FC236}">
                  <a16:creationId xmlns:a16="http://schemas.microsoft.com/office/drawing/2014/main" id="{E6426E09-52C4-4E76-921E-373F36780CD7}"/>
                </a:ext>
              </a:extLst>
            </p:cNvPr>
            <p:cNvSpPr txBox="1"/>
            <p:nvPr/>
          </p:nvSpPr>
          <p:spPr>
            <a:xfrm rot="19177884">
              <a:off x="7450473" y="1587725"/>
              <a:ext cx="1007645"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课堂任务</a:t>
              </a:r>
              <a:r>
                <a:rPr lang="en-US" altLang="zh-CN" sz="1400" b="1" kern="0" dirty="0">
                  <a:solidFill>
                    <a:prstClr val="white"/>
                  </a:solidFill>
                  <a:latin typeface="微软雅黑" pitchFamily="34" charset="-122"/>
                  <a:ea typeface="微软雅黑" pitchFamily="34" charset="-122"/>
                </a:rPr>
                <a:t>4</a:t>
              </a:r>
              <a:r>
                <a:rPr kumimoji="0" lang="en-US" altLang="zh-CN"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-3</a:t>
              </a:r>
              <a:endPar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endParaRPr>
            </a:p>
          </p:txBody>
        </p:sp>
        <p:pic>
          <p:nvPicPr>
            <p:cNvPr id="8" name="Picture 3" descr="D:\Teliss_Tong\Copy\定期备份\工作备份\！PPT图片及版面资源\06-PPT精选插图\04-图标\BE2B91485291AEB7B04B1F1F2B4A2632.png">
              <a:extLst>
                <a:ext uri="{FF2B5EF4-FFF2-40B4-BE49-F238E27FC236}">
                  <a16:creationId xmlns:a16="http://schemas.microsoft.com/office/drawing/2014/main" id="{82C55639-7C86-4D54-A694-6A049692F6E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2266" y="998054"/>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44">
              <a:extLst>
                <a:ext uri="{FF2B5EF4-FFF2-40B4-BE49-F238E27FC236}">
                  <a16:creationId xmlns:a16="http://schemas.microsoft.com/office/drawing/2014/main" id="{760D6CAF-8FAE-486A-97F2-5CAC7A6CD81E}"/>
                </a:ext>
              </a:extLst>
            </p:cNvPr>
            <p:cNvSpPr txBox="1">
              <a:spLocks noChangeArrowheads="1"/>
            </p:cNvSpPr>
            <p:nvPr/>
          </p:nvSpPr>
          <p:spPr bwMode="auto">
            <a:xfrm>
              <a:off x="1180798" y="1028542"/>
              <a:ext cx="6822114" cy="108952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prstClr val="white"/>
                  </a:solidFill>
                </a:rPr>
                <a:t>设计一个</a:t>
              </a:r>
              <a:r>
                <a:rPr lang="en-US" altLang="zh-CN" kern="0" dirty="0">
                  <a:solidFill>
                    <a:prstClr val="white"/>
                  </a:solidFill>
                </a:rPr>
                <a:t>Shell</a:t>
              </a:r>
              <a:r>
                <a:rPr lang="zh-CN" altLang="en-US" kern="0" dirty="0">
                  <a:solidFill>
                    <a:prstClr val="white"/>
                  </a:solidFill>
                </a:rPr>
                <a:t>程序，在</a:t>
              </a:r>
              <a:r>
                <a:rPr lang="en-US" altLang="zh-CN" kern="0" dirty="0">
                  <a:solidFill>
                    <a:prstClr val="white"/>
                  </a:solidFill>
                </a:rPr>
                <a:t>/</a:t>
              </a:r>
              <a:r>
                <a:rPr lang="en-US" altLang="zh-CN" kern="0" dirty="0" err="1">
                  <a:solidFill>
                    <a:prstClr val="white"/>
                  </a:solidFill>
                </a:rPr>
                <a:t>userdata</a:t>
              </a:r>
              <a:r>
                <a:rPr lang="zh-CN" altLang="en-US" kern="0" dirty="0">
                  <a:solidFill>
                    <a:prstClr val="white"/>
                  </a:solidFill>
                </a:rPr>
                <a:t>目录下建立</a:t>
              </a:r>
              <a:r>
                <a:rPr lang="en-US" altLang="zh-CN" kern="0" dirty="0">
                  <a:solidFill>
                    <a:prstClr val="white"/>
                  </a:solidFill>
                </a:rPr>
                <a:t>50</a:t>
              </a:r>
              <a:r>
                <a:rPr lang="zh-CN" altLang="en-US" kern="0" dirty="0">
                  <a:solidFill>
                    <a:prstClr val="white"/>
                  </a:solidFill>
                </a:rPr>
                <a:t>个目录，即</a:t>
              </a:r>
              <a:r>
                <a:rPr lang="en-US" altLang="zh-CN" kern="0" dirty="0">
                  <a:solidFill>
                    <a:prstClr val="white"/>
                  </a:solidFill>
                </a:rPr>
                <a:t>user1</a:t>
              </a:r>
              <a:r>
                <a:rPr lang="zh-CN" altLang="en-US" kern="0" dirty="0">
                  <a:solidFill>
                    <a:prstClr val="white"/>
                  </a:solidFill>
                </a:rPr>
                <a:t>～</a:t>
              </a:r>
              <a:r>
                <a:rPr lang="en-US" altLang="zh-CN" kern="0" dirty="0">
                  <a:solidFill>
                    <a:prstClr val="white"/>
                  </a:solidFill>
                </a:rPr>
                <a:t>user50</a:t>
              </a:r>
              <a:r>
                <a:rPr lang="zh-CN" altLang="en-US" kern="0" dirty="0">
                  <a:solidFill>
                    <a:prstClr val="white"/>
                  </a:solidFill>
                </a:rPr>
                <a:t>，并设置每个目录的权限，其中其他用户的权限为读；文件所有者的权限为读、写、执行；文件所有者所在组的权限为读、执行。</a:t>
              </a:r>
            </a:p>
          </p:txBody>
        </p:sp>
      </p:grpSp>
      <p:grpSp>
        <p:nvGrpSpPr>
          <p:cNvPr id="11" name="组合 10">
            <a:extLst>
              <a:ext uri="{FF2B5EF4-FFF2-40B4-BE49-F238E27FC236}">
                <a16:creationId xmlns:a16="http://schemas.microsoft.com/office/drawing/2014/main" id="{EB81E370-8F5F-4E70-8AC9-345C064EA59E}"/>
              </a:ext>
            </a:extLst>
          </p:cNvPr>
          <p:cNvGrpSpPr/>
          <p:nvPr/>
        </p:nvGrpSpPr>
        <p:grpSpPr>
          <a:xfrm>
            <a:off x="1847958" y="4830673"/>
            <a:ext cx="4312179" cy="1190477"/>
            <a:chOff x="1640468" y="3686823"/>
            <a:chExt cx="4312179" cy="1190477"/>
          </a:xfrm>
        </p:grpSpPr>
        <p:pic>
          <p:nvPicPr>
            <p:cNvPr id="12" name="Picture 6" descr="C:\Documents and Settings\tdz\桌面\新建文件夹\53871F49EAD0609A44C97CF165C41EE9.png">
              <a:extLst>
                <a:ext uri="{FF2B5EF4-FFF2-40B4-BE49-F238E27FC236}">
                  <a16:creationId xmlns:a16="http://schemas.microsoft.com/office/drawing/2014/main" id="{C3D6EA84-A14E-47D9-BD80-0FDBC2BEE0E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4">
              <a:extLst>
                <a:ext uri="{FF2B5EF4-FFF2-40B4-BE49-F238E27FC236}">
                  <a16:creationId xmlns:a16="http://schemas.microsoft.com/office/drawing/2014/main" id="{108B5CF4-AF6F-4344-A9DE-F1A2D00F0CB3}"/>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请同学们自行完成</a:t>
              </a:r>
              <a:endPar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endParaRPr>
            </a:p>
          </p:txBody>
        </p:sp>
      </p:grpSp>
      <p:sp>
        <p:nvSpPr>
          <p:cNvPr id="14" name="矩形 13">
            <a:extLst>
              <a:ext uri="{FF2B5EF4-FFF2-40B4-BE49-F238E27FC236}">
                <a16:creationId xmlns:a16="http://schemas.microsoft.com/office/drawing/2014/main" id="{BDC28E66-1BD2-4FA0-B0DC-21DD47C15C95}"/>
              </a:ext>
            </a:extLst>
          </p:cNvPr>
          <p:cNvSpPr/>
          <p:nvPr/>
        </p:nvSpPr>
        <p:spPr>
          <a:xfrm>
            <a:off x="851652" y="1538090"/>
            <a:ext cx="3017273" cy="338554"/>
          </a:xfrm>
          <a:prstGeom prst="rect">
            <a:avLst/>
          </a:prstGeom>
        </p:spPr>
        <p:txBody>
          <a:bodyPr wrap="square">
            <a:spAutoFit/>
          </a:bodyPr>
          <a:lstStyle/>
          <a:p>
            <a:pPr defTabSz="457200"/>
            <a:r>
              <a:rPr lang="en-US" altLang="zh-CN" sz="1600" b="1" dirty="0">
                <a:solidFill>
                  <a:prstClr val="black"/>
                </a:solidFill>
                <a:effectLst>
                  <a:outerShdw blurRad="38100" dist="38100" dir="2700000" algn="tl">
                    <a:srgbClr val="000000">
                      <a:alpha val="43137"/>
                    </a:srgbClr>
                  </a:outerShdw>
                </a:effectLst>
                <a:ea typeface="等线" panose="02010600030101010101" pitchFamily="2" charset="-122"/>
              </a:rPr>
              <a:t>4.5.1 </a:t>
            </a:r>
            <a:r>
              <a:rPr lang="zh-CN" altLang="en-US" sz="1600" b="1" dirty="0">
                <a:solidFill>
                  <a:prstClr val="black"/>
                </a:solidFill>
                <a:effectLst>
                  <a:outerShdw blurRad="38100" dist="38100" dir="2700000" algn="tl">
                    <a:srgbClr val="000000">
                      <a:alpha val="43137"/>
                    </a:srgbClr>
                  </a:outerShdw>
                </a:effectLst>
                <a:ea typeface="等线" panose="02010600030101010101" pitchFamily="2" charset="-122"/>
              </a:rPr>
              <a:t>课堂训练</a:t>
            </a:r>
          </a:p>
        </p:txBody>
      </p:sp>
      <p:grpSp>
        <p:nvGrpSpPr>
          <p:cNvPr id="15" name="组合 14">
            <a:extLst>
              <a:ext uri="{FF2B5EF4-FFF2-40B4-BE49-F238E27FC236}">
                <a16:creationId xmlns:a16="http://schemas.microsoft.com/office/drawing/2014/main" id="{8D6E535D-8163-4784-811A-A71DDA987BB3}"/>
              </a:ext>
            </a:extLst>
          </p:cNvPr>
          <p:cNvGrpSpPr/>
          <p:nvPr/>
        </p:nvGrpSpPr>
        <p:grpSpPr>
          <a:xfrm>
            <a:off x="1004052" y="2294304"/>
            <a:ext cx="9816493" cy="1207096"/>
            <a:chOff x="582266" y="998054"/>
            <a:chExt cx="7875852" cy="1207096"/>
          </a:xfrm>
        </p:grpSpPr>
        <p:sp>
          <p:nvSpPr>
            <p:cNvPr id="16" name="圆角矩形 9">
              <a:extLst>
                <a:ext uri="{FF2B5EF4-FFF2-40B4-BE49-F238E27FC236}">
                  <a16:creationId xmlns:a16="http://schemas.microsoft.com/office/drawing/2014/main" id="{8DA5ED71-9DEF-45E6-BE3F-C5FDB28F145D}"/>
                </a:ext>
              </a:extLst>
            </p:cNvPr>
            <p:cNvSpPr/>
            <p:nvPr/>
          </p:nvSpPr>
          <p:spPr>
            <a:xfrm>
              <a:off x="631926" y="1069202"/>
              <a:ext cx="7735685" cy="1082281"/>
            </a:xfrm>
            <a:prstGeom prst="roundRect">
              <a:avLst>
                <a:gd name="adj" fmla="val 4036"/>
              </a:avLst>
            </a:prstGeom>
            <a:solidFill>
              <a:sysClr val="windowText" lastClr="000000">
                <a:lumMod val="50000"/>
                <a:lumOff val="50000"/>
                <a:alpha val="80000"/>
              </a:sysClr>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17" name="Picture 2" descr="F:\TDZ临时\其他备用\！PPT图片及版面资源\06-PPT精选插图\04-图标\右边角-黄1.png">
              <a:extLst>
                <a:ext uri="{FF2B5EF4-FFF2-40B4-BE49-F238E27FC236}">
                  <a16:creationId xmlns:a16="http://schemas.microsoft.com/office/drawing/2014/main" id="{EFC7E1B8-9C0C-4730-B990-88BC6B1C9B43}"/>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7237266" y="1069202"/>
              <a:ext cx="1180003" cy="113594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29">
              <a:extLst>
                <a:ext uri="{FF2B5EF4-FFF2-40B4-BE49-F238E27FC236}">
                  <a16:creationId xmlns:a16="http://schemas.microsoft.com/office/drawing/2014/main" id="{E6426E09-52C4-4E76-921E-373F36780CD7}"/>
                </a:ext>
              </a:extLst>
            </p:cNvPr>
            <p:cNvSpPr txBox="1"/>
            <p:nvPr/>
          </p:nvSpPr>
          <p:spPr>
            <a:xfrm rot="19177884">
              <a:off x="7450473" y="1587725"/>
              <a:ext cx="1007645"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课堂任务</a:t>
              </a:r>
              <a:r>
                <a:rPr lang="en-US" altLang="zh-CN" sz="1400" b="1" kern="0" dirty="0">
                  <a:solidFill>
                    <a:prstClr val="white"/>
                  </a:solidFill>
                  <a:latin typeface="微软雅黑" pitchFamily="34" charset="-122"/>
                  <a:ea typeface="微软雅黑" pitchFamily="34" charset="-122"/>
                </a:rPr>
                <a:t>4</a:t>
              </a:r>
              <a:r>
                <a:rPr kumimoji="0" lang="en-US" altLang="zh-CN" sz="14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-2</a:t>
              </a:r>
              <a:endParaRPr kumimoji="0" lang="zh-CN" altLang="en-US" sz="1400" b="1" i="0" u="none" strike="noStrike" kern="0" cap="none" spc="0" normalizeH="0" baseline="0" noProof="0" dirty="0">
                <a:ln>
                  <a:noFill/>
                </a:ln>
                <a:solidFill>
                  <a:prstClr val="white"/>
                </a:solidFill>
                <a:effectLst/>
                <a:uLnTx/>
                <a:uFillTx/>
                <a:latin typeface="微软雅黑" pitchFamily="34" charset="-122"/>
                <a:ea typeface="微软雅黑" pitchFamily="34" charset="-122"/>
              </a:endParaRPr>
            </a:p>
          </p:txBody>
        </p:sp>
        <p:pic>
          <p:nvPicPr>
            <p:cNvPr id="19" name="Picture 3" descr="D:\Teliss_Tong\Copy\定期备份\工作备份\！PPT图片及版面资源\06-PPT精选插图\04-图标\BE2B91485291AEB7B04B1F1F2B4A2632.png">
              <a:extLst>
                <a:ext uri="{FF2B5EF4-FFF2-40B4-BE49-F238E27FC236}">
                  <a16:creationId xmlns:a16="http://schemas.microsoft.com/office/drawing/2014/main" id="{82C55639-7C86-4D54-A694-6A049692F6E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2266" y="998054"/>
              <a:ext cx="533793" cy="460818"/>
            </a:xfrm>
            <a:prstGeom prst="rect">
              <a:avLst/>
            </a:prstGeom>
            <a:noFill/>
            <a:extLst>
              <a:ext uri="{909E8E84-426E-40DD-AFC4-6F175D3DCCD1}">
                <a14:hiddenFill xmlns:a14="http://schemas.microsoft.com/office/drawing/2010/main">
                  <a:solidFill>
                    <a:srgbClr val="FFFFFF"/>
                  </a:solidFill>
                </a14:hiddenFill>
              </a:ext>
            </a:extLst>
          </p:spPr>
        </p:pic>
        <p:sp>
          <p:nvSpPr>
            <p:cNvPr id="20" name="Text Box 44">
              <a:extLst>
                <a:ext uri="{FF2B5EF4-FFF2-40B4-BE49-F238E27FC236}">
                  <a16:creationId xmlns:a16="http://schemas.microsoft.com/office/drawing/2014/main" id="{760D6CAF-8FAE-486A-97F2-5CAC7A6CD81E}"/>
                </a:ext>
              </a:extLst>
            </p:cNvPr>
            <p:cNvSpPr txBox="1">
              <a:spLocks noChangeArrowheads="1"/>
            </p:cNvSpPr>
            <p:nvPr/>
          </p:nvSpPr>
          <p:spPr bwMode="auto">
            <a:xfrm>
              <a:off x="849163" y="1217631"/>
              <a:ext cx="7180059" cy="75713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itchFamily="34" charset="-122"/>
                  <a:ea typeface="微软雅黑" pitchFamily="34" charset="-122"/>
                </a:defRPr>
              </a:lvl1pPr>
              <a:lvl2pPr defTabSz="720725" eaLnBrk="0" hangingPunct="0">
                <a:defRPr sz="1600">
                  <a:latin typeface="Arial" pitchFamily="34" charset="0"/>
                  <a:ea typeface="宋体" pitchFamily="2" charset="-122"/>
                </a:defRPr>
              </a:lvl2pPr>
              <a:lvl3pPr defTabSz="720725" eaLnBrk="0" hangingPunct="0">
                <a:defRPr sz="1600">
                  <a:latin typeface="Arial" pitchFamily="34" charset="0"/>
                  <a:ea typeface="宋体" pitchFamily="2" charset="-122"/>
                </a:defRPr>
              </a:lvl3pPr>
              <a:lvl4pPr defTabSz="720725" eaLnBrk="0" hangingPunct="0">
                <a:defRPr sz="1600">
                  <a:latin typeface="Arial" pitchFamily="34" charset="0"/>
                  <a:ea typeface="宋体" pitchFamily="2" charset="-122"/>
                </a:defRPr>
              </a:lvl4pPr>
              <a:lvl5pPr defTabSz="720725" eaLnBrk="0" hangingPunct="0">
                <a:defRPr sz="1600">
                  <a:latin typeface="Arial" pitchFamily="34" charset="0"/>
                  <a:ea typeface="宋体" pitchFamily="2" charset="-122"/>
                </a:defRPr>
              </a:lvl5pPr>
              <a:lvl6pPr defTabSz="720725" eaLnBrk="0" fontAlgn="base" hangingPunct="0">
                <a:spcBef>
                  <a:spcPct val="0"/>
                </a:spcBef>
                <a:spcAft>
                  <a:spcPct val="0"/>
                </a:spcAft>
                <a:defRPr sz="1600">
                  <a:latin typeface="Arial" pitchFamily="34" charset="0"/>
                  <a:ea typeface="宋体" pitchFamily="2" charset="-122"/>
                </a:defRPr>
              </a:lvl6pPr>
              <a:lvl7pPr defTabSz="720725" eaLnBrk="0" fontAlgn="base" hangingPunct="0">
                <a:spcBef>
                  <a:spcPct val="0"/>
                </a:spcBef>
                <a:spcAft>
                  <a:spcPct val="0"/>
                </a:spcAft>
                <a:defRPr sz="1600">
                  <a:latin typeface="Arial" pitchFamily="34" charset="0"/>
                  <a:ea typeface="宋体" pitchFamily="2" charset="-122"/>
                </a:defRPr>
              </a:lvl7pPr>
              <a:lvl8pPr defTabSz="720725" eaLnBrk="0" fontAlgn="base" hangingPunct="0">
                <a:spcBef>
                  <a:spcPct val="0"/>
                </a:spcBef>
                <a:spcAft>
                  <a:spcPct val="0"/>
                </a:spcAft>
                <a:defRPr sz="1600">
                  <a:latin typeface="Arial" pitchFamily="34" charset="0"/>
                  <a:ea typeface="宋体" pitchFamily="2" charset="-122"/>
                </a:defRPr>
              </a:lvl8pPr>
              <a:lvl9pPr defTabSz="720725" eaLnBrk="0" fontAlgn="base" hangingPunct="0">
                <a:spcBef>
                  <a:spcPct val="0"/>
                </a:spcBef>
                <a:spcAft>
                  <a:spcPct val="0"/>
                </a:spcAft>
                <a:defRPr sz="1600">
                  <a:latin typeface="Arial" pitchFamily="34" charset="0"/>
                  <a:ea typeface="宋体" pitchFamily="2" charset="-122"/>
                </a:defRPr>
              </a:lvl9pPr>
            </a:lstStyle>
            <a:p>
              <a:pPr lvl="0"/>
              <a:r>
                <a:rPr lang="zh-CN" altLang="en-US" kern="0" dirty="0">
                  <a:solidFill>
                    <a:prstClr val="white"/>
                  </a:solidFill>
                </a:rPr>
                <a:t>       使用</a:t>
              </a:r>
              <a:r>
                <a:rPr lang="en-US" altLang="zh-CN" kern="0" dirty="0">
                  <a:solidFill>
                    <a:prstClr val="white"/>
                  </a:solidFill>
                </a:rPr>
                <a:t>vi</a:t>
              </a:r>
              <a:r>
                <a:rPr lang="zh-CN" altLang="en-US" kern="0" dirty="0">
                  <a:solidFill>
                    <a:prstClr val="white"/>
                  </a:solidFill>
                </a:rPr>
                <a:t>文本编辑器编辑一个</a:t>
              </a:r>
              <a:r>
                <a:rPr lang="en-US" altLang="zh-CN" kern="0" dirty="0">
                  <a:solidFill>
                    <a:prstClr val="white"/>
                  </a:solidFill>
                </a:rPr>
                <a:t>Shell</a:t>
              </a:r>
              <a:r>
                <a:rPr lang="zh-CN" altLang="en-US" kern="0" dirty="0">
                  <a:solidFill>
                    <a:prstClr val="white"/>
                  </a:solidFill>
                </a:rPr>
                <a:t>脚本，将</a:t>
              </a:r>
              <a:r>
                <a:rPr lang="en-US" altLang="zh-CN" kern="0" dirty="0">
                  <a:solidFill>
                    <a:prstClr val="white"/>
                  </a:solidFill>
                </a:rPr>
                <a:t>/</a:t>
              </a:r>
              <a:r>
                <a:rPr lang="en-US" altLang="zh-CN" kern="0" dirty="0" err="1">
                  <a:solidFill>
                    <a:prstClr val="white"/>
                  </a:solidFill>
                </a:rPr>
                <a:t>usr</a:t>
              </a:r>
              <a:r>
                <a:rPr lang="en-US" altLang="zh-CN" kern="0" dirty="0">
                  <a:solidFill>
                    <a:prstClr val="white"/>
                  </a:solidFill>
                </a:rPr>
                <a:t>/</a:t>
              </a:r>
              <a:r>
                <a:rPr lang="en-US" altLang="zh-CN" kern="0" dirty="0" err="1">
                  <a:solidFill>
                    <a:prstClr val="white"/>
                  </a:solidFill>
                </a:rPr>
                <a:t>abc</a:t>
              </a:r>
              <a:r>
                <a:rPr lang="zh-CN" altLang="en-US" kern="0" dirty="0">
                  <a:solidFill>
                    <a:prstClr val="white"/>
                  </a:solidFill>
                </a:rPr>
                <a:t>目录中大写文件名改为小写文件名。</a:t>
              </a:r>
            </a:p>
            <a:p>
              <a:pPr lvl="0"/>
              <a:r>
                <a:rPr lang="zh-CN" altLang="en-US" kern="0" dirty="0">
                  <a:solidFill>
                    <a:prstClr val="white"/>
                  </a:solidFill>
                </a:rPr>
                <a:t>具体要求请同学们参见教材。</a:t>
              </a:r>
            </a:p>
          </p:txBody>
        </p:sp>
      </p:grpSp>
    </p:spTree>
    <p:extLst>
      <p:ext uri="{BB962C8B-B14F-4D97-AF65-F5344CB8AC3E}">
        <p14:creationId xmlns:p14="http://schemas.microsoft.com/office/powerpoint/2010/main" val="410736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000" fill="hold"/>
                                        <p:tgtEl>
                                          <p:spTgt spid="14"/>
                                        </p:tgtEl>
                                        <p:attrNameLst>
                                          <p:attrName>ppt_x</p:attrName>
                                        </p:attrNameLst>
                                      </p:cBhvr>
                                      <p:tavLst>
                                        <p:tav tm="0">
                                          <p:val>
                                            <p:strVal val="#ppt_x"/>
                                          </p:val>
                                        </p:tav>
                                        <p:tav tm="100000">
                                          <p:val>
                                            <p:strVal val="#ppt_x"/>
                                          </p:val>
                                        </p:tav>
                                      </p:tavLst>
                                    </p:anim>
                                    <p:anim calcmode="lin" valueType="num">
                                      <p:cBhvr additive="base">
                                        <p:cTn id="12" dur="2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612CF653-87DD-4624-9488-5BC456CBA49E}"/>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4.5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技能训练</a:t>
            </a:r>
          </a:p>
        </p:txBody>
      </p:sp>
      <p:cxnSp>
        <p:nvCxnSpPr>
          <p:cNvPr id="3" name="直接连接符 2">
            <a:extLst>
              <a:ext uri="{FF2B5EF4-FFF2-40B4-BE49-F238E27FC236}">
                <a16:creationId xmlns:a16="http://schemas.microsoft.com/office/drawing/2014/main" id="{9437F2E4-2778-4977-BA6F-3766B9EEF76A}"/>
              </a:ext>
            </a:extLst>
          </p:cNvPr>
          <p:cNvCxnSpPr/>
          <p:nvPr/>
        </p:nvCxnSpPr>
        <p:spPr>
          <a:xfrm flipV="1">
            <a:off x="520006" y="6021150"/>
            <a:ext cx="10976594" cy="7216"/>
          </a:xfrm>
          <a:prstGeom prst="line">
            <a:avLst/>
          </a:prstGeom>
          <a:noFill/>
          <a:ln w="6350" cap="flat" cmpd="sng" algn="ctr">
            <a:solidFill>
              <a:srgbClr val="C00000"/>
            </a:solidFill>
            <a:prstDash val="solid"/>
            <a:miter lim="800000"/>
          </a:ln>
          <a:effectLst/>
        </p:spPr>
      </p:cxnSp>
      <p:grpSp>
        <p:nvGrpSpPr>
          <p:cNvPr id="11" name="组合 10">
            <a:extLst>
              <a:ext uri="{FF2B5EF4-FFF2-40B4-BE49-F238E27FC236}">
                <a16:creationId xmlns:a16="http://schemas.microsoft.com/office/drawing/2014/main" id="{EB81E370-8F5F-4E70-8AC9-345C064EA59E}"/>
              </a:ext>
            </a:extLst>
          </p:cNvPr>
          <p:cNvGrpSpPr/>
          <p:nvPr/>
        </p:nvGrpSpPr>
        <p:grpSpPr>
          <a:xfrm>
            <a:off x="1847958" y="4830673"/>
            <a:ext cx="4312179" cy="1190477"/>
            <a:chOff x="1640468" y="3686823"/>
            <a:chExt cx="4312179" cy="1190477"/>
          </a:xfrm>
        </p:grpSpPr>
        <p:pic>
          <p:nvPicPr>
            <p:cNvPr id="12" name="Picture 6" descr="C:\Documents and Settings\tdz\桌面\新建文件夹\53871F49EAD0609A44C97CF165C41EE9.png">
              <a:extLst>
                <a:ext uri="{FF2B5EF4-FFF2-40B4-BE49-F238E27FC236}">
                  <a16:creationId xmlns:a16="http://schemas.microsoft.com/office/drawing/2014/main" id="{C3D6EA84-A14E-47D9-BD80-0FDBC2BEE0E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640468" y="3686823"/>
              <a:ext cx="1190477" cy="119047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4">
              <a:extLst>
                <a:ext uri="{FF2B5EF4-FFF2-40B4-BE49-F238E27FC236}">
                  <a16:creationId xmlns:a16="http://schemas.microsoft.com/office/drawing/2014/main" id="{108B5CF4-AF6F-4344-A9DE-F1A2D00F0CB3}"/>
                </a:ext>
              </a:extLst>
            </p:cNvPr>
            <p:cNvSpPr>
              <a:spLocks noChangeArrowheads="1"/>
            </p:cNvSpPr>
            <p:nvPr/>
          </p:nvSpPr>
          <p:spPr bwMode="auto">
            <a:xfrm>
              <a:off x="2830945" y="3854372"/>
              <a:ext cx="3121702" cy="499624"/>
            </a:xfrm>
            <a:prstGeom prst="rect">
              <a:avLst/>
            </a:prstGeom>
            <a:noFill/>
            <a:ln w="9525">
              <a:noFill/>
              <a:miter lim="800000"/>
              <a:headEnd/>
              <a:tailEnd/>
            </a:ln>
            <a:effectLst/>
          </p:spPr>
          <p:txBody>
            <a:bodyPr wrap="square">
              <a:spAutoFit/>
            </a:bodyPr>
            <a:lstStyle/>
            <a:p>
              <a:pPr defTabSz="457200">
                <a:lnSpc>
                  <a:spcPct val="150000"/>
                </a:lnSpc>
              </a:pPr>
              <a:r>
                <a:rPr lang="zh-CN" altLang="en-US" sz="2000" b="1" dirty="0">
                  <a:solidFill>
                    <a:srgbClr val="00B0F0"/>
                  </a:solidFill>
                  <a:effectLst>
                    <a:reflection blurRad="6350" stA="60000" endA="900" endPos="60000" dist="60007" dir="5400000" sy="-100000" algn="bl" rotWithShape="0"/>
                  </a:effectLst>
                  <a:latin typeface="微软雅黑" pitchFamily="34" charset="-122"/>
                  <a:ea typeface="微软雅黑" pitchFamily="34" charset="-122"/>
                </a:rPr>
                <a:t>请同学们自行完成</a:t>
              </a:r>
              <a:endParaRPr lang="zh-CN" altLang="en-US" sz="2000" b="1" dirty="0">
                <a:solidFill>
                  <a:srgbClr val="C00000"/>
                </a:solidFill>
                <a:effectLst>
                  <a:outerShdw blurRad="38100" dist="38100" dir="2700000" algn="tl">
                    <a:srgbClr val="000000">
                      <a:alpha val="43137"/>
                    </a:srgbClr>
                  </a:outerShdw>
                  <a:reflection blurRad="6350" stA="60000" endA="900" endPos="60000" dist="60007" dir="5400000" sy="-100000" algn="bl" rotWithShape="0"/>
                </a:effectLst>
                <a:latin typeface="微软雅黑" pitchFamily="34" charset="-122"/>
                <a:ea typeface="微软雅黑" pitchFamily="34" charset="-122"/>
              </a:endParaRPr>
            </a:p>
          </p:txBody>
        </p:sp>
      </p:grpSp>
      <p:sp>
        <p:nvSpPr>
          <p:cNvPr id="14" name="矩形 13">
            <a:extLst>
              <a:ext uri="{FF2B5EF4-FFF2-40B4-BE49-F238E27FC236}">
                <a16:creationId xmlns:a16="http://schemas.microsoft.com/office/drawing/2014/main" id="{BDC28E66-1BD2-4FA0-B0DC-21DD47C15C95}"/>
              </a:ext>
            </a:extLst>
          </p:cNvPr>
          <p:cNvSpPr/>
          <p:nvPr/>
        </p:nvSpPr>
        <p:spPr>
          <a:xfrm>
            <a:off x="851652" y="1538090"/>
            <a:ext cx="3017273" cy="338554"/>
          </a:xfrm>
          <a:prstGeom prst="rect">
            <a:avLst/>
          </a:prstGeom>
        </p:spPr>
        <p:txBody>
          <a:bodyPr wrap="square">
            <a:spAutoFit/>
          </a:bodyPr>
          <a:lstStyle/>
          <a:p>
            <a:pPr defTabSz="457200"/>
            <a:r>
              <a:rPr lang="en-US" altLang="zh-CN" sz="1600" b="1" dirty="0">
                <a:solidFill>
                  <a:prstClr val="black"/>
                </a:solidFill>
                <a:effectLst>
                  <a:outerShdw blurRad="38100" dist="38100" dir="2700000" algn="tl">
                    <a:srgbClr val="000000">
                      <a:alpha val="43137"/>
                    </a:srgbClr>
                  </a:outerShdw>
                </a:effectLst>
                <a:ea typeface="等线" panose="02010600030101010101" pitchFamily="2" charset="-122"/>
              </a:rPr>
              <a:t>4.5.2 </a:t>
            </a:r>
            <a:r>
              <a:rPr lang="zh-CN" altLang="en-US" sz="1600" b="1" dirty="0">
                <a:solidFill>
                  <a:prstClr val="black"/>
                </a:solidFill>
                <a:effectLst>
                  <a:outerShdw blurRad="38100" dist="38100" dir="2700000" algn="tl">
                    <a:srgbClr val="000000">
                      <a:alpha val="43137"/>
                    </a:srgbClr>
                  </a:outerShdw>
                </a:effectLst>
                <a:ea typeface="等线" panose="02010600030101010101" pitchFamily="2" charset="-122"/>
              </a:rPr>
              <a:t>课后训练</a:t>
            </a:r>
          </a:p>
        </p:txBody>
      </p:sp>
      <p:sp>
        <p:nvSpPr>
          <p:cNvPr id="10" name="矩形 9"/>
          <p:cNvSpPr/>
          <p:nvPr/>
        </p:nvSpPr>
        <p:spPr>
          <a:xfrm>
            <a:off x="1127448" y="1876011"/>
            <a:ext cx="10081120" cy="3041858"/>
          </a:xfrm>
          <a:prstGeom prst="rect">
            <a:avLst/>
          </a:prstGeom>
          <a:ln>
            <a:solidFill>
              <a:schemeClr val="tx1"/>
            </a:solidFill>
            <a:prstDash val="dash"/>
          </a:ln>
        </p:spPr>
        <p:txBody>
          <a:bodyPr wrap="square">
            <a:spAutoFit/>
          </a:bodyPr>
          <a:lstStyle/>
          <a:p>
            <a:pPr indent="288000">
              <a:lnSpc>
                <a:spcPts val="2300"/>
              </a:lnSpc>
            </a:pPr>
            <a:r>
              <a:rPr lang="en-US" altLang="zh-CN" sz="1400" b="1" dirty="0">
                <a:solidFill>
                  <a:srgbClr val="C00000"/>
                </a:solidFill>
                <a:latin typeface="微软雅黑" panose="020B0503020204020204" pitchFamily="34" charset="-122"/>
                <a:ea typeface="微软雅黑" panose="020B0503020204020204" pitchFamily="34" charset="-122"/>
              </a:rPr>
              <a:t>|</a:t>
            </a:r>
            <a:r>
              <a:rPr lang="zh-CN" altLang="zh-CN" sz="1400" b="1" dirty="0">
                <a:solidFill>
                  <a:srgbClr val="C00000"/>
                </a:solidFill>
                <a:latin typeface="微软雅黑" panose="020B0503020204020204" pitchFamily="34" charset="-122"/>
                <a:ea typeface="微软雅黑" panose="020B0503020204020204" pitchFamily="34" charset="-122"/>
              </a:rPr>
              <a:t>课后训练</a:t>
            </a:r>
            <a:r>
              <a:rPr lang="en-US" altLang="zh-CN" sz="1400" b="1" dirty="0">
                <a:solidFill>
                  <a:srgbClr val="C00000"/>
                </a:solidFill>
                <a:latin typeface="微软雅黑" panose="020B0503020204020204" pitchFamily="34" charset="-122"/>
                <a:ea typeface="微软雅黑" panose="020B0503020204020204" pitchFamily="34" charset="-122"/>
              </a:rPr>
              <a:t>4-1|</a:t>
            </a:r>
            <a:r>
              <a:rPr lang="zh-CN" altLang="zh-CN" sz="1400" dirty="0">
                <a:latin typeface="微软雅黑" panose="020B0503020204020204" pitchFamily="34" charset="-122"/>
                <a:ea typeface="微软雅黑" panose="020B0503020204020204" pitchFamily="34" charset="-122"/>
              </a:rPr>
              <a:t>编写一个</a:t>
            </a:r>
            <a:r>
              <a:rPr lang="en-US" altLang="zh-CN" sz="1400" dirty="0">
                <a:latin typeface="微软雅黑" panose="020B0503020204020204" pitchFamily="34" charset="-122"/>
                <a:ea typeface="微软雅黑" panose="020B0503020204020204" pitchFamily="34" charset="-122"/>
              </a:rPr>
              <a:t>Shell</a:t>
            </a:r>
            <a:r>
              <a:rPr lang="zh-CN" altLang="zh-CN" sz="1400" dirty="0">
                <a:latin typeface="微软雅黑" panose="020B0503020204020204" pitchFamily="34" charset="-122"/>
                <a:ea typeface="微软雅黑" panose="020B0503020204020204" pitchFamily="34" charset="-122"/>
              </a:rPr>
              <a:t>程序</a:t>
            </a:r>
            <a:r>
              <a:rPr lang="en-US" altLang="zh-CN" sz="1400" dirty="0">
                <a:latin typeface="微软雅黑" panose="020B0503020204020204" pitchFamily="34" charset="-122"/>
                <a:ea typeface="微软雅黑" panose="020B0503020204020204" pitchFamily="34" charset="-122"/>
              </a:rPr>
              <a:t>exam1.sh</a:t>
            </a:r>
            <a:r>
              <a:rPr lang="zh-CN" altLang="zh-CN" sz="1400" dirty="0">
                <a:latin typeface="微软雅黑" panose="020B0503020204020204" pitchFamily="34" charset="-122"/>
                <a:ea typeface="微软雅黑" panose="020B0503020204020204" pitchFamily="34" charset="-122"/>
              </a:rPr>
              <a:t>，程序执行时从键盘读入一个目录名，然后显示这个目录下所有文件的信息。</a:t>
            </a:r>
          </a:p>
          <a:p>
            <a:pPr indent="288000">
              <a:lnSpc>
                <a:spcPts val="2300"/>
              </a:lnSpc>
            </a:pPr>
            <a:r>
              <a:rPr lang="en-US" altLang="zh-CN" sz="1400" b="1" dirty="0">
                <a:solidFill>
                  <a:srgbClr val="C00000"/>
                </a:solidFill>
                <a:latin typeface="微软雅黑" panose="020B0503020204020204" pitchFamily="34" charset="-122"/>
                <a:ea typeface="微软雅黑" panose="020B0503020204020204" pitchFamily="34" charset="-122"/>
              </a:rPr>
              <a:t>|</a:t>
            </a:r>
            <a:r>
              <a:rPr lang="zh-CN" altLang="zh-CN" sz="1400" b="1" dirty="0">
                <a:solidFill>
                  <a:srgbClr val="C00000"/>
                </a:solidFill>
                <a:latin typeface="微软雅黑" panose="020B0503020204020204" pitchFamily="34" charset="-122"/>
                <a:ea typeface="微软雅黑" panose="020B0503020204020204" pitchFamily="34" charset="-122"/>
              </a:rPr>
              <a:t>课后训练</a:t>
            </a:r>
            <a:r>
              <a:rPr lang="en-US" altLang="zh-CN" sz="1400" b="1" dirty="0">
                <a:solidFill>
                  <a:srgbClr val="C00000"/>
                </a:solidFill>
                <a:latin typeface="微软雅黑" panose="020B0503020204020204" pitchFamily="34" charset="-122"/>
                <a:ea typeface="微软雅黑" panose="020B0503020204020204" pitchFamily="34" charset="-122"/>
              </a:rPr>
              <a:t>4-2|</a:t>
            </a:r>
            <a:r>
              <a:rPr lang="zh-CN" altLang="zh-CN" sz="1400" dirty="0">
                <a:latin typeface="微软雅黑" panose="020B0503020204020204" pitchFamily="34" charset="-122"/>
                <a:ea typeface="微软雅黑" panose="020B0503020204020204" pitchFamily="34" charset="-122"/>
              </a:rPr>
              <a:t>编写一个</a:t>
            </a:r>
            <a:r>
              <a:rPr lang="en-US" altLang="zh-CN" sz="1400" dirty="0">
                <a:latin typeface="微软雅黑" panose="020B0503020204020204" pitchFamily="34" charset="-122"/>
                <a:ea typeface="微软雅黑" panose="020B0503020204020204" pitchFamily="34" charset="-122"/>
              </a:rPr>
              <a:t>Shell</a:t>
            </a:r>
            <a:r>
              <a:rPr lang="zh-CN" altLang="zh-CN" sz="1400" dirty="0">
                <a:latin typeface="微软雅黑" panose="020B0503020204020204" pitchFamily="34" charset="-122"/>
                <a:ea typeface="微软雅黑" panose="020B0503020204020204" pitchFamily="34" charset="-122"/>
              </a:rPr>
              <a:t>程序</a:t>
            </a:r>
            <a:r>
              <a:rPr lang="en-US" altLang="zh-CN" sz="1400" dirty="0">
                <a:latin typeface="微软雅黑" panose="020B0503020204020204" pitchFamily="34" charset="-122"/>
                <a:ea typeface="微软雅黑" panose="020B0503020204020204" pitchFamily="34" charset="-122"/>
              </a:rPr>
              <a:t>exam1.sh</a:t>
            </a:r>
            <a:r>
              <a:rPr lang="zh-CN" altLang="zh-CN" sz="1400" dirty="0">
                <a:latin typeface="微软雅黑" panose="020B0503020204020204" pitchFamily="34" charset="-122"/>
                <a:ea typeface="微软雅黑" panose="020B0503020204020204" pitchFamily="34" charset="-122"/>
              </a:rPr>
              <a:t>，判断</a:t>
            </a:r>
            <a:r>
              <a:rPr lang="en-US" altLang="zh-CN" sz="1400" dirty="0" err="1">
                <a:latin typeface="微软雅黑" panose="020B0503020204020204" pitchFamily="34" charset="-122"/>
                <a:ea typeface="微软雅黑" panose="020B0503020204020204" pitchFamily="34" charset="-122"/>
              </a:rPr>
              <a:t>zb</a:t>
            </a:r>
            <a:r>
              <a:rPr lang="zh-CN" altLang="zh-CN" sz="1400" dirty="0">
                <a:latin typeface="微软雅黑" panose="020B0503020204020204" pitchFamily="34" charset="-122"/>
                <a:ea typeface="微软雅黑" panose="020B0503020204020204" pitchFamily="34" charset="-122"/>
              </a:rPr>
              <a:t>目录是否存在于</a:t>
            </a:r>
            <a:r>
              <a:rPr lang="en-US" altLang="zh-CN" sz="1400" dirty="0">
                <a:latin typeface="微软雅黑" panose="020B0503020204020204" pitchFamily="34" charset="-122"/>
                <a:ea typeface="微软雅黑" panose="020B0503020204020204" pitchFamily="34" charset="-122"/>
              </a:rPr>
              <a:t>/root</a:t>
            </a:r>
            <a:r>
              <a:rPr lang="zh-CN" altLang="zh-CN" sz="1400" dirty="0">
                <a:latin typeface="微软雅黑" panose="020B0503020204020204" pitchFamily="34" charset="-122"/>
                <a:ea typeface="微软雅黑" panose="020B0503020204020204" pitchFamily="34" charset="-122"/>
              </a:rPr>
              <a:t>下。</a:t>
            </a:r>
          </a:p>
          <a:p>
            <a:pPr indent="288000">
              <a:lnSpc>
                <a:spcPts val="2300"/>
              </a:lnSpc>
            </a:pPr>
            <a:r>
              <a:rPr lang="en-US" altLang="zh-CN" sz="1400" b="1" dirty="0">
                <a:solidFill>
                  <a:srgbClr val="C00000"/>
                </a:solidFill>
                <a:latin typeface="微软雅黑" panose="020B0503020204020204" pitchFamily="34" charset="-122"/>
                <a:ea typeface="微软雅黑" panose="020B0503020204020204" pitchFamily="34" charset="-122"/>
              </a:rPr>
              <a:t>|</a:t>
            </a:r>
            <a:r>
              <a:rPr lang="zh-CN" altLang="zh-CN" sz="1400" b="1" dirty="0">
                <a:solidFill>
                  <a:srgbClr val="C00000"/>
                </a:solidFill>
                <a:latin typeface="微软雅黑" panose="020B0503020204020204" pitchFamily="34" charset="-122"/>
                <a:ea typeface="微软雅黑" panose="020B0503020204020204" pitchFamily="34" charset="-122"/>
              </a:rPr>
              <a:t>课后训练</a:t>
            </a:r>
            <a:r>
              <a:rPr lang="en-US" altLang="zh-CN" sz="1400" b="1" dirty="0">
                <a:solidFill>
                  <a:srgbClr val="C00000"/>
                </a:solidFill>
                <a:latin typeface="微软雅黑" panose="020B0503020204020204" pitchFamily="34" charset="-122"/>
                <a:ea typeface="微软雅黑" panose="020B0503020204020204" pitchFamily="34" charset="-122"/>
              </a:rPr>
              <a:t>4-3|</a:t>
            </a:r>
            <a:r>
              <a:rPr lang="zh-CN" altLang="zh-CN" sz="1400" dirty="0">
                <a:latin typeface="微软雅黑" panose="020B0503020204020204" pitchFamily="34" charset="-122"/>
                <a:ea typeface="微软雅黑" panose="020B0503020204020204" pitchFamily="34" charset="-122"/>
              </a:rPr>
              <a:t>编写一个菜单界面，显示如下：</a:t>
            </a:r>
          </a:p>
          <a:p>
            <a:pPr indent="612000">
              <a:lnSpc>
                <a:spcPts val="2300"/>
              </a:lnSpc>
            </a:pPr>
            <a:r>
              <a:rPr lang="en-US" altLang="zh-CN"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rPr>
              <a:t>：显示当前目录下所有文件</a:t>
            </a:r>
          </a:p>
          <a:p>
            <a:pPr indent="612000">
              <a:lnSpc>
                <a:spcPts val="2300"/>
              </a:lnSpc>
            </a:pPr>
            <a:r>
              <a:rPr lang="en-US" altLang="zh-CN" sz="1400" dirty="0">
                <a:latin typeface="微软雅黑" panose="020B0503020204020204" pitchFamily="34" charset="-122"/>
                <a:ea typeface="微软雅黑" panose="020B0503020204020204" pitchFamily="34" charset="-122"/>
              </a:rPr>
              <a:t>2</a:t>
            </a:r>
            <a:r>
              <a:rPr lang="zh-CN" altLang="zh-CN" sz="1400" dirty="0">
                <a:latin typeface="微软雅黑" panose="020B0503020204020204" pitchFamily="34" charset="-122"/>
                <a:ea typeface="微软雅黑" panose="020B0503020204020204" pitchFamily="34" charset="-122"/>
              </a:rPr>
              <a:t>：显示当前目录下所有文件大小</a:t>
            </a:r>
          </a:p>
          <a:p>
            <a:pPr indent="612000">
              <a:lnSpc>
                <a:spcPts val="2300"/>
              </a:lnSpc>
            </a:pPr>
            <a:r>
              <a:rPr lang="en-US" altLang="zh-CN" sz="1400" dirty="0">
                <a:latin typeface="微软雅黑" panose="020B0503020204020204" pitchFamily="34" charset="-122"/>
                <a:ea typeface="微软雅黑" panose="020B0503020204020204" pitchFamily="34" charset="-122"/>
              </a:rPr>
              <a:t>3</a:t>
            </a:r>
            <a:r>
              <a:rPr lang="zh-CN" altLang="zh-CN" sz="1400" dirty="0">
                <a:latin typeface="微软雅黑" panose="020B0503020204020204" pitchFamily="34" charset="-122"/>
                <a:ea typeface="微软雅黑" panose="020B0503020204020204" pitchFamily="34" charset="-122"/>
              </a:rPr>
              <a:t>：使用</a:t>
            </a:r>
            <a:r>
              <a:rPr lang="en-US" altLang="zh-CN" sz="1400" dirty="0">
                <a:latin typeface="微软雅黑" panose="020B0503020204020204" pitchFamily="34" charset="-122"/>
                <a:ea typeface="微软雅黑" panose="020B0503020204020204" pitchFamily="34" charset="-122"/>
              </a:rPr>
              <a:t>vi</a:t>
            </a:r>
            <a:r>
              <a:rPr lang="zh-CN" altLang="zh-CN" sz="1400" dirty="0">
                <a:latin typeface="微软雅黑" panose="020B0503020204020204" pitchFamily="34" charset="-122"/>
                <a:ea typeface="微软雅黑" panose="020B0503020204020204" pitchFamily="34" charset="-122"/>
              </a:rPr>
              <a:t>编辑器</a:t>
            </a:r>
          </a:p>
          <a:p>
            <a:pPr indent="612000">
              <a:lnSpc>
                <a:spcPts val="2300"/>
              </a:lnSpc>
            </a:pPr>
            <a:r>
              <a:rPr lang="en-US" altLang="zh-CN" sz="1400" dirty="0">
                <a:latin typeface="微软雅黑" panose="020B0503020204020204" pitchFamily="34" charset="-122"/>
                <a:ea typeface="微软雅黑" panose="020B0503020204020204" pitchFamily="34" charset="-122"/>
              </a:rPr>
              <a:t>4</a:t>
            </a:r>
            <a:r>
              <a:rPr lang="zh-CN" altLang="zh-CN" sz="1400" dirty="0">
                <a:latin typeface="微软雅黑" panose="020B0503020204020204" pitchFamily="34" charset="-122"/>
                <a:ea typeface="微软雅黑" panose="020B0503020204020204" pitchFamily="34" charset="-122"/>
              </a:rPr>
              <a:t>：查看当前系统中登录的用户</a:t>
            </a:r>
          </a:p>
          <a:p>
            <a:pPr indent="612000">
              <a:lnSpc>
                <a:spcPts val="2300"/>
              </a:lnSpc>
            </a:pPr>
            <a:r>
              <a:rPr lang="en-US" altLang="zh-CN" sz="1400" dirty="0">
                <a:latin typeface="微软雅黑" panose="020B0503020204020204" pitchFamily="34" charset="-122"/>
                <a:ea typeface="微软雅黑" panose="020B0503020204020204" pitchFamily="34" charset="-122"/>
              </a:rPr>
              <a:t>q</a:t>
            </a:r>
            <a:r>
              <a:rPr lang="zh-CN" altLang="zh-CN" sz="1400" dirty="0">
                <a:latin typeface="微软雅黑" panose="020B0503020204020204" pitchFamily="34" charset="-122"/>
                <a:ea typeface="微软雅黑" panose="020B0503020204020204" pitchFamily="34" charset="-122"/>
              </a:rPr>
              <a:t>：退出菜单</a:t>
            </a:r>
          </a:p>
          <a:p>
            <a:pPr indent="288000">
              <a:lnSpc>
                <a:spcPts val="2300"/>
              </a:lnSpc>
            </a:pPr>
            <a:r>
              <a:rPr lang="en-US" altLang="zh-CN" sz="1400" b="1" dirty="0">
                <a:solidFill>
                  <a:srgbClr val="C00000"/>
                </a:solidFill>
                <a:latin typeface="微软雅黑" panose="020B0503020204020204" pitchFamily="34" charset="-122"/>
                <a:ea typeface="微软雅黑" panose="020B0503020204020204" pitchFamily="34" charset="-122"/>
              </a:rPr>
              <a:t>|</a:t>
            </a:r>
            <a:r>
              <a:rPr lang="zh-CN" altLang="zh-CN" sz="1400" b="1" dirty="0">
                <a:solidFill>
                  <a:srgbClr val="C00000"/>
                </a:solidFill>
                <a:latin typeface="微软雅黑" panose="020B0503020204020204" pitchFamily="34" charset="-122"/>
                <a:ea typeface="微软雅黑" panose="020B0503020204020204" pitchFamily="34" charset="-122"/>
              </a:rPr>
              <a:t>课后训练</a:t>
            </a:r>
            <a:r>
              <a:rPr lang="en-US" altLang="zh-CN" sz="1400" b="1" dirty="0">
                <a:solidFill>
                  <a:srgbClr val="C00000"/>
                </a:solidFill>
                <a:latin typeface="微软雅黑" panose="020B0503020204020204" pitchFamily="34" charset="-122"/>
                <a:ea typeface="微软雅黑" panose="020B0503020204020204" pitchFamily="34" charset="-122"/>
              </a:rPr>
              <a:t>4-4|</a:t>
            </a:r>
            <a:r>
              <a:rPr lang="zh-CN" altLang="zh-CN" sz="1400" dirty="0">
                <a:latin typeface="微软雅黑" panose="020B0503020204020204" pitchFamily="34" charset="-122"/>
                <a:ea typeface="微软雅黑" panose="020B0503020204020204" pitchFamily="34" charset="-122"/>
              </a:rPr>
              <a:t>编写一个</a:t>
            </a:r>
            <a:r>
              <a:rPr lang="en-US" altLang="zh-CN" sz="1400" dirty="0">
                <a:latin typeface="微软雅黑" panose="020B0503020204020204" pitchFamily="34" charset="-122"/>
                <a:ea typeface="微软雅黑" panose="020B0503020204020204" pitchFamily="34" charset="-122"/>
              </a:rPr>
              <a:t>Shell</a:t>
            </a:r>
            <a:r>
              <a:rPr lang="zh-CN" altLang="zh-CN" sz="1400" dirty="0">
                <a:latin typeface="微软雅黑" panose="020B0503020204020204" pitchFamily="34" charset="-122"/>
                <a:ea typeface="微软雅黑" panose="020B0503020204020204" pitchFamily="34" charset="-122"/>
              </a:rPr>
              <a:t>程序，呈现一个菜单，有</a:t>
            </a:r>
            <a:r>
              <a:rPr lang="en-US" altLang="zh-CN" sz="1400" dirty="0">
                <a:latin typeface="微软雅黑" panose="020B0503020204020204" pitchFamily="34" charset="-122"/>
                <a:ea typeface="微软雅黑" panose="020B0503020204020204" pitchFamily="34" charset="-122"/>
              </a:rPr>
              <a:t>0</a:t>
            </a:r>
            <a:r>
              <a:rPr lang="zh-CN" altLang="zh-CN"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5</a:t>
            </a:r>
            <a:r>
              <a:rPr lang="zh-CN" altLang="zh-CN" sz="1400" dirty="0">
                <a:latin typeface="微软雅黑" panose="020B0503020204020204" pitchFamily="34" charset="-122"/>
                <a:ea typeface="微软雅黑" panose="020B0503020204020204" pitchFamily="34" charset="-122"/>
              </a:rPr>
              <a:t>共</a:t>
            </a:r>
            <a:r>
              <a:rPr lang="en-US" altLang="zh-CN" sz="1400" dirty="0">
                <a:latin typeface="微软雅黑" panose="020B0503020204020204" pitchFamily="34" charset="-122"/>
                <a:ea typeface="微软雅黑" panose="020B0503020204020204" pitchFamily="34" charset="-122"/>
              </a:rPr>
              <a:t>6</a:t>
            </a:r>
            <a:r>
              <a:rPr lang="zh-CN" altLang="zh-CN" sz="1400" dirty="0">
                <a:latin typeface="微软雅黑" panose="020B0503020204020204" pitchFamily="34" charset="-122"/>
                <a:ea typeface="微软雅黑" panose="020B0503020204020204" pitchFamily="34" charset="-122"/>
              </a:rPr>
              <a:t>个命令选项，</a:t>
            </a:r>
            <a:r>
              <a:rPr lang="en-US" altLang="zh-CN"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rPr>
              <a:t>为挂载</a:t>
            </a:r>
            <a:r>
              <a:rPr lang="en-US" altLang="zh-CN" sz="1400" dirty="0">
                <a:latin typeface="微软雅黑" panose="020B0503020204020204" pitchFamily="34" charset="-122"/>
                <a:ea typeface="微软雅黑" panose="020B0503020204020204" pitchFamily="34" charset="-122"/>
              </a:rPr>
              <a:t>U</a:t>
            </a:r>
            <a:r>
              <a:rPr lang="zh-CN" altLang="zh-CN" sz="1400" dirty="0">
                <a:latin typeface="微软雅黑" panose="020B0503020204020204" pitchFamily="34" charset="-122"/>
                <a:ea typeface="微软雅黑" panose="020B0503020204020204" pitchFamily="34" charset="-122"/>
              </a:rPr>
              <a:t>盘，</a:t>
            </a:r>
            <a:r>
              <a:rPr lang="en-US" altLang="zh-CN" sz="1400" dirty="0">
                <a:latin typeface="微软雅黑" panose="020B0503020204020204" pitchFamily="34" charset="-122"/>
                <a:ea typeface="微软雅黑" panose="020B0503020204020204" pitchFamily="34" charset="-122"/>
              </a:rPr>
              <a:t>2</a:t>
            </a:r>
            <a:r>
              <a:rPr lang="zh-CN" altLang="zh-CN" sz="1400" dirty="0">
                <a:latin typeface="微软雅黑" panose="020B0503020204020204" pitchFamily="34" charset="-122"/>
                <a:ea typeface="微软雅黑" panose="020B0503020204020204" pitchFamily="34" charset="-122"/>
              </a:rPr>
              <a:t>为卸载</a:t>
            </a:r>
            <a:r>
              <a:rPr lang="en-US" altLang="zh-CN" sz="1400" dirty="0">
                <a:latin typeface="微软雅黑" panose="020B0503020204020204" pitchFamily="34" charset="-122"/>
                <a:ea typeface="微软雅黑" panose="020B0503020204020204" pitchFamily="34" charset="-122"/>
              </a:rPr>
              <a:t>U</a:t>
            </a:r>
            <a:r>
              <a:rPr lang="zh-CN" altLang="zh-CN" sz="1400" dirty="0">
                <a:latin typeface="微软雅黑" panose="020B0503020204020204" pitchFamily="34" charset="-122"/>
                <a:ea typeface="微软雅黑" panose="020B0503020204020204" pitchFamily="34" charset="-122"/>
              </a:rPr>
              <a:t>盘，</a:t>
            </a:r>
            <a:r>
              <a:rPr lang="en-US" altLang="zh-CN" sz="1400" dirty="0">
                <a:latin typeface="微软雅黑" panose="020B0503020204020204" pitchFamily="34" charset="-122"/>
                <a:ea typeface="微软雅黑" panose="020B0503020204020204" pitchFamily="34" charset="-122"/>
              </a:rPr>
              <a:t>3</a:t>
            </a:r>
            <a:r>
              <a:rPr lang="zh-CN" altLang="zh-CN" sz="1400" dirty="0">
                <a:latin typeface="微软雅黑" panose="020B0503020204020204" pitchFamily="34" charset="-122"/>
                <a:ea typeface="微软雅黑" panose="020B0503020204020204" pitchFamily="34" charset="-122"/>
              </a:rPr>
              <a:t>为显示</a:t>
            </a:r>
            <a:r>
              <a:rPr lang="en-US" altLang="zh-CN" sz="1400" dirty="0">
                <a:latin typeface="微软雅黑" panose="020B0503020204020204" pitchFamily="34" charset="-122"/>
                <a:ea typeface="微软雅黑" panose="020B0503020204020204" pitchFamily="34" charset="-122"/>
              </a:rPr>
              <a:t>U</a:t>
            </a:r>
            <a:r>
              <a:rPr lang="zh-CN" altLang="zh-CN" sz="1400" dirty="0">
                <a:latin typeface="微软雅黑" panose="020B0503020204020204" pitchFamily="34" charset="-122"/>
                <a:ea typeface="微软雅黑" panose="020B0503020204020204" pitchFamily="34" charset="-122"/>
              </a:rPr>
              <a:t>盘的信息，</a:t>
            </a:r>
            <a:r>
              <a:rPr lang="en-US" altLang="zh-CN" sz="1400" dirty="0">
                <a:latin typeface="微软雅黑" panose="020B0503020204020204" pitchFamily="34" charset="-122"/>
                <a:ea typeface="微软雅黑" panose="020B0503020204020204" pitchFamily="34" charset="-122"/>
              </a:rPr>
              <a:t>4</a:t>
            </a:r>
            <a:r>
              <a:rPr lang="zh-CN" altLang="zh-CN" sz="1400" dirty="0">
                <a:latin typeface="微软雅黑" panose="020B0503020204020204" pitchFamily="34" charset="-122"/>
                <a:ea typeface="微软雅黑" panose="020B0503020204020204" pitchFamily="34" charset="-122"/>
              </a:rPr>
              <a:t>把硬盘中的文件拷贝到</a:t>
            </a:r>
            <a:r>
              <a:rPr lang="en-US" altLang="zh-CN" sz="1400" dirty="0">
                <a:latin typeface="微软雅黑" panose="020B0503020204020204" pitchFamily="34" charset="-122"/>
                <a:ea typeface="微软雅黑" panose="020B0503020204020204" pitchFamily="34" charset="-122"/>
              </a:rPr>
              <a:t>U</a:t>
            </a:r>
            <a:r>
              <a:rPr lang="zh-CN" altLang="zh-CN" sz="1400" dirty="0">
                <a:latin typeface="微软雅黑" panose="020B0503020204020204" pitchFamily="34" charset="-122"/>
                <a:ea typeface="微软雅黑" panose="020B0503020204020204" pitchFamily="34" charset="-122"/>
              </a:rPr>
              <a:t>盘，</a:t>
            </a:r>
            <a:r>
              <a:rPr lang="en-US" altLang="zh-CN" sz="1400" dirty="0">
                <a:latin typeface="微软雅黑" panose="020B0503020204020204" pitchFamily="34" charset="-122"/>
                <a:ea typeface="微软雅黑" panose="020B0503020204020204" pitchFamily="34" charset="-122"/>
              </a:rPr>
              <a:t>5</a:t>
            </a:r>
            <a:r>
              <a:rPr lang="zh-CN" altLang="zh-CN" sz="1400" dirty="0">
                <a:latin typeface="微软雅黑" panose="020B0503020204020204" pitchFamily="34" charset="-122"/>
                <a:ea typeface="微软雅黑" panose="020B0503020204020204" pitchFamily="34" charset="-122"/>
              </a:rPr>
              <a:t>把</a:t>
            </a:r>
            <a:r>
              <a:rPr lang="en-US" altLang="zh-CN" sz="1400" dirty="0">
                <a:latin typeface="微软雅黑" panose="020B0503020204020204" pitchFamily="34" charset="-122"/>
                <a:ea typeface="微软雅黑" panose="020B0503020204020204" pitchFamily="34" charset="-122"/>
              </a:rPr>
              <a:t>U</a:t>
            </a:r>
            <a:r>
              <a:rPr lang="zh-CN" altLang="zh-CN" sz="1400" dirty="0">
                <a:latin typeface="微软雅黑" panose="020B0503020204020204" pitchFamily="34" charset="-122"/>
                <a:ea typeface="微软雅黑" panose="020B0503020204020204" pitchFamily="34" charset="-122"/>
              </a:rPr>
              <a:t>盘中的文件拷贝到硬盘中，选</a:t>
            </a:r>
            <a:r>
              <a:rPr lang="en-US" altLang="zh-CN" sz="1400" dirty="0">
                <a:latin typeface="微软雅黑" panose="020B0503020204020204" pitchFamily="34" charset="-122"/>
                <a:ea typeface="微软雅黑" panose="020B0503020204020204" pitchFamily="34" charset="-122"/>
              </a:rPr>
              <a:t>0</a:t>
            </a:r>
            <a:r>
              <a:rPr lang="zh-CN" altLang="zh-CN" sz="1400" dirty="0">
                <a:latin typeface="微软雅黑" panose="020B0503020204020204" pitchFamily="34" charset="-122"/>
                <a:ea typeface="微软雅黑" panose="020B0503020204020204" pitchFamily="34" charset="-122"/>
              </a:rPr>
              <a:t>为退出。</a:t>
            </a:r>
          </a:p>
        </p:txBody>
      </p:sp>
    </p:spTree>
    <p:extLst>
      <p:ext uri="{BB962C8B-B14F-4D97-AF65-F5344CB8AC3E}">
        <p14:creationId xmlns:p14="http://schemas.microsoft.com/office/powerpoint/2010/main" val="212592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2000" fill="hold"/>
                                        <p:tgtEl>
                                          <p:spTgt spid="14"/>
                                        </p:tgtEl>
                                        <p:attrNameLst>
                                          <p:attrName>ppt_x</p:attrName>
                                        </p:attrNameLst>
                                      </p:cBhvr>
                                      <p:tavLst>
                                        <p:tav tm="0">
                                          <p:val>
                                            <p:strVal val="#ppt_x"/>
                                          </p:val>
                                        </p:tav>
                                        <p:tav tm="100000">
                                          <p:val>
                                            <p:strVal val="#ppt_x"/>
                                          </p:val>
                                        </p:tav>
                                      </p:tavLst>
                                    </p:anim>
                                    <p:anim calcmode="lin" valueType="num">
                                      <p:cBhvr additive="base">
                                        <p:cTn id="12" dur="2000" fill="hold"/>
                                        <p:tgtEl>
                                          <p:spTgt spid="14"/>
                                        </p:tgtEl>
                                        <p:attrNameLst>
                                          <p:attrName>ppt_y</p:attrName>
                                        </p:attrNameLst>
                                      </p:cBhvr>
                                      <p:tavLst>
                                        <p:tav tm="0">
                                          <p:val>
                                            <p:strVal val="1+#ppt_h/2"/>
                                          </p:val>
                                        </p:tav>
                                        <p:tav tm="100000">
                                          <p:val>
                                            <p:strVal val="#ppt_y"/>
                                          </p:val>
                                        </p:tav>
                                      </p:tavLst>
                                    </p:anim>
                                  </p:childTnLst>
                                </p:cTn>
                              </p:par>
                            </p:childTnLst>
                          </p:cTn>
                        </p:par>
                        <p:par>
                          <p:cTn id="13" fill="hold">
                            <p:stCondLst>
                              <p:cond delay="2500"/>
                            </p:stCondLst>
                            <p:childTnLst>
                              <p:par>
                                <p:cTn id="14" presetID="42"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anim calcmode="lin" valueType="num">
                                      <p:cBhvr>
                                        <p:cTn id="17" dur="1000" fill="hold"/>
                                        <p:tgtEl>
                                          <p:spTgt spid="11"/>
                                        </p:tgtEl>
                                        <p:attrNameLst>
                                          <p:attrName>ppt_x</p:attrName>
                                        </p:attrNameLst>
                                      </p:cBhvr>
                                      <p:tavLst>
                                        <p:tav tm="0">
                                          <p:val>
                                            <p:strVal val="#ppt_x"/>
                                          </p:val>
                                        </p:tav>
                                        <p:tav tm="100000">
                                          <p:val>
                                            <p:strVal val="#ppt_x"/>
                                          </p:val>
                                        </p:tav>
                                      </p:tavLst>
                                    </p:anim>
                                    <p:anim calcmode="lin" valueType="num">
                                      <p:cBhvr>
                                        <p:cTn id="1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60">
            <a:extLst>
              <a:ext uri="{FF2B5EF4-FFF2-40B4-BE49-F238E27FC236}">
                <a16:creationId xmlns:a16="http://schemas.microsoft.com/office/drawing/2014/main" id="{612CF653-87DD-4624-9488-5BC456CBA49E}"/>
              </a:ext>
            </a:extLst>
          </p:cNvPr>
          <p:cNvSpPr txBox="1"/>
          <p:nvPr/>
        </p:nvSpPr>
        <p:spPr>
          <a:xfrm>
            <a:off x="8544272" y="1268760"/>
            <a:ext cx="2812574" cy="400110"/>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000" b="1" dirty="0">
                <a:effectLst>
                  <a:outerShdw blurRad="38100" dist="38100" dir="2700000" algn="tl">
                    <a:srgbClr val="000000">
                      <a:alpha val="43137"/>
                    </a:srgbClr>
                  </a:outerShdw>
                </a:effectLst>
                <a:latin typeface="微软雅黑" pitchFamily="34" charset="-122"/>
                <a:ea typeface="微软雅黑" pitchFamily="34" charset="-122"/>
              </a:rPr>
              <a:t>4.6 </a:t>
            </a:r>
            <a:r>
              <a:rPr lang="zh-CN" altLang="en-US" sz="2000" b="1" dirty="0">
                <a:effectLst>
                  <a:outerShdw blurRad="38100" dist="38100" dir="2700000" algn="tl">
                    <a:srgbClr val="000000">
                      <a:alpha val="43137"/>
                    </a:srgbClr>
                  </a:outerShdw>
                </a:effectLst>
                <a:latin typeface="微软雅黑" pitchFamily="34" charset="-122"/>
                <a:ea typeface="微软雅黑" pitchFamily="34" charset="-122"/>
              </a:rPr>
              <a:t>总结提高</a:t>
            </a:r>
          </a:p>
        </p:txBody>
      </p:sp>
      <p:sp>
        <p:nvSpPr>
          <p:cNvPr id="15" name="Freeform 7">
            <a:extLst>
              <a:ext uri="{FF2B5EF4-FFF2-40B4-BE49-F238E27FC236}">
                <a16:creationId xmlns:a16="http://schemas.microsoft.com/office/drawing/2014/main" id="{33638530-B7A1-48F8-81CA-FC006E282564}"/>
              </a:ext>
            </a:extLst>
          </p:cNvPr>
          <p:cNvSpPr>
            <a:spLocks/>
          </p:cNvSpPr>
          <p:nvPr/>
        </p:nvSpPr>
        <p:spPr bwMode="auto">
          <a:xfrm>
            <a:off x="767408" y="1651785"/>
            <a:ext cx="1826929" cy="792674"/>
          </a:xfrm>
          <a:custGeom>
            <a:avLst/>
            <a:gdLst>
              <a:gd name="T0" fmla="*/ 0 w 675"/>
              <a:gd name="T1" fmla="*/ 0 h 253"/>
              <a:gd name="T2" fmla="*/ 0 w 675"/>
              <a:gd name="T3" fmla="*/ 163 h 253"/>
              <a:gd name="T4" fmla="*/ 0 w 675"/>
              <a:gd name="T5" fmla="*/ 163 h 253"/>
              <a:gd name="T6" fmla="*/ 170 w 675"/>
              <a:gd name="T7" fmla="*/ 208 h 253"/>
              <a:gd name="T8" fmla="*/ 338 w 675"/>
              <a:gd name="T9" fmla="*/ 253 h 253"/>
              <a:gd name="T10" fmla="*/ 505 w 675"/>
              <a:gd name="T11" fmla="*/ 208 h 253"/>
              <a:gd name="T12" fmla="*/ 675 w 675"/>
              <a:gd name="T13" fmla="*/ 163 h 253"/>
              <a:gd name="T14" fmla="*/ 675 w 675"/>
              <a:gd name="T15" fmla="*/ 163 h 253"/>
              <a:gd name="T16" fmla="*/ 675 w 675"/>
              <a:gd name="T17" fmla="*/ 0 h 253"/>
              <a:gd name="T18" fmla="*/ 0 w 675"/>
              <a:gd name="T19" fmla="*/ 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253">
                <a:moveTo>
                  <a:pt x="0" y="0"/>
                </a:moveTo>
                <a:lnTo>
                  <a:pt x="0" y="163"/>
                </a:lnTo>
                <a:lnTo>
                  <a:pt x="0" y="163"/>
                </a:lnTo>
                <a:lnTo>
                  <a:pt x="170" y="208"/>
                </a:lnTo>
                <a:lnTo>
                  <a:pt x="338" y="253"/>
                </a:lnTo>
                <a:lnTo>
                  <a:pt x="505" y="208"/>
                </a:lnTo>
                <a:lnTo>
                  <a:pt x="675" y="163"/>
                </a:lnTo>
                <a:lnTo>
                  <a:pt x="675" y="163"/>
                </a:lnTo>
                <a:lnTo>
                  <a:pt x="675" y="0"/>
                </a:lnTo>
                <a:lnTo>
                  <a:pt x="0" y="0"/>
                </a:lnTo>
                <a:close/>
              </a:path>
            </a:pathLst>
          </a:custGeom>
          <a:solidFill>
            <a:srgbClr val="083473"/>
          </a:solidFill>
          <a:ln>
            <a:noFill/>
          </a:ln>
          <a:effectLst/>
        </p:spPr>
        <p:txBody>
          <a:bodyPr vert="horz" wrap="square" lIns="67204" tIns="449792" rIns="67204" bIns="33602" numCol="1" anchor="t" anchorCtr="0" compatLnSpc="1">
            <a:prstTxWarp prst="textNoShape">
              <a:avLst/>
            </a:prstTxWarp>
          </a:bodyPr>
          <a:lstStyle/>
          <a:p>
            <a:pPr algn="ctr">
              <a:lnSpc>
                <a:spcPts val="1103"/>
              </a:lnSpc>
            </a:pPr>
            <a:r>
              <a:rPr lang="en-US" altLang="zh-CN" sz="3969" dirty="0">
                <a:solidFill>
                  <a:prstClr val="white"/>
                </a:solidFill>
                <a:latin typeface="微软雅黑" panose="020B0503020204020204" pitchFamily="34" charset="-122"/>
                <a:ea typeface="微软雅黑" panose="020B0503020204020204" pitchFamily="34" charset="-122"/>
                <a:cs typeface="UKIJ Qolyazma" pitchFamily="18" charset="0"/>
                <a:sym typeface="微软雅黑" panose="020B0503020204020204" pitchFamily="34" charset="-122"/>
              </a:rPr>
              <a:t>END</a:t>
            </a:r>
            <a:endParaRPr lang="en-US" altLang="zh-CN" sz="1764" dirty="0">
              <a:solidFill>
                <a:prstClr val="white"/>
              </a:solidFill>
              <a:latin typeface="微软雅黑" panose="020B0503020204020204" pitchFamily="34" charset="-122"/>
              <a:ea typeface="微软雅黑" panose="020B0503020204020204" pitchFamily="34" charset="-122"/>
              <a:cs typeface="UKIJ Qolyazma" pitchFamily="18" charset="0"/>
              <a:sym typeface="微软雅黑" panose="020B0503020204020204" pitchFamily="34" charset="-122"/>
            </a:endParaRPr>
          </a:p>
          <a:p>
            <a:endParaRPr lang="zh-CN" altLang="en-US" sz="975" dirty="0">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6" name="直接连接符 15">
            <a:extLst>
              <a:ext uri="{FF2B5EF4-FFF2-40B4-BE49-F238E27FC236}">
                <a16:creationId xmlns:a16="http://schemas.microsoft.com/office/drawing/2014/main" id="{E3966B27-64D2-4FF5-A43A-9C670D613CCA}"/>
              </a:ext>
            </a:extLst>
          </p:cNvPr>
          <p:cNvCxnSpPr>
            <a:cxnSpLocks/>
          </p:cNvCxnSpPr>
          <p:nvPr/>
        </p:nvCxnSpPr>
        <p:spPr>
          <a:xfrm flipH="1">
            <a:off x="2594337" y="1668870"/>
            <a:ext cx="7462103" cy="0"/>
          </a:xfrm>
          <a:prstGeom prst="line">
            <a:avLst/>
          </a:prstGeom>
          <a:ln>
            <a:solidFill>
              <a:srgbClr val="083473"/>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C8A7D10-CB51-4CC9-8298-A1B8D0713BC4}"/>
              </a:ext>
            </a:extLst>
          </p:cNvPr>
          <p:cNvSpPr txBox="1"/>
          <p:nvPr/>
        </p:nvSpPr>
        <p:spPr>
          <a:xfrm>
            <a:off x="2855640" y="1787240"/>
            <a:ext cx="8280920" cy="1167692"/>
          </a:xfrm>
          <a:prstGeom prst="rect">
            <a:avLst/>
          </a:prstGeom>
          <a:noFill/>
          <a:ln>
            <a:solidFill>
              <a:schemeClr val="tx1"/>
            </a:solidFill>
            <a:prstDash val="dash"/>
          </a:ln>
        </p:spPr>
        <p:txBody>
          <a:bodyPr wrap="square" rtlCol="0">
            <a:spAutoFit/>
          </a:bodyPr>
          <a:lstStyle/>
          <a:p>
            <a:pPr>
              <a:lnSpc>
                <a:spcPct val="150000"/>
              </a:lnSpc>
            </a:pPr>
            <a:r>
              <a:rPr lang="zh-CN" altLang="en-US" sz="1200" dirty="0">
                <a:latin typeface="微软雅黑" panose="020B0503020204020204" pitchFamily="34" charset="-122"/>
                <a:ea typeface="微软雅黑" panose="020B0503020204020204" pitchFamily="34" charset="-122"/>
              </a:rPr>
              <a:t>       本项目讲解了</a:t>
            </a:r>
            <a:r>
              <a:rPr lang="en-US" altLang="zh-CN" sz="1200" dirty="0">
                <a:latin typeface="微软雅黑" panose="020B0503020204020204" pitchFamily="34" charset="-122"/>
                <a:ea typeface="微软雅黑" panose="020B0503020204020204" pitchFamily="34" charset="-122"/>
              </a:rPr>
              <a:t>Linux</a:t>
            </a:r>
            <a:r>
              <a:rPr lang="zh-CN" altLang="en-US" sz="1200" dirty="0">
                <a:latin typeface="微软雅黑" panose="020B0503020204020204" pitchFamily="34" charset="-122"/>
                <a:ea typeface="微软雅黑" panose="020B0503020204020204" pitchFamily="34" charset="-122"/>
              </a:rPr>
              <a:t>下</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脚本的定义和相关</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脚本编写的基础，这些基础知识是学习</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脚本编程的关键。接着讲解了</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脚本的执行方式和</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脚本的常见流程控制，为进行</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脚本编程奠定基础。</a:t>
            </a:r>
            <a:endParaRPr lang="en-US" altLang="zh-CN"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       通过本项目的学习，读者应对</a:t>
            </a:r>
            <a:r>
              <a:rPr lang="en-US" altLang="zh-CN" sz="1200" dirty="0">
                <a:latin typeface="微软雅黑" panose="020B0503020204020204" pitchFamily="34" charset="-122"/>
                <a:ea typeface="微软雅黑" panose="020B0503020204020204" pitchFamily="34" charset="-122"/>
              </a:rPr>
              <a:t>Linux</a:t>
            </a:r>
            <a:r>
              <a:rPr lang="zh-CN" altLang="en-US" sz="1200" dirty="0">
                <a:latin typeface="微软雅黑" panose="020B0503020204020204" pitchFamily="34" charset="-122"/>
                <a:ea typeface="微软雅黑" panose="020B0503020204020204" pitchFamily="34" charset="-122"/>
              </a:rPr>
              <a:t>中</a:t>
            </a:r>
            <a:r>
              <a:rPr lang="en-US" altLang="zh-CN" sz="1200" dirty="0">
                <a:latin typeface="微软雅黑" panose="020B0503020204020204" pitchFamily="34" charset="-122"/>
                <a:ea typeface="微软雅黑" panose="020B0503020204020204" pitchFamily="34" charset="-122"/>
              </a:rPr>
              <a:t>Shell</a:t>
            </a:r>
            <a:r>
              <a:rPr lang="zh-CN" altLang="en-US" sz="1200" dirty="0">
                <a:latin typeface="微软雅黑" panose="020B0503020204020204" pitchFamily="34" charset="-122"/>
                <a:ea typeface="微软雅黑" panose="020B0503020204020204" pitchFamily="34" charset="-122"/>
              </a:rPr>
              <a:t>编程有一个大致的了解，这对后续学习有很大的帮助，越往后学习越能体会到这一点。通过项目的学习，你的收获怎样？请认真填写学习情况考核登记表（见表</a:t>
            </a:r>
            <a:r>
              <a:rPr lang="en-US" altLang="zh-CN" sz="1200" dirty="0">
                <a:latin typeface="微软雅黑" panose="020B0503020204020204" pitchFamily="34" charset="-122"/>
                <a:ea typeface="微软雅黑" panose="020B0503020204020204" pitchFamily="34" charset="-122"/>
              </a:rPr>
              <a:t>4-5</a:t>
            </a:r>
            <a:r>
              <a:rPr lang="zh-CN" altLang="en-US" sz="1200" dirty="0">
                <a:latin typeface="微软雅黑" panose="020B0503020204020204" pitchFamily="34" charset="-122"/>
                <a:ea typeface="微软雅黑" panose="020B0503020204020204" pitchFamily="34" charset="-122"/>
              </a:rPr>
              <a:t>），并及时予以反馈。</a:t>
            </a:r>
            <a:endParaRPr lang="en-US" altLang="zh-CN" sz="12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999656" y="3212976"/>
            <a:ext cx="5832648" cy="315905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4030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ppt_y</p:attrName>
                                        </p:attrNameLst>
                                      </p:cBhvr>
                                      <p:tavLst>
                                        <p:tav tm="0">
                                          <p:val>
                                            <p:strVal val="#ppt_y-#ppt_h*1.125000"/>
                                          </p:val>
                                        </p:tav>
                                        <p:tav tm="100000">
                                          <p:val>
                                            <p:strVal val="#ppt_y"/>
                                          </p:val>
                                        </p:tav>
                                      </p:tavLst>
                                    </p:anim>
                                    <p:animEffect transition="in" filter="wipe(down)">
                                      <p:cBhvr>
                                        <p:cTn id="8" dur="500"/>
                                        <p:tgtEl>
                                          <p:spTgt spid="15"/>
                                        </p:tgtEl>
                                      </p:cBhvr>
                                    </p:animEffect>
                                  </p:childTnLst>
                                </p:cTn>
                              </p:par>
                              <p:par>
                                <p:cTn id="9" presetID="22" presetClass="entr" presetSubtype="2" fill="hold" nodeType="withEffect">
                                  <p:stCondLst>
                                    <p:cond delay="40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500"/>
                                        <p:tgtEl>
                                          <p:spTgt spid="16"/>
                                        </p:tgtEl>
                                      </p:cBhvr>
                                    </p:animEffect>
                                  </p:childTnLst>
                                </p:cTn>
                              </p:par>
                              <p:par>
                                <p:cTn id="12" presetID="10" presetClass="entr" presetSubtype="0" fill="hold" grpId="0" nodeType="withEffect">
                                  <p:stCondLst>
                                    <p:cond delay="1000"/>
                                  </p:stCondLst>
                                  <p:iterate type="lt">
                                    <p:tmPct val="10000"/>
                                  </p:iterate>
                                  <p:childTnLst>
                                    <p:set>
                                      <p:cBhvr>
                                        <p:cTn id="13" dur="1" fill="hold">
                                          <p:stCondLst>
                                            <p:cond delay="0"/>
                                          </p:stCondLst>
                                        </p:cTn>
                                        <p:tgtEl>
                                          <p:spTgt spid="17"/>
                                        </p:tgtEl>
                                        <p:attrNameLst>
                                          <p:attrName>style.visibility</p:attrName>
                                        </p:attrNameLst>
                                      </p:cBhvr>
                                      <p:to>
                                        <p:strVal val="visible"/>
                                      </p:to>
                                    </p:set>
                                    <p:animEffect transition="in" filter="fade">
                                      <p:cBhvr>
                                        <p:cTn id="14" dur="1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7">
            <a:extLst>
              <a:ext uri="{FF2B5EF4-FFF2-40B4-BE49-F238E27FC236}">
                <a16:creationId xmlns:a16="http://schemas.microsoft.com/office/drawing/2014/main" id="{DEAFB228-B8A5-4542-B4B2-6AC52BF35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46150"/>
            <a:ext cx="12192000" cy="552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WordArt 7">
            <a:extLst>
              <a:ext uri="{FF2B5EF4-FFF2-40B4-BE49-F238E27FC236}">
                <a16:creationId xmlns:a16="http://schemas.microsoft.com/office/drawing/2014/main" id="{65F40776-84C9-499B-89A4-6E30C1FFE9FE}"/>
              </a:ext>
            </a:extLst>
          </p:cNvPr>
          <p:cNvSpPr>
            <a:spLocks noChangeArrowheads="1" noChangeShapeType="1" noTextEdit="1"/>
          </p:cNvSpPr>
          <p:nvPr/>
        </p:nvSpPr>
        <p:spPr bwMode="auto">
          <a:xfrm>
            <a:off x="2984500" y="1355725"/>
            <a:ext cx="6505575" cy="146843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eaLnBrk="0" fontAlgn="base" hangingPunct="0">
              <a:spcBef>
                <a:spcPct val="0"/>
              </a:spcBef>
              <a:spcAft>
                <a:spcPct val="0"/>
              </a:spcAft>
            </a:pPr>
            <a:r>
              <a:rPr lang="zh-CN" altLang="en-US" sz="3600" b="1" kern="10" dirty="0">
                <a:solidFill>
                  <a:srgbClr val="990033"/>
                </a:solidFill>
                <a:effectLst>
                  <a:outerShdw dist="35921" dir="2700000" algn="ctr" rotWithShape="0">
                    <a:srgbClr val="C0C0C0">
                      <a:alpha val="79999"/>
                    </a:srgbClr>
                  </a:outerShdw>
                </a:effectLst>
                <a:latin typeface="华文新魏" panose="02010800040101010101" pitchFamily="2" charset="-122"/>
                <a:ea typeface="华文新魏" panose="02010800040101010101" pitchFamily="2" charset="-122"/>
              </a:rPr>
              <a:t>感谢聆听！</a:t>
            </a:r>
          </a:p>
        </p:txBody>
      </p:sp>
    </p:spTree>
    <p:extLst>
      <p:ext uri="{BB962C8B-B14F-4D97-AF65-F5344CB8AC3E}">
        <p14:creationId xmlns:p14="http://schemas.microsoft.com/office/powerpoint/2010/main" val="3593536934"/>
      </p:ext>
    </p:extLst>
  </p:cSld>
  <p:clrMapOvr>
    <a:masterClrMapping/>
  </p:clrMapOvr>
</p:sld>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磨砂玻璃">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14823</TotalTime>
  <Words>6102</Words>
  <Application>Microsoft Office PowerPoint</Application>
  <PresentationFormat>宽屏</PresentationFormat>
  <Paragraphs>489</Paragraphs>
  <Slides>47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等线</vt:lpstr>
      <vt:lpstr>华文新魏</vt:lpstr>
      <vt:lpstr>微软雅黑</vt:lpstr>
      <vt:lpstr>Arial</vt:lpstr>
      <vt:lpstr>Broadway</vt:lpstr>
      <vt:lpstr>Calibri</vt:lpstr>
      <vt:lpstr>Courier New</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王 华豪</cp:lastModifiedBy>
  <cp:revision>2839</cp:revision>
  <dcterms:created xsi:type="dcterms:W3CDTF">2012-10-07T00:28:30Z</dcterms:created>
  <dcterms:modified xsi:type="dcterms:W3CDTF">2023-08-28T07:38:04Z</dcterms:modified>
</cp:coreProperties>
</file>